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80880" y="2118240"/>
            <a:ext cx="2625120" cy="58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081240" y="2050920"/>
            <a:ext cx="438120" cy="57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5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531240" y="2118240"/>
            <a:ext cx="1312920" cy="58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881600" y="2050920"/>
            <a:ext cx="438120" cy="57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5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331600" y="2118240"/>
            <a:ext cx="438120" cy="58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4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62920" y="277488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151280" y="2817000"/>
            <a:ext cx="4965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构特征、渠道机制与三螺旋体系下的政策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337440" y="277488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625800" y="2817000"/>
            <a:ext cx="828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化研究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303480" y="3444840"/>
            <a:ext cx="2401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胡妍　向海凌　吴非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781240" y="40327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059880" y="40734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338520" y="40327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617160" y="407340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范大学学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731720" y="40327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010360" y="4073400"/>
            <a:ext cx="3791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（社会科学版）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2025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年第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6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728480" y="46612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汇报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285400" y="4701960"/>
            <a:ext cx="3305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人：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____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　｜　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2026-09-12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4876560" y="1514160"/>
            <a:ext cx="619560" cy="276840"/>
          </a:xfrm>
          <a:custGeom>
            <a:avLst/>
            <a:gdLst/>
            <a:ahLst/>
            <a:rect l="0" t="0" r="r" b="b"/>
            <a:pathLst>
              <a:path w="1721" h="769">
                <a:moveTo>
                  <a:pt x="0" y="0"/>
                </a:moveTo>
                <a:lnTo>
                  <a:pt x="1721" y="0"/>
                </a:lnTo>
                <a:lnTo>
                  <a:pt x="1721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495760" y="1514160"/>
            <a:ext cx="1819440" cy="276840"/>
          </a:xfrm>
          <a:custGeom>
            <a:avLst/>
            <a:gdLst/>
            <a:ahLst/>
            <a:rect l="0" t="0" r="r" b="b"/>
            <a:pathLst>
              <a:path w="5054" h="769">
                <a:moveTo>
                  <a:pt x="0" y="0"/>
                </a:moveTo>
                <a:lnTo>
                  <a:pt x="5054" y="0"/>
                </a:lnTo>
                <a:lnTo>
                  <a:pt x="5054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4876560" y="1790640"/>
            <a:ext cx="619560" cy="285840"/>
          </a:xfrm>
          <a:custGeom>
            <a:avLst/>
            <a:gdLst/>
            <a:ahLst/>
            <a:rect l="0" t="0" r="r" b="b"/>
            <a:pathLst>
              <a:path w="1721" h="794">
                <a:moveTo>
                  <a:pt x="0" y="0"/>
                </a:moveTo>
                <a:lnTo>
                  <a:pt x="1721" y="0"/>
                </a:lnTo>
                <a:lnTo>
                  <a:pt x="172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495760" y="1790640"/>
            <a:ext cx="1819440" cy="285840"/>
          </a:xfrm>
          <a:custGeom>
            <a:avLst/>
            <a:gdLst/>
            <a:ahLst/>
            <a:rect l="0" t="0" r="r" b="b"/>
            <a:pathLst>
              <a:path w="5054" h="794">
                <a:moveTo>
                  <a:pt x="0" y="0"/>
                </a:moveTo>
                <a:lnTo>
                  <a:pt x="5054" y="0"/>
                </a:lnTo>
                <a:lnTo>
                  <a:pt x="505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876560" y="236196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0"/>
                </a:moveTo>
                <a:lnTo>
                  <a:pt x="1721" y="0"/>
                </a:lnTo>
                <a:lnTo>
                  <a:pt x="172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5495760" y="2361960"/>
            <a:ext cx="1819440" cy="276480"/>
          </a:xfrm>
          <a:custGeom>
            <a:avLst/>
            <a:gdLst/>
            <a:ahLst/>
            <a:rect l="0" t="0" r="r" b="b"/>
            <a:pathLst>
              <a:path w="5054" h="768">
                <a:moveTo>
                  <a:pt x="0" y="0"/>
                </a:moveTo>
                <a:lnTo>
                  <a:pt x="5054" y="0"/>
                </a:lnTo>
                <a:lnTo>
                  <a:pt x="5054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876560" y="2923920"/>
            <a:ext cx="619560" cy="286200"/>
          </a:xfrm>
          <a:custGeom>
            <a:avLst/>
            <a:gdLst/>
            <a:ahLst/>
            <a:rect l="0" t="0" r="r" b="b"/>
            <a:pathLst>
              <a:path w="1721" h="795">
                <a:moveTo>
                  <a:pt x="0" y="0"/>
                </a:moveTo>
                <a:lnTo>
                  <a:pt x="1721" y="0"/>
                </a:lnTo>
                <a:lnTo>
                  <a:pt x="172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495760" y="2923920"/>
            <a:ext cx="1819440" cy="286200"/>
          </a:xfrm>
          <a:custGeom>
            <a:avLst/>
            <a:gdLst/>
            <a:ahLst/>
            <a:rect l="0" t="0" r="r" b="b"/>
            <a:pathLst>
              <a:path w="5054" h="795">
                <a:moveTo>
                  <a:pt x="0" y="0"/>
                </a:moveTo>
                <a:lnTo>
                  <a:pt x="5054" y="0"/>
                </a:lnTo>
                <a:lnTo>
                  <a:pt x="505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86720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867200" y="15048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548604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5495760" y="150480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731484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867200" y="179064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5495760" y="179064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486720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48604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31484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86720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867200" y="20667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48604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5495760" y="206676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31484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86720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867200" y="23526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48604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495760" y="235260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731484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86720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867200" y="263808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48604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495760" y="263808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31484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486720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4867200" y="29145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548604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495760" y="291456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31484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86720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867200" y="32000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48604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5495760" y="320004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31484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4867200" y="348588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5495760" y="348588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8088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汇报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12860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框架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01264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板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18436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块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23412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内容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09868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062040" y="18309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问题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40584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09868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63256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804640" y="210744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论逻辑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320160" y="213192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与研究假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00740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09868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06204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研究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405840" y="23929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设计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09868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804640" y="267876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实证结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320160" y="27032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果与解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83568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09868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062040" y="297936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405840" y="29548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识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57756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别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098680" y="32652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六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632560" y="3265200"/>
            <a:ext cx="1441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三螺旋政策支持体系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80880" y="6210000"/>
            <a:ext cx="3600720" cy="10440"/>
          </a:xfrm>
          <a:custGeom>
            <a:avLst/>
            <a:gdLst/>
            <a:ahLst/>
            <a:rect l="0" t="0" r="r" b="b"/>
            <a:pathLst>
              <a:path w="10002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9"/>
                </a:lnTo>
                <a:lnTo>
                  <a:pt x="264" y="29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9"/>
                </a:lnTo>
                <a:lnTo>
                  <a:pt x="397" y="29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9"/>
                </a:lnTo>
                <a:lnTo>
                  <a:pt x="529" y="29"/>
                </a:lnTo>
                <a:lnTo>
                  <a:pt x="529" y="0"/>
                </a:lnTo>
                <a:moveTo>
                  <a:pt x="661" y="0"/>
                </a:moveTo>
                <a:lnTo>
                  <a:pt x="741" y="0"/>
                </a:lnTo>
                <a:lnTo>
                  <a:pt x="741" y="29"/>
                </a:lnTo>
                <a:lnTo>
                  <a:pt x="661" y="29"/>
                </a:lnTo>
                <a:lnTo>
                  <a:pt x="661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9"/>
                </a:lnTo>
                <a:lnTo>
                  <a:pt x="794" y="29"/>
                </a:lnTo>
                <a:lnTo>
                  <a:pt x="794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9"/>
                </a:lnTo>
                <a:lnTo>
                  <a:pt x="926" y="29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9"/>
                </a:lnTo>
                <a:lnTo>
                  <a:pt x="1058" y="29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9"/>
                </a:lnTo>
                <a:lnTo>
                  <a:pt x="1190" y="29"/>
                </a:lnTo>
                <a:lnTo>
                  <a:pt x="1190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9"/>
                </a:lnTo>
                <a:lnTo>
                  <a:pt x="1323" y="29"/>
                </a:lnTo>
                <a:lnTo>
                  <a:pt x="1323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9"/>
                </a:lnTo>
                <a:lnTo>
                  <a:pt x="1455" y="29"/>
                </a:lnTo>
                <a:lnTo>
                  <a:pt x="1455" y="0"/>
                </a:lnTo>
                <a:moveTo>
                  <a:pt x="1587" y="0"/>
                </a:moveTo>
                <a:lnTo>
                  <a:pt x="1667" y="0"/>
                </a:lnTo>
                <a:lnTo>
                  <a:pt x="1667" y="29"/>
                </a:lnTo>
                <a:lnTo>
                  <a:pt x="1587" y="29"/>
                </a:lnTo>
                <a:lnTo>
                  <a:pt x="1587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9"/>
                </a:lnTo>
                <a:lnTo>
                  <a:pt x="1720" y="29"/>
                </a:lnTo>
                <a:lnTo>
                  <a:pt x="1720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9"/>
                </a:lnTo>
                <a:lnTo>
                  <a:pt x="1852" y="29"/>
                </a:lnTo>
                <a:lnTo>
                  <a:pt x="1852" y="0"/>
                </a:lnTo>
                <a:moveTo>
                  <a:pt x="1984" y="0"/>
                </a:moveTo>
                <a:lnTo>
                  <a:pt x="2064" y="0"/>
                </a:lnTo>
                <a:lnTo>
                  <a:pt x="2064" y="29"/>
                </a:lnTo>
                <a:lnTo>
                  <a:pt x="1984" y="29"/>
                </a:lnTo>
                <a:lnTo>
                  <a:pt x="1984" y="0"/>
                </a:lnTo>
                <a:moveTo>
                  <a:pt x="2116" y="0"/>
                </a:moveTo>
                <a:lnTo>
                  <a:pt x="2196" y="0"/>
                </a:lnTo>
                <a:lnTo>
                  <a:pt x="2196" y="29"/>
                </a:lnTo>
                <a:lnTo>
                  <a:pt x="2116" y="29"/>
                </a:lnTo>
                <a:lnTo>
                  <a:pt x="2116" y="0"/>
                </a:lnTo>
                <a:moveTo>
                  <a:pt x="2249" y="0"/>
                </a:moveTo>
                <a:lnTo>
                  <a:pt x="2328" y="0"/>
                </a:lnTo>
                <a:lnTo>
                  <a:pt x="2328" y="29"/>
                </a:lnTo>
                <a:lnTo>
                  <a:pt x="2249" y="29"/>
                </a:lnTo>
                <a:lnTo>
                  <a:pt x="2249" y="0"/>
                </a:lnTo>
                <a:moveTo>
                  <a:pt x="2381" y="0"/>
                </a:moveTo>
                <a:lnTo>
                  <a:pt x="2460" y="0"/>
                </a:lnTo>
                <a:lnTo>
                  <a:pt x="2460" y="29"/>
                </a:lnTo>
                <a:lnTo>
                  <a:pt x="2381" y="29"/>
                </a:lnTo>
                <a:lnTo>
                  <a:pt x="2381" y="0"/>
                </a:lnTo>
                <a:moveTo>
                  <a:pt x="2513" y="0"/>
                </a:moveTo>
                <a:lnTo>
                  <a:pt x="2593" y="0"/>
                </a:lnTo>
                <a:lnTo>
                  <a:pt x="2593" y="29"/>
                </a:lnTo>
                <a:lnTo>
                  <a:pt x="2513" y="29"/>
                </a:lnTo>
                <a:lnTo>
                  <a:pt x="2513" y="0"/>
                </a:lnTo>
                <a:moveTo>
                  <a:pt x="2646" y="0"/>
                </a:moveTo>
                <a:lnTo>
                  <a:pt x="2725" y="0"/>
                </a:lnTo>
                <a:lnTo>
                  <a:pt x="2725" y="29"/>
                </a:lnTo>
                <a:lnTo>
                  <a:pt x="2646" y="29"/>
                </a:lnTo>
                <a:lnTo>
                  <a:pt x="2646" y="0"/>
                </a:lnTo>
                <a:moveTo>
                  <a:pt x="2778" y="0"/>
                </a:moveTo>
                <a:lnTo>
                  <a:pt x="2857" y="0"/>
                </a:lnTo>
                <a:lnTo>
                  <a:pt x="2857" y="29"/>
                </a:lnTo>
                <a:lnTo>
                  <a:pt x="2778" y="29"/>
                </a:lnTo>
                <a:lnTo>
                  <a:pt x="2778" y="0"/>
                </a:lnTo>
                <a:moveTo>
                  <a:pt x="2910" y="0"/>
                </a:moveTo>
                <a:lnTo>
                  <a:pt x="2990" y="0"/>
                </a:lnTo>
                <a:lnTo>
                  <a:pt x="2990" y="29"/>
                </a:lnTo>
                <a:lnTo>
                  <a:pt x="2910" y="29"/>
                </a:lnTo>
                <a:lnTo>
                  <a:pt x="2910" y="0"/>
                </a:lnTo>
                <a:moveTo>
                  <a:pt x="3043" y="0"/>
                </a:moveTo>
                <a:lnTo>
                  <a:pt x="3122" y="0"/>
                </a:lnTo>
                <a:lnTo>
                  <a:pt x="3122" y="29"/>
                </a:lnTo>
                <a:lnTo>
                  <a:pt x="3043" y="29"/>
                </a:lnTo>
                <a:lnTo>
                  <a:pt x="3043" y="0"/>
                </a:lnTo>
                <a:moveTo>
                  <a:pt x="3175" y="0"/>
                </a:moveTo>
                <a:lnTo>
                  <a:pt x="3254" y="0"/>
                </a:lnTo>
                <a:lnTo>
                  <a:pt x="3254" y="29"/>
                </a:lnTo>
                <a:lnTo>
                  <a:pt x="3175" y="29"/>
                </a:lnTo>
                <a:lnTo>
                  <a:pt x="3175" y="0"/>
                </a:lnTo>
                <a:moveTo>
                  <a:pt x="3307" y="0"/>
                </a:moveTo>
                <a:lnTo>
                  <a:pt x="3386" y="0"/>
                </a:lnTo>
                <a:lnTo>
                  <a:pt x="3386" y="29"/>
                </a:lnTo>
                <a:lnTo>
                  <a:pt x="3307" y="29"/>
                </a:lnTo>
                <a:lnTo>
                  <a:pt x="3307" y="0"/>
                </a:lnTo>
                <a:moveTo>
                  <a:pt x="3439" y="0"/>
                </a:moveTo>
                <a:lnTo>
                  <a:pt x="3519" y="0"/>
                </a:lnTo>
                <a:lnTo>
                  <a:pt x="3519" y="29"/>
                </a:lnTo>
                <a:lnTo>
                  <a:pt x="3439" y="29"/>
                </a:lnTo>
                <a:lnTo>
                  <a:pt x="3439" y="0"/>
                </a:lnTo>
                <a:moveTo>
                  <a:pt x="3572" y="0"/>
                </a:moveTo>
                <a:lnTo>
                  <a:pt x="3651" y="0"/>
                </a:lnTo>
                <a:lnTo>
                  <a:pt x="3651" y="29"/>
                </a:lnTo>
                <a:lnTo>
                  <a:pt x="3572" y="29"/>
                </a:lnTo>
                <a:lnTo>
                  <a:pt x="3572" y="0"/>
                </a:lnTo>
                <a:moveTo>
                  <a:pt x="3704" y="0"/>
                </a:moveTo>
                <a:lnTo>
                  <a:pt x="3783" y="0"/>
                </a:lnTo>
                <a:lnTo>
                  <a:pt x="3783" y="29"/>
                </a:lnTo>
                <a:lnTo>
                  <a:pt x="3704" y="29"/>
                </a:lnTo>
                <a:lnTo>
                  <a:pt x="3704" y="0"/>
                </a:lnTo>
                <a:moveTo>
                  <a:pt x="3836" y="0"/>
                </a:moveTo>
                <a:lnTo>
                  <a:pt x="3916" y="0"/>
                </a:lnTo>
                <a:lnTo>
                  <a:pt x="3916" y="29"/>
                </a:lnTo>
                <a:lnTo>
                  <a:pt x="3836" y="29"/>
                </a:lnTo>
                <a:lnTo>
                  <a:pt x="3836" y="0"/>
                </a:lnTo>
                <a:moveTo>
                  <a:pt x="3970" y="0"/>
                </a:moveTo>
                <a:lnTo>
                  <a:pt x="4049" y="0"/>
                </a:lnTo>
                <a:lnTo>
                  <a:pt x="4049" y="29"/>
                </a:lnTo>
                <a:lnTo>
                  <a:pt x="3970" y="29"/>
                </a:lnTo>
                <a:lnTo>
                  <a:pt x="3970" y="0"/>
                </a:lnTo>
                <a:moveTo>
                  <a:pt x="4102" y="0"/>
                </a:moveTo>
                <a:lnTo>
                  <a:pt x="4181" y="0"/>
                </a:lnTo>
                <a:lnTo>
                  <a:pt x="4181" y="29"/>
                </a:lnTo>
                <a:lnTo>
                  <a:pt x="4102" y="29"/>
                </a:lnTo>
                <a:lnTo>
                  <a:pt x="4102" y="0"/>
                </a:lnTo>
                <a:moveTo>
                  <a:pt x="4234" y="0"/>
                </a:moveTo>
                <a:lnTo>
                  <a:pt x="4314" y="0"/>
                </a:lnTo>
                <a:lnTo>
                  <a:pt x="4314" y="29"/>
                </a:lnTo>
                <a:lnTo>
                  <a:pt x="4234" y="29"/>
                </a:lnTo>
                <a:lnTo>
                  <a:pt x="4234" y="0"/>
                </a:lnTo>
                <a:moveTo>
                  <a:pt x="4366" y="0"/>
                </a:moveTo>
                <a:lnTo>
                  <a:pt x="4446" y="0"/>
                </a:lnTo>
                <a:lnTo>
                  <a:pt x="4446" y="29"/>
                </a:lnTo>
                <a:lnTo>
                  <a:pt x="4366" y="29"/>
                </a:lnTo>
                <a:lnTo>
                  <a:pt x="4366" y="0"/>
                </a:lnTo>
                <a:moveTo>
                  <a:pt x="4499" y="0"/>
                </a:moveTo>
                <a:lnTo>
                  <a:pt x="4578" y="0"/>
                </a:lnTo>
                <a:lnTo>
                  <a:pt x="4578" y="29"/>
                </a:lnTo>
                <a:lnTo>
                  <a:pt x="4499" y="29"/>
                </a:lnTo>
                <a:lnTo>
                  <a:pt x="4499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9"/>
                </a:lnTo>
                <a:lnTo>
                  <a:pt x="4631" y="29"/>
                </a:lnTo>
                <a:lnTo>
                  <a:pt x="4631" y="0"/>
                </a:lnTo>
                <a:moveTo>
                  <a:pt x="4763" y="0"/>
                </a:moveTo>
                <a:lnTo>
                  <a:pt x="4843" y="0"/>
                </a:lnTo>
                <a:lnTo>
                  <a:pt x="4843" y="29"/>
                </a:lnTo>
                <a:lnTo>
                  <a:pt x="4763" y="29"/>
                </a:lnTo>
                <a:lnTo>
                  <a:pt x="4763" y="0"/>
                </a:lnTo>
                <a:moveTo>
                  <a:pt x="4896" y="0"/>
                </a:moveTo>
                <a:lnTo>
                  <a:pt x="4975" y="0"/>
                </a:lnTo>
                <a:lnTo>
                  <a:pt x="4975" y="29"/>
                </a:lnTo>
                <a:lnTo>
                  <a:pt x="4896" y="29"/>
                </a:lnTo>
                <a:lnTo>
                  <a:pt x="4896" y="0"/>
                </a:lnTo>
                <a:moveTo>
                  <a:pt x="5028" y="0"/>
                </a:moveTo>
                <a:lnTo>
                  <a:pt x="5107" y="0"/>
                </a:lnTo>
                <a:lnTo>
                  <a:pt x="5107" y="29"/>
                </a:lnTo>
                <a:lnTo>
                  <a:pt x="5028" y="29"/>
                </a:lnTo>
                <a:lnTo>
                  <a:pt x="5028" y="0"/>
                </a:lnTo>
                <a:moveTo>
                  <a:pt x="5160" y="0"/>
                </a:moveTo>
                <a:lnTo>
                  <a:pt x="5240" y="0"/>
                </a:lnTo>
                <a:lnTo>
                  <a:pt x="5240" y="29"/>
                </a:lnTo>
                <a:lnTo>
                  <a:pt x="5160" y="29"/>
                </a:lnTo>
                <a:lnTo>
                  <a:pt x="5160" y="0"/>
                </a:lnTo>
                <a:moveTo>
                  <a:pt x="5292" y="0"/>
                </a:moveTo>
                <a:lnTo>
                  <a:pt x="5372" y="0"/>
                </a:lnTo>
                <a:lnTo>
                  <a:pt x="5372" y="29"/>
                </a:lnTo>
                <a:lnTo>
                  <a:pt x="5292" y="29"/>
                </a:lnTo>
                <a:lnTo>
                  <a:pt x="5292" y="0"/>
                </a:lnTo>
                <a:moveTo>
                  <a:pt x="5425" y="0"/>
                </a:moveTo>
                <a:lnTo>
                  <a:pt x="5504" y="0"/>
                </a:lnTo>
                <a:lnTo>
                  <a:pt x="5504" y="29"/>
                </a:lnTo>
                <a:lnTo>
                  <a:pt x="5425" y="29"/>
                </a:lnTo>
                <a:lnTo>
                  <a:pt x="5425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9"/>
                </a:lnTo>
                <a:lnTo>
                  <a:pt x="5557" y="29"/>
                </a:lnTo>
                <a:lnTo>
                  <a:pt x="5557" y="0"/>
                </a:lnTo>
                <a:moveTo>
                  <a:pt x="5689" y="0"/>
                </a:moveTo>
                <a:lnTo>
                  <a:pt x="5769" y="0"/>
                </a:lnTo>
                <a:lnTo>
                  <a:pt x="5769" y="29"/>
                </a:lnTo>
                <a:lnTo>
                  <a:pt x="5689" y="29"/>
                </a:lnTo>
                <a:lnTo>
                  <a:pt x="5689" y="0"/>
                </a:lnTo>
                <a:moveTo>
                  <a:pt x="5822" y="0"/>
                </a:moveTo>
                <a:lnTo>
                  <a:pt x="5901" y="0"/>
                </a:lnTo>
                <a:lnTo>
                  <a:pt x="5901" y="29"/>
                </a:lnTo>
                <a:lnTo>
                  <a:pt x="5822" y="29"/>
                </a:lnTo>
                <a:lnTo>
                  <a:pt x="5822" y="0"/>
                </a:lnTo>
                <a:moveTo>
                  <a:pt x="5954" y="0"/>
                </a:moveTo>
                <a:lnTo>
                  <a:pt x="6033" y="0"/>
                </a:lnTo>
                <a:lnTo>
                  <a:pt x="6033" y="29"/>
                </a:lnTo>
                <a:lnTo>
                  <a:pt x="5954" y="29"/>
                </a:lnTo>
                <a:lnTo>
                  <a:pt x="5954" y="0"/>
                </a:lnTo>
                <a:moveTo>
                  <a:pt x="6086" y="0"/>
                </a:moveTo>
                <a:lnTo>
                  <a:pt x="6166" y="0"/>
                </a:lnTo>
                <a:lnTo>
                  <a:pt x="6166" y="29"/>
                </a:lnTo>
                <a:lnTo>
                  <a:pt x="6086" y="29"/>
                </a:lnTo>
                <a:lnTo>
                  <a:pt x="6086" y="0"/>
                </a:lnTo>
                <a:moveTo>
                  <a:pt x="6219" y="0"/>
                </a:moveTo>
                <a:lnTo>
                  <a:pt x="6298" y="0"/>
                </a:lnTo>
                <a:lnTo>
                  <a:pt x="6298" y="29"/>
                </a:lnTo>
                <a:lnTo>
                  <a:pt x="6219" y="29"/>
                </a:lnTo>
                <a:lnTo>
                  <a:pt x="6219" y="0"/>
                </a:lnTo>
                <a:moveTo>
                  <a:pt x="6351" y="0"/>
                </a:moveTo>
                <a:lnTo>
                  <a:pt x="6430" y="0"/>
                </a:lnTo>
                <a:lnTo>
                  <a:pt x="6430" y="29"/>
                </a:lnTo>
                <a:lnTo>
                  <a:pt x="6351" y="29"/>
                </a:lnTo>
                <a:lnTo>
                  <a:pt x="6351" y="0"/>
                </a:lnTo>
                <a:moveTo>
                  <a:pt x="6483" y="0"/>
                </a:moveTo>
                <a:lnTo>
                  <a:pt x="6562" y="0"/>
                </a:lnTo>
                <a:lnTo>
                  <a:pt x="6562" y="29"/>
                </a:lnTo>
                <a:lnTo>
                  <a:pt x="6483" y="29"/>
                </a:lnTo>
                <a:lnTo>
                  <a:pt x="6483" y="0"/>
                </a:lnTo>
                <a:moveTo>
                  <a:pt x="6615" y="0"/>
                </a:moveTo>
                <a:lnTo>
                  <a:pt x="6695" y="0"/>
                </a:lnTo>
                <a:lnTo>
                  <a:pt x="6695" y="29"/>
                </a:lnTo>
                <a:lnTo>
                  <a:pt x="6615" y="29"/>
                </a:lnTo>
                <a:lnTo>
                  <a:pt x="6615" y="0"/>
                </a:lnTo>
                <a:moveTo>
                  <a:pt x="6748" y="0"/>
                </a:moveTo>
                <a:lnTo>
                  <a:pt x="6827" y="0"/>
                </a:lnTo>
                <a:lnTo>
                  <a:pt x="6827" y="29"/>
                </a:lnTo>
                <a:lnTo>
                  <a:pt x="6748" y="29"/>
                </a:lnTo>
                <a:lnTo>
                  <a:pt x="6748" y="0"/>
                </a:lnTo>
                <a:moveTo>
                  <a:pt x="6880" y="0"/>
                </a:moveTo>
                <a:lnTo>
                  <a:pt x="6959" y="0"/>
                </a:lnTo>
                <a:lnTo>
                  <a:pt x="6959" y="29"/>
                </a:lnTo>
                <a:lnTo>
                  <a:pt x="6880" y="29"/>
                </a:lnTo>
                <a:lnTo>
                  <a:pt x="6880" y="0"/>
                </a:lnTo>
                <a:moveTo>
                  <a:pt x="7012" y="0"/>
                </a:moveTo>
                <a:lnTo>
                  <a:pt x="7092" y="0"/>
                </a:lnTo>
                <a:lnTo>
                  <a:pt x="7092" y="29"/>
                </a:lnTo>
                <a:lnTo>
                  <a:pt x="7012" y="29"/>
                </a:lnTo>
                <a:lnTo>
                  <a:pt x="7012" y="0"/>
                </a:lnTo>
                <a:moveTo>
                  <a:pt x="7145" y="0"/>
                </a:moveTo>
                <a:lnTo>
                  <a:pt x="7224" y="0"/>
                </a:lnTo>
                <a:lnTo>
                  <a:pt x="7224" y="29"/>
                </a:lnTo>
                <a:lnTo>
                  <a:pt x="7145" y="29"/>
                </a:lnTo>
                <a:lnTo>
                  <a:pt x="7145" y="0"/>
                </a:lnTo>
                <a:moveTo>
                  <a:pt x="7277" y="0"/>
                </a:moveTo>
                <a:lnTo>
                  <a:pt x="7356" y="0"/>
                </a:lnTo>
                <a:lnTo>
                  <a:pt x="7356" y="29"/>
                </a:lnTo>
                <a:lnTo>
                  <a:pt x="7277" y="29"/>
                </a:lnTo>
                <a:lnTo>
                  <a:pt x="7277" y="0"/>
                </a:lnTo>
                <a:moveTo>
                  <a:pt x="7409" y="0"/>
                </a:moveTo>
                <a:lnTo>
                  <a:pt x="7489" y="0"/>
                </a:lnTo>
                <a:lnTo>
                  <a:pt x="7489" y="29"/>
                </a:lnTo>
                <a:lnTo>
                  <a:pt x="7409" y="29"/>
                </a:lnTo>
                <a:lnTo>
                  <a:pt x="7409" y="0"/>
                </a:lnTo>
                <a:moveTo>
                  <a:pt x="7541" y="0"/>
                </a:moveTo>
                <a:lnTo>
                  <a:pt x="7621" y="0"/>
                </a:lnTo>
                <a:lnTo>
                  <a:pt x="7621" y="29"/>
                </a:lnTo>
                <a:lnTo>
                  <a:pt x="7541" y="29"/>
                </a:lnTo>
                <a:lnTo>
                  <a:pt x="7541" y="0"/>
                </a:lnTo>
                <a:moveTo>
                  <a:pt x="7674" y="0"/>
                </a:moveTo>
                <a:lnTo>
                  <a:pt x="7753" y="0"/>
                </a:lnTo>
                <a:lnTo>
                  <a:pt x="7753" y="29"/>
                </a:lnTo>
                <a:lnTo>
                  <a:pt x="7674" y="29"/>
                </a:lnTo>
                <a:lnTo>
                  <a:pt x="7674" y="0"/>
                </a:lnTo>
                <a:moveTo>
                  <a:pt x="7806" y="0"/>
                </a:moveTo>
                <a:lnTo>
                  <a:pt x="7885" y="0"/>
                </a:lnTo>
                <a:lnTo>
                  <a:pt x="7885" y="29"/>
                </a:lnTo>
                <a:lnTo>
                  <a:pt x="7806" y="29"/>
                </a:lnTo>
                <a:lnTo>
                  <a:pt x="7806" y="0"/>
                </a:lnTo>
                <a:moveTo>
                  <a:pt x="7938" y="0"/>
                </a:moveTo>
                <a:lnTo>
                  <a:pt x="8018" y="0"/>
                </a:lnTo>
                <a:lnTo>
                  <a:pt x="8018" y="29"/>
                </a:lnTo>
                <a:lnTo>
                  <a:pt x="7938" y="29"/>
                </a:lnTo>
                <a:lnTo>
                  <a:pt x="7938" y="0"/>
                </a:lnTo>
                <a:moveTo>
                  <a:pt x="8071" y="0"/>
                </a:moveTo>
                <a:lnTo>
                  <a:pt x="8150" y="0"/>
                </a:lnTo>
                <a:lnTo>
                  <a:pt x="8150" y="29"/>
                </a:lnTo>
                <a:lnTo>
                  <a:pt x="8071" y="29"/>
                </a:lnTo>
                <a:lnTo>
                  <a:pt x="8071" y="0"/>
                </a:lnTo>
                <a:moveTo>
                  <a:pt x="8203" y="0"/>
                </a:moveTo>
                <a:lnTo>
                  <a:pt x="8282" y="0"/>
                </a:lnTo>
                <a:lnTo>
                  <a:pt x="8282" y="29"/>
                </a:lnTo>
                <a:lnTo>
                  <a:pt x="8203" y="29"/>
                </a:lnTo>
                <a:lnTo>
                  <a:pt x="8203" y="0"/>
                </a:lnTo>
                <a:moveTo>
                  <a:pt x="8335" y="0"/>
                </a:moveTo>
                <a:lnTo>
                  <a:pt x="8415" y="0"/>
                </a:lnTo>
                <a:lnTo>
                  <a:pt x="8415" y="29"/>
                </a:lnTo>
                <a:lnTo>
                  <a:pt x="8335" y="29"/>
                </a:lnTo>
                <a:lnTo>
                  <a:pt x="8335" y="0"/>
                </a:lnTo>
                <a:moveTo>
                  <a:pt x="8467" y="0"/>
                </a:moveTo>
                <a:lnTo>
                  <a:pt x="8547" y="0"/>
                </a:lnTo>
                <a:lnTo>
                  <a:pt x="8547" y="29"/>
                </a:lnTo>
                <a:lnTo>
                  <a:pt x="8467" y="29"/>
                </a:lnTo>
                <a:lnTo>
                  <a:pt x="8467" y="0"/>
                </a:lnTo>
                <a:moveTo>
                  <a:pt x="8600" y="0"/>
                </a:moveTo>
                <a:lnTo>
                  <a:pt x="8679" y="0"/>
                </a:lnTo>
                <a:lnTo>
                  <a:pt x="8679" y="29"/>
                </a:lnTo>
                <a:lnTo>
                  <a:pt x="8600" y="29"/>
                </a:lnTo>
                <a:lnTo>
                  <a:pt x="8600" y="0"/>
                </a:lnTo>
                <a:moveTo>
                  <a:pt x="8732" y="0"/>
                </a:moveTo>
                <a:lnTo>
                  <a:pt x="8811" y="0"/>
                </a:lnTo>
                <a:lnTo>
                  <a:pt x="8811" y="29"/>
                </a:lnTo>
                <a:lnTo>
                  <a:pt x="8732" y="29"/>
                </a:lnTo>
                <a:lnTo>
                  <a:pt x="8732" y="0"/>
                </a:lnTo>
                <a:moveTo>
                  <a:pt x="8864" y="0"/>
                </a:moveTo>
                <a:lnTo>
                  <a:pt x="8944" y="0"/>
                </a:lnTo>
                <a:lnTo>
                  <a:pt x="8944" y="29"/>
                </a:lnTo>
                <a:lnTo>
                  <a:pt x="8864" y="29"/>
                </a:lnTo>
                <a:lnTo>
                  <a:pt x="8864" y="0"/>
                </a:lnTo>
                <a:moveTo>
                  <a:pt x="8997" y="0"/>
                </a:moveTo>
                <a:lnTo>
                  <a:pt x="9076" y="0"/>
                </a:lnTo>
                <a:lnTo>
                  <a:pt x="9076" y="29"/>
                </a:lnTo>
                <a:lnTo>
                  <a:pt x="8997" y="29"/>
                </a:lnTo>
                <a:lnTo>
                  <a:pt x="8997" y="0"/>
                </a:lnTo>
                <a:moveTo>
                  <a:pt x="9129" y="0"/>
                </a:moveTo>
                <a:lnTo>
                  <a:pt x="9208" y="0"/>
                </a:lnTo>
                <a:lnTo>
                  <a:pt x="9208" y="29"/>
                </a:lnTo>
                <a:lnTo>
                  <a:pt x="9129" y="29"/>
                </a:lnTo>
                <a:lnTo>
                  <a:pt x="9129" y="0"/>
                </a:lnTo>
                <a:moveTo>
                  <a:pt x="9261" y="0"/>
                </a:moveTo>
                <a:lnTo>
                  <a:pt x="9341" y="0"/>
                </a:lnTo>
                <a:lnTo>
                  <a:pt x="9341" y="29"/>
                </a:lnTo>
                <a:lnTo>
                  <a:pt x="9261" y="29"/>
                </a:lnTo>
                <a:lnTo>
                  <a:pt x="9261" y="0"/>
                </a:lnTo>
                <a:moveTo>
                  <a:pt x="9394" y="0"/>
                </a:moveTo>
                <a:lnTo>
                  <a:pt x="9473" y="0"/>
                </a:lnTo>
                <a:lnTo>
                  <a:pt x="9473" y="29"/>
                </a:lnTo>
                <a:lnTo>
                  <a:pt x="9394" y="29"/>
                </a:lnTo>
                <a:lnTo>
                  <a:pt x="9394" y="0"/>
                </a:lnTo>
                <a:moveTo>
                  <a:pt x="9526" y="0"/>
                </a:moveTo>
                <a:lnTo>
                  <a:pt x="9605" y="0"/>
                </a:lnTo>
                <a:lnTo>
                  <a:pt x="9605" y="29"/>
                </a:lnTo>
                <a:lnTo>
                  <a:pt x="9526" y="29"/>
                </a:lnTo>
                <a:lnTo>
                  <a:pt x="9526" y="0"/>
                </a:lnTo>
                <a:moveTo>
                  <a:pt x="9658" y="0"/>
                </a:moveTo>
                <a:lnTo>
                  <a:pt x="9737" y="0"/>
                </a:lnTo>
                <a:lnTo>
                  <a:pt x="9737" y="29"/>
                </a:lnTo>
                <a:lnTo>
                  <a:pt x="9658" y="29"/>
                </a:lnTo>
                <a:lnTo>
                  <a:pt x="9658" y="0"/>
                </a:lnTo>
                <a:moveTo>
                  <a:pt x="9790" y="0"/>
                </a:moveTo>
                <a:lnTo>
                  <a:pt x="9870" y="0"/>
                </a:lnTo>
                <a:lnTo>
                  <a:pt x="9870" y="29"/>
                </a:lnTo>
                <a:lnTo>
                  <a:pt x="9790" y="29"/>
                </a:lnTo>
                <a:lnTo>
                  <a:pt x="9790" y="0"/>
                </a:lnTo>
                <a:moveTo>
                  <a:pt x="9923" y="0"/>
                </a:moveTo>
                <a:lnTo>
                  <a:pt x="10002" y="0"/>
                </a:lnTo>
                <a:lnTo>
                  <a:pt x="10002" y="29"/>
                </a:lnTo>
                <a:lnTo>
                  <a:pt x="9923" y="29"/>
                </a:lnTo>
                <a:lnTo>
                  <a:pt x="992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1444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全文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0496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围绕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095480" y="6242040"/>
            <a:ext cx="8550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“金融科技—企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0278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17332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6089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754000" y="6242040"/>
            <a:ext cx="181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9746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119760" y="6242040"/>
            <a:ext cx="6638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一范式展开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8088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2860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问题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876320" y="929880"/>
            <a:ext cx="21679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提出：数字化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1194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49352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24124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现实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98896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困境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8088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59520" y="16542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93816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阵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216800" y="165420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痛期在延展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0880" y="22827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埃森哲指数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77408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052720" y="2282760"/>
            <a:ext cx="2575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示，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2018—2022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76856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047200" y="22827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88276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161400" y="2282760"/>
            <a:ext cx="320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型水平得分五年来首次下降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80880" y="287064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传统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938160" y="29113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金融存在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052720" y="2870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331360" y="291132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构性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888280" y="2870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95000" y="3628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6"/>
                </a:cubicBezTo>
                <a:cubicBezTo>
                  <a:pt x="263" y="234"/>
                  <a:pt x="257" y="242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166920" y="29113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6212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040760" y="354024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行风控偏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15496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433600" y="3540240"/>
            <a:ext cx="34678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慎，强化抵押品要求，形成嫌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055560" y="3499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贫爱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49500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612840" y="354024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富的授信模式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6212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04076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59768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876320" y="39783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覆盖面与供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269520" y="393732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给规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82680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模有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38372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66236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界，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21964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498280" y="397836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制成千上万主体的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72704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005680" y="39783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型活力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80880" y="6210000"/>
            <a:ext cx="2696040" cy="10440"/>
          </a:xfrm>
          <a:custGeom>
            <a:avLst/>
            <a:gdLst/>
            <a:ahLst/>
            <a:rect l="0" t="0" r="r" b="b"/>
            <a:pathLst>
              <a:path w="7489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9"/>
                </a:lnTo>
                <a:lnTo>
                  <a:pt x="264" y="29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9"/>
                </a:lnTo>
                <a:lnTo>
                  <a:pt x="397" y="29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9"/>
                </a:lnTo>
                <a:lnTo>
                  <a:pt x="529" y="29"/>
                </a:lnTo>
                <a:lnTo>
                  <a:pt x="529" y="0"/>
                </a:lnTo>
                <a:moveTo>
                  <a:pt x="661" y="0"/>
                </a:moveTo>
                <a:lnTo>
                  <a:pt x="741" y="0"/>
                </a:lnTo>
                <a:lnTo>
                  <a:pt x="741" y="29"/>
                </a:lnTo>
                <a:lnTo>
                  <a:pt x="661" y="29"/>
                </a:lnTo>
                <a:lnTo>
                  <a:pt x="661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9"/>
                </a:lnTo>
                <a:lnTo>
                  <a:pt x="794" y="29"/>
                </a:lnTo>
                <a:lnTo>
                  <a:pt x="794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9"/>
                </a:lnTo>
                <a:lnTo>
                  <a:pt x="926" y="29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9"/>
                </a:lnTo>
                <a:lnTo>
                  <a:pt x="1058" y="29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9"/>
                </a:lnTo>
                <a:lnTo>
                  <a:pt x="1190" y="29"/>
                </a:lnTo>
                <a:lnTo>
                  <a:pt x="1190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9"/>
                </a:lnTo>
                <a:lnTo>
                  <a:pt x="1323" y="29"/>
                </a:lnTo>
                <a:lnTo>
                  <a:pt x="1323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9"/>
                </a:lnTo>
                <a:lnTo>
                  <a:pt x="1455" y="29"/>
                </a:lnTo>
                <a:lnTo>
                  <a:pt x="1455" y="0"/>
                </a:lnTo>
                <a:moveTo>
                  <a:pt x="1587" y="0"/>
                </a:moveTo>
                <a:lnTo>
                  <a:pt x="1667" y="0"/>
                </a:lnTo>
                <a:lnTo>
                  <a:pt x="1667" y="29"/>
                </a:lnTo>
                <a:lnTo>
                  <a:pt x="1587" y="29"/>
                </a:lnTo>
                <a:lnTo>
                  <a:pt x="1587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9"/>
                </a:lnTo>
                <a:lnTo>
                  <a:pt x="1720" y="29"/>
                </a:lnTo>
                <a:lnTo>
                  <a:pt x="1720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9"/>
                </a:lnTo>
                <a:lnTo>
                  <a:pt x="1852" y="29"/>
                </a:lnTo>
                <a:lnTo>
                  <a:pt x="1852" y="0"/>
                </a:lnTo>
                <a:moveTo>
                  <a:pt x="1984" y="0"/>
                </a:moveTo>
                <a:lnTo>
                  <a:pt x="2064" y="0"/>
                </a:lnTo>
                <a:lnTo>
                  <a:pt x="2064" y="29"/>
                </a:lnTo>
                <a:lnTo>
                  <a:pt x="1984" y="29"/>
                </a:lnTo>
                <a:lnTo>
                  <a:pt x="1984" y="0"/>
                </a:lnTo>
                <a:moveTo>
                  <a:pt x="2116" y="0"/>
                </a:moveTo>
                <a:lnTo>
                  <a:pt x="2196" y="0"/>
                </a:lnTo>
                <a:lnTo>
                  <a:pt x="2196" y="29"/>
                </a:lnTo>
                <a:lnTo>
                  <a:pt x="2116" y="29"/>
                </a:lnTo>
                <a:lnTo>
                  <a:pt x="2116" y="0"/>
                </a:lnTo>
                <a:moveTo>
                  <a:pt x="2249" y="0"/>
                </a:moveTo>
                <a:lnTo>
                  <a:pt x="2328" y="0"/>
                </a:lnTo>
                <a:lnTo>
                  <a:pt x="2328" y="29"/>
                </a:lnTo>
                <a:lnTo>
                  <a:pt x="2249" y="29"/>
                </a:lnTo>
                <a:lnTo>
                  <a:pt x="2249" y="0"/>
                </a:lnTo>
                <a:moveTo>
                  <a:pt x="2381" y="0"/>
                </a:moveTo>
                <a:lnTo>
                  <a:pt x="2460" y="0"/>
                </a:lnTo>
                <a:lnTo>
                  <a:pt x="2460" y="29"/>
                </a:lnTo>
                <a:lnTo>
                  <a:pt x="2381" y="29"/>
                </a:lnTo>
                <a:lnTo>
                  <a:pt x="2381" y="0"/>
                </a:lnTo>
                <a:moveTo>
                  <a:pt x="2513" y="0"/>
                </a:moveTo>
                <a:lnTo>
                  <a:pt x="2593" y="0"/>
                </a:lnTo>
                <a:lnTo>
                  <a:pt x="2593" y="29"/>
                </a:lnTo>
                <a:lnTo>
                  <a:pt x="2513" y="29"/>
                </a:lnTo>
                <a:lnTo>
                  <a:pt x="2513" y="0"/>
                </a:lnTo>
                <a:moveTo>
                  <a:pt x="2646" y="0"/>
                </a:moveTo>
                <a:lnTo>
                  <a:pt x="2726" y="0"/>
                </a:lnTo>
                <a:lnTo>
                  <a:pt x="2726" y="29"/>
                </a:lnTo>
                <a:lnTo>
                  <a:pt x="2646" y="29"/>
                </a:lnTo>
                <a:lnTo>
                  <a:pt x="2646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9"/>
                </a:lnTo>
                <a:lnTo>
                  <a:pt x="2779" y="29"/>
                </a:lnTo>
                <a:lnTo>
                  <a:pt x="2779" y="0"/>
                </a:lnTo>
                <a:moveTo>
                  <a:pt x="2911" y="0"/>
                </a:moveTo>
                <a:lnTo>
                  <a:pt x="2991" y="0"/>
                </a:lnTo>
                <a:lnTo>
                  <a:pt x="2991" y="29"/>
                </a:lnTo>
                <a:lnTo>
                  <a:pt x="2911" y="29"/>
                </a:lnTo>
                <a:lnTo>
                  <a:pt x="2911" y="0"/>
                </a:lnTo>
                <a:moveTo>
                  <a:pt x="3044" y="0"/>
                </a:moveTo>
                <a:lnTo>
                  <a:pt x="3123" y="0"/>
                </a:lnTo>
                <a:lnTo>
                  <a:pt x="3123" y="29"/>
                </a:lnTo>
                <a:lnTo>
                  <a:pt x="3044" y="29"/>
                </a:lnTo>
                <a:lnTo>
                  <a:pt x="3044" y="0"/>
                </a:lnTo>
                <a:moveTo>
                  <a:pt x="3176" y="0"/>
                </a:moveTo>
                <a:lnTo>
                  <a:pt x="3255" y="0"/>
                </a:lnTo>
                <a:lnTo>
                  <a:pt x="3255" y="29"/>
                </a:lnTo>
                <a:lnTo>
                  <a:pt x="3176" y="29"/>
                </a:lnTo>
                <a:lnTo>
                  <a:pt x="3176" y="0"/>
                </a:lnTo>
                <a:moveTo>
                  <a:pt x="3308" y="0"/>
                </a:moveTo>
                <a:lnTo>
                  <a:pt x="3387" y="0"/>
                </a:lnTo>
                <a:lnTo>
                  <a:pt x="3387" y="29"/>
                </a:lnTo>
                <a:lnTo>
                  <a:pt x="3308" y="29"/>
                </a:lnTo>
                <a:lnTo>
                  <a:pt x="3308" y="0"/>
                </a:lnTo>
                <a:moveTo>
                  <a:pt x="3440" y="0"/>
                </a:moveTo>
                <a:lnTo>
                  <a:pt x="3520" y="0"/>
                </a:lnTo>
                <a:lnTo>
                  <a:pt x="3520" y="29"/>
                </a:lnTo>
                <a:lnTo>
                  <a:pt x="3440" y="29"/>
                </a:lnTo>
                <a:lnTo>
                  <a:pt x="3440" y="0"/>
                </a:lnTo>
                <a:moveTo>
                  <a:pt x="3573" y="0"/>
                </a:moveTo>
                <a:lnTo>
                  <a:pt x="3652" y="0"/>
                </a:lnTo>
                <a:lnTo>
                  <a:pt x="3652" y="29"/>
                </a:lnTo>
                <a:lnTo>
                  <a:pt x="3573" y="29"/>
                </a:lnTo>
                <a:lnTo>
                  <a:pt x="3573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9"/>
                </a:lnTo>
                <a:lnTo>
                  <a:pt x="3705" y="29"/>
                </a:lnTo>
                <a:lnTo>
                  <a:pt x="3705" y="0"/>
                </a:lnTo>
                <a:moveTo>
                  <a:pt x="3837" y="0"/>
                </a:moveTo>
                <a:lnTo>
                  <a:pt x="3917" y="0"/>
                </a:lnTo>
                <a:lnTo>
                  <a:pt x="3917" y="29"/>
                </a:lnTo>
                <a:lnTo>
                  <a:pt x="3837" y="29"/>
                </a:lnTo>
                <a:lnTo>
                  <a:pt x="3837" y="0"/>
                </a:lnTo>
                <a:moveTo>
                  <a:pt x="3970" y="0"/>
                </a:moveTo>
                <a:lnTo>
                  <a:pt x="4049" y="0"/>
                </a:lnTo>
                <a:lnTo>
                  <a:pt x="4049" y="29"/>
                </a:lnTo>
                <a:lnTo>
                  <a:pt x="3970" y="29"/>
                </a:lnTo>
                <a:lnTo>
                  <a:pt x="3970" y="0"/>
                </a:lnTo>
                <a:moveTo>
                  <a:pt x="4102" y="0"/>
                </a:moveTo>
                <a:lnTo>
                  <a:pt x="4181" y="0"/>
                </a:lnTo>
                <a:lnTo>
                  <a:pt x="4181" y="29"/>
                </a:lnTo>
                <a:lnTo>
                  <a:pt x="4102" y="29"/>
                </a:lnTo>
                <a:lnTo>
                  <a:pt x="4102" y="0"/>
                </a:lnTo>
                <a:moveTo>
                  <a:pt x="4234" y="0"/>
                </a:moveTo>
                <a:lnTo>
                  <a:pt x="4314" y="0"/>
                </a:lnTo>
                <a:lnTo>
                  <a:pt x="4314" y="29"/>
                </a:lnTo>
                <a:lnTo>
                  <a:pt x="4234" y="29"/>
                </a:lnTo>
                <a:lnTo>
                  <a:pt x="4234" y="0"/>
                </a:lnTo>
                <a:moveTo>
                  <a:pt x="4366" y="0"/>
                </a:moveTo>
                <a:lnTo>
                  <a:pt x="4446" y="0"/>
                </a:lnTo>
                <a:lnTo>
                  <a:pt x="4446" y="29"/>
                </a:lnTo>
                <a:lnTo>
                  <a:pt x="4366" y="29"/>
                </a:lnTo>
                <a:lnTo>
                  <a:pt x="4366" y="0"/>
                </a:lnTo>
                <a:moveTo>
                  <a:pt x="4499" y="0"/>
                </a:moveTo>
                <a:lnTo>
                  <a:pt x="4578" y="0"/>
                </a:lnTo>
                <a:lnTo>
                  <a:pt x="4578" y="29"/>
                </a:lnTo>
                <a:lnTo>
                  <a:pt x="4499" y="29"/>
                </a:lnTo>
                <a:lnTo>
                  <a:pt x="4499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9"/>
                </a:lnTo>
                <a:lnTo>
                  <a:pt x="4631" y="29"/>
                </a:lnTo>
                <a:lnTo>
                  <a:pt x="4631" y="0"/>
                </a:lnTo>
                <a:moveTo>
                  <a:pt x="4763" y="0"/>
                </a:moveTo>
                <a:lnTo>
                  <a:pt x="4843" y="0"/>
                </a:lnTo>
                <a:lnTo>
                  <a:pt x="4843" y="29"/>
                </a:lnTo>
                <a:lnTo>
                  <a:pt x="4763" y="29"/>
                </a:lnTo>
                <a:lnTo>
                  <a:pt x="4763" y="0"/>
                </a:lnTo>
                <a:moveTo>
                  <a:pt x="4896" y="0"/>
                </a:moveTo>
                <a:lnTo>
                  <a:pt x="4975" y="0"/>
                </a:lnTo>
                <a:lnTo>
                  <a:pt x="4975" y="29"/>
                </a:lnTo>
                <a:lnTo>
                  <a:pt x="4896" y="29"/>
                </a:lnTo>
                <a:lnTo>
                  <a:pt x="4896" y="0"/>
                </a:lnTo>
                <a:moveTo>
                  <a:pt x="5028" y="0"/>
                </a:moveTo>
                <a:lnTo>
                  <a:pt x="5107" y="0"/>
                </a:lnTo>
                <a:lnTo>
                  <a:pt x="5107" y="29"/>
                </a:lnTo>
                <a:lnTo>
                  <a:pt x="5028" y="29"/>
                </a:lnTo>
                <a:lnTo>
                  <a:pt x="5028" y="0"/>
                </a:lnTo>
                <a:moveTo>
                  <a:pt x="5160" y="0"/>
                </a:moveTo>
                <a:lnTo>
                  <a:pt x="5240" y="0"/>
                </a:lnTo>
                <a:lnTo>
                  <a:pt x="5240" y="29"/>
                </a:lnTo>
                <a:lnTo>
                  <a:pt x="5160" y="29"/>
                </a:lnTo>
                <a:lnTo>
                  <a:pt x="5160" y="0"/>
                </a:lnTo>
                <a:moveTo>
                  <a:pt x="5292" y="0"/>
                </a:moveTo>
                <a:lnTo>
                  <a:pt x="5372" y="0"/>
                </a:lnTo>
                <a:lnTo>
                  <a:pt x="5372" y="29"/>
                </a:lnTo>
                <a:lnTo>
                  <a:pt x="5292" y="29"/>
                </a:lnTo>
                <a:lnTo>
                  <a:pt x="5292" y="0"/>
                </a:lnTo>
                <a:moveTo>
                  <a:pt x="5425" y="0"/>
                </a:moveTo>
                <a:lnTo>
                  <a:pt x="5504" y="0"/>
                </a:lnTo>
                <a:lnTo>
                  <a:pt x="5504" y="29"/>
                </a:lnTo>
                <a:lnTo>
                  <a:pt x="5425" y="29"/>
                </a:lnTo>
                <a:lnTo>
                  <a:pt x="5425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9"/>
                </a:lnTo>
                <a:lnTo>
                  <a:pt x="5557" y="29"/>
                </a:lnTo>
                <a:lnTo>
                  <a:pt x="5557" y="0"/>
                </a:lnTo>
                <a:moveTo>
                  <a:pt x="5689" y="0"/>
                </a:moveTo>
                <a:lnTo>
                  <a:pt x="5769" y="0"/>
                </a:lnTo>
                <a:lnTo>
                  <a:pt x="5769" y="29"/>
                </a:lnTo>
                <a:lnTo>
                  <a:pt x="5689" y="29"/>
                </a:lnTo>
                <a:lnTo>
                  <a:pt x="5689" y="0"/>
                </a:lnTo>
                <a:moveTo>
                  <a:pt x="5822" y="0"/>
                </a:moveTo>
                <a:lnTo>
                  <a:pt x="5901" y="0"/>
                </a:lnTo>
                <a:lnTo>
                  <a:pt x="5901" y="29"/>
                </a:lnTo>
                <a:lnTo>
                  <a:pt x="5822" y="29"/>
                </a:lnTo>
                <a:lnTo>
                  <a:pt x="5822" y="0"/>
                </a:lnTo>
                <a:moveTo>
                  <a:pt x="5954" y="0"/>
                </a:moveTo>
                <a:lnTo>
                  <a:pt x="6033" y="0"/>
                </a:lnTo>
                <a:lnTo>
                  <a:pt x="6033" y="29"/>
                </a:lnTo>
                <a:lnTo>
                  <a:pt x="5954" y="29"/>
                </a:lnTo>
                <a:lnTo>
                  <a:pt x="5954" y="0"/>
                </a:lnTo>
                <a:moveTo>
                  <a:pt x="6086" y="0"/>
                </a:moveTo>
                <a:lnTo>
                  <a:pt x="6166" y="0"/>
                </a:lnTo>
                <a:lnTo>
                  <a:pt x="6166" y="29"/>
                </a:lnTo>
                <a:lnTo>
                  <a:pt x="6086" y="29"/>
                </a:lnTo>
                <a:lnTo>
                  <a:pt x="6086" y="0"/>
                </a:lnTo>
                <a:moveTo>
                  <a:pt x="6219" y="0"/>
                </a:moveTo>
                <a:lnTo>
                  <a:pt x="6298" y="0"/>
                </a:lnTo>
                <a:lnTo>
                  <a:pt x="6298" y="29"/>
                </a:lnTo>
                <a:lnTo>
                  <a:pt x="6219" y="29"/>
                </a:lnTo>
                <a:lnTo>
                  <a:pt x="6219" y="0"/>
                </a:lnTo>
                <a:moveTo>
                  <a:pt x="6351" y="0"/>
                </a:moveTo>
                <a:lnTo>
                  <a:pt x="6430" y="0"/>
                </a:lnTo>
                <a:lnTo>
                  <a:pt x="6430" y="29"/>
                </a:lnTo>
                <a:lnTo>
                  <a:pt x="6351" y="29"/>
                </a:lnTo>
                <a:lnTo>
                  <a:pt x="6351" y="0"/>
                </a:lnTo>
                <a:moveTo>
                  <a:pt x="6483" y="0"/>
                </a:moveTo>
                <a:lnTo>
                  <a:pt x="6562" y="0"/>
                </a:lnTo>
                <a:lnTo>
                  <a:pt x="6562" y="29"/>
                </a:lnTo>
                <a:lnTo>
                  <a:pt x="6483" y="29"/>
                </a:lnTo>
                <a:lnTo>
                  <a:pt x="6483" y="0"/>
                </a:lnTo>
                <a:moveTo>
                  <a:pt x="6615" y="0"/>
                </a:moveTo>
                <a:lnTo>
                  <a:pt x="6695" y="0"/>
                </a:lnTo>
                <a:lnTo>
                  <a:pt x="6695" y="29"/>
                </a:lnTo>
                <a:lnTo>
                  <a:pt x="6615" y="29"/>
                </a:lnTo>
                <a:lnTo>
                  <a:pt x="6615" y="0"/>
                </a:lnTo>
                <a:moveTo>
                  <a:pt x="6748" y="0"/>
                </a:moveTo>
                <a:lnTo>
                  <a:pt x="6827" y="0"/>
                </a:lnTo>
                <a:lnTo>
                  <a:pt x="6827" y="29"/>
                </a:lnTo>
                <a:lnTo>
                  <a:pt x="6748" y="29"/>
                </a:lnTo>
                <a:lnTo>
                  <a:pt x="6748" y="0"/>
                </a:lnTo>
                <a:moveTo>
                  <a:pt x="6880" y="0"/>
                </a:moveTo>
                <a:lnTo>
                  <a:pt x="6959" y="0"/>
                </a:lnTo>
                <a:lnTo>
                  <a:pt x="6959" y="29"/>
                </a:lnTo>
                <a:lnTo>
                  <a:pt x="6880" y="29"/>
                </a:lnTo>
                <a:lnTo>
                  <a:pt x="6880" y="0"/>
                </a:lnTo>
                <a:moveTo>
                  <a:pt x="7012" y="0"/>
                </a:moveTo>
                <a:lnTo>
                  <a:pt x="7092" y="0"/>
                </a:lnTo>
                <a:lnTo>
                  <a:pt x="7092" y="29"/>
                </a:lnTo>
                <a:lnTo>
                  <a:pt x="7012" y="29"/>
                </a:lnTo>
                <a:lnTo>
                  <a:pt x="7012" y="0"/>
                </a:lnTo>
                <a:moveTo>
                  <a:pt x="7145" y="0"/>
                </a:moveTo>
                <a:lnTo>
                  <a:pt x="7224" y="0"/>
                </a:lnTo>
                <a:lnTo>
                  <a:pt x="7224" y="29"/>
                </a:lnTo>
                <a:lnTo>
                  <a:pt x="7145" y="29"/>
                </a:lnTo>
                <a:lnTo>
                  <a:pt x="7145" y="0"/>
                </a:lnTo>
                <a:moveTo>
                  <a:pt x="7277" y="0"/>
                </a:moveTo>
                <a:lnTo>
                  <a:pt x="7356" y="0"/>
                </a:lnTo>
                <a:lnTo>
                  <a:pt x="7356" y="29"/>
                </a:lnTo>
                <a:lnTo>
                  <a:pt x="7277" y="29"/>
                </a:lnTo>
                <a:lnTo>
                  <a:pt x="7277" y="0"/>
                </a:lnTo>
                <a:moveTo>
                  <a:pt x="7409" y="0"/>
                </a:moveTo>
                <a:lnTo>
                  <a:pt x="7489" y="0"/>
                </a:lnTo>
                <a:lnTo>
                  <a:pt x="7489" y="29"/>
                </a:lnTo>
                <a:lnTo>
                  <a:pt x="7409" y="29"/>
                </a:lnTo>
                <a:lnTo>
                  <a:pt x="7409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14440" y="6242040"/>
            <a:ext cx="569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Hicks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：工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2020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347480" y="6242040"/>
            <a:ext cx="14590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革命不得不等候金融革命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80880" y="929880"/>
            <a:ext cx="18068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本文的三点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250360" y="874440"/>
            <a:ext cx="108432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边际贡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37176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80880" y="1654200"/>
            <a:ext cx="2480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① 内容分析框架拓展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80880" y="2282760"/>
            <a:ext cx="320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从本地金融科技影响外地企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72420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002840" y="22827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28148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560120" y="22827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一范式，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67468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952960" y="2282760"/>
            <a:ext cx="1622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向地域—全国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600320" y="22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渐进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157600" y="22827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式地理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99316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271800" y="22827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80880" y="2911320"/>
            <a:ext cx="2480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② 机制分析框架革新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80880" y="354024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信息、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216800" y="3499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774080" y="35402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233136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61000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8828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166920" y="354024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重构，风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281480" y="3499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83876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511740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396040" y="354024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分一般性风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78888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06752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34616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624800" y="354024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新性风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846072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80880" y="4159080"/>
            <a:ext cx="2480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③ 政策工具配套突破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80880" y="478800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不局限于政府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05272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331360" y="478800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管、市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16692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445560" y="47880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72420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002840" y="47880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境等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456012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838760" y="47880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11740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396040" y="4788000"/>
            <a:ext cx="2977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量，构建金融—开放—技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411400" y="4746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690040" y="478800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三螺旋框架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247840" y="1514160"/>
            <a:ext cx="971640" cy="276840"/>
          </a:xfrm>
          <a:custGeom>
            <a:avLst/>
            <a:gdLst/>
            <a:ahLst/>
            <a:rect l="0" t="0" r="r" b="b"/>
            <a:pathLst>
              <a:path w="2699" h="769">
                <a:moveTo>
                  <a:pt x="0" y="0"/>
                </a:moveTo>
                <a:lnTo>
                  <a:pt x="2699" y="0"/>
                </a:lnTo>
                <a:lnTo>
                  <a:pt x="269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219120" y="1514160"/>
            <a:ext cx="3020040" cy="276840"/>
          </a:xfrm>
          <a:custGeom>
            <a:avLst/>
            <a:gdLst/>
            <a:ahLst/>
            <a:rect l="0" t="0" r="r" b="b"/>
            <a:pathLst>
              <a:path w="8389" h="769">
                <a:moveTo>
                  <a:pt x="0" y="0"/>
                </a:moveTo>
                <a:lnTo>
                  <a:pt x="8389" y="0"/>
                </a:lnTo>
                <a:lnTo>
                  <a:pt x="838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238800" y="1514160"/>
            <a:ext cx="3705480" cy="276840"/>
          </a:xfrm>
          <a:custGeom>
            <a:avLst/>
            <a:gdLst/>
            <a:ahLst/>
            <a:rect l="0" t="0" r="r" b="b"/>
            <a:pathLst>
              <a:path w="10293" h="769">
                <a:moveTo>
                  <a:pt x="0" y="0"/>
                </a:moveTo>
                <a:lnTo>
                  <a:pt x="10293" y="0"/>
                </a:lnTo>
                <a:lnTo>
                  <a:pt x="10293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247840" y="1790640"/>
            <a:ext cx="971640" cy="285840"/>
          </a:xfrm>
          <a:custGeom>
            <a:avLst/>
            <a:gdLst/>
            <a:ahLst/>
            <a:rect l="0" t="0" r="r" b="b"/>
            <a:pathLst>
              <a:path w="2699" h="794">
                <a:moveTo>
                  <a:pt x="0" y="0"/>
                </a:moveTo>
                <a:lnTo>
                  <a:pt x="2699" y="0"/>
                </a:lnTo>
                <a:lnTo>
                  <a:pt x="269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219120" y="1790640"/>
            <a:ext cx="3020040" cy="285840"/>
          </a:xfrm>
          <a:custGeom>
            <a:avLst/>
            <a:gdLst/>
            <a:ahLst/>
            <a:rect l="0" t="0" r="r" b="b"/>
            <a:pathLst>
              <a:path w="8389" h="794">
                <a:moveTo>
                  <a:pt x="0" y="0"/>
                </a:moveTo>
                <a:lnTo>
                  <a:pt x="8389" y="0"/>
                </a:lnTo>
                <a:lnTo>
                  <a:pt x="838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238800" y="1790640"/>
            <a:ext cx="3705480" cy="285840"/>
          </a:xfrm>
          <a:custGeom>
            <a:avLst/>
            <a:gdLst/>
            <a:ahLst/>
            <a:rect l="0" t="0" r="r" b="b"/>
            <a:pathLst>
              <a:path w="10293" h="794">
                <a:moveTo>
                  <a:pt x="0" y="0"/>
                </a:moveTo>
                <a:lnTo>
                  <a:pt x="10293" y="0"/>
                </a:lnTo>
                <a:lnTo>
                  <a:pt x="10293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247840" y="2361960"/>
            <a:ext cx="971640" cy="276480"/>
          </a:xfrm>
          <a:custGeom>
            <a:avLst/>
            <a:gdLst/>
            <a:ahLst/>
            <a:rect l="0" t="0" r="r" b="b"/>
            <a:pathLst>
              <a:path w="2699" h="768">
                <a:moveTo>
                  <a:pt x="0" y="0"/>
                </a:moveTo>
                <a:lnTo>
                  <a:pt x="2699" y="0"/>
                </a:lnTo>
                <a:lnTo>
                  <a:pt x="269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219120" y="2361960"/>
            <a:ext cx="3020040" cy="276480"/>
          </a:xfrm>
          <a:custGeom>
            <a:avLst/>
            <a:gdLst/>
            <a:ahLst/>
            <a:rect l="0" t="0" r="r" b="b"/>
            <a:pathLst>
              <a:path w="8389" h="768">
                <a:moveTo>
                  <a:pt x="0" y="0"/>
                </a:moveTo>
                <a:lnTo>
                  <a:pt x="8389" y="0"/>
                </a:lnTo>
                <a:lnTo>
                  <a:pt x="838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238800" y="2361960"/>
            <a:ext cx="3705480" cy="276480"/>
          </a:xfrm>
          <a:custGeom>
            <a:avLst/>
            <a:gdLst/>
            <a:ahLst/>
            <a:rect l="0" t="0" r="r" b="b"/>
            <a:pathLst>
              <a:path w="10293" h="768">
                <a:moveTo>
                  <a:pt x="0" y="0"/>
                </a:moveTo>
                <a:lnTo>
                  <a:pt x="10293" y="0"/>
                </a:lnTo>
                <a:lnTo>
                  <a:pt x="1029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24784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247840" y="150480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20976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3219120" y="150480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23880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6248160" y="1504800"/>
            <a:ext cx="3696120" cy="9720"/>
          </a:xfrm>
          <a:custGeom>
            <a:avLst/>
            <a:gdLst/>
            <a:ahLst/>
            <a:rect l="0" t="0" r="r" b="b"/>
            <a:pathLst>
              <a:path w="10267" h="27">
                <a:moveTo>
                  <a:pt x="0" y="0"/>
                </a:moveTo>
                <a:lnTo>
                  <a:pt x="10267" y="0"/>
                </a:lnTo>
                <a:lnTo>
                  <a:pt x="102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993456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247840" y="179064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219120" y="179064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248160" y="1790640"/>
            <a:ext cx="3696120" cy="9720"/>
          </a:xfrm>
          <a:custGeom>
            <a:avLst/>
            <a:gdLst/>
            <a:ahLst/>
            <a:rect l="0" t="0" r="r" b="b"/>
            <a:pathLst>
              <a:path w="10267" h="27">
                <a:moveTo>
                  <a:pt x="0" y="0"/>
                </a:moveTo>
                <a:lnTo>
                  <a:pt x="10267" y="0"/>
                </a:lnTo>
                <a:lnTo>
                  <a:pt x="102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24784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20976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23880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993456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24784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247840" y="206676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320976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219120" y="206676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23880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6248160" y="2066760"/>
            <a:ext cx="3696120" cy="9720"/>
          </a:xfrm>
          <a:custGeom>
            <a:avLst/>
            <a:gdLst/>
            <a:ahLst/>
            <a:rect l="0" t="0" r="r" b="b"/>
            <a:pathLst>
              <a:path w="10267" h="27">
                <a:moveTo>
                  <a:pt x="0" y="0"/>
                </a:moveTo>
                <a:lnTo>
                  <a:pt x="10267" y="0"/>
                </a:lnTo>
                <a:lnTo>
                  <a:pt x="102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993456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24784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247840" y="235260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20976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3219120" y="235260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623880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248160" y="2352600"/>
            <a:ext cx="3696120" cy="9720"/>
          </a:xfrm>
          <a:custGeom>
            <a:avLst/>
            <a:gdLst/>
            <a:ahLst/>
            <a:rect l="0" t="0" r="r" b="b"/>
            <a:pathLst>
              <a:path w="10267" h="27">
                <a:moveTo>
                  <a:pt x="0" y="0"/>
                </a:moveTo>
                <a:lnTo>
                  <a:pt x="10267" y="0"/>
                </a:lnTo>
                <a:lnTo>
                  <a:pt x="102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993456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247840" y="263808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219120" y="263808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248160" y="2638080"/>
            <a:ext cx="3696120" cy="10080"/>
          </a:xfrm>
          <a:custGeom>
            <a:avLst/>
            <a:gdLst/>
            <a:ahLst/>
            <a:rect l="0" t="0" r="r" b="b"/>
            <a:pathLst>
              <a:path w="10267" h="28">
                <a:moveTo>
                  <a:pt x="0" y="0"/>
                </a:moveTo>
                <a:lnTo>
                  <a:pt x="10267" y="0"/>
                </a:lnTo>
                <a:lnTo>
                  <a:pt x="102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8088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二、理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502640" y="874440"/>
            <a:ext cx="108432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论逻辑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624040" y="929880"/>
            <a:ext cx="32515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：三大困局如何破解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56140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困局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55616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成因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317360" y="1569600"/>
            <a:ext cx="1121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金融科技的破解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8520120" y="15451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逻辑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38968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73348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90520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3534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525120" y="1855440"/>
            <a:ext cx="96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型能力欠缺，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55616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727880" y="185544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以判断技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41548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587200" y="18554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嵌合度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37884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550920" y="1855440"/>
            <a:ext cx="218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理“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81012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6982200" y="1855440"/>
            <a:ext cx="653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构化—非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65252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824240" y="1855440"/>
            <a:ext cx="1818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构化”数据，降低信息阻隔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38968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不能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73348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90520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361116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3782880" y="213192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型成本高，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464184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81392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98564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15736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32944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约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50116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67288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63012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打通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97356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14564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31736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489080" y="2131920"/>
            <a:ext cx="1441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源流通渠道，降低融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03564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20736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38968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不敢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73348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90520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61116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阵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782880" y="2417400"/>
            <a:ext cx="192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痛期长，不确定性与长周期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80184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平滑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14528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31736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66080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832880" y="241740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，提升风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520120" y="23929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863560" y="24174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置能力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380880" y="6210000"/>
            <a:ext cx="4629600" cy="10440"/>
          </a:xfrm>
          <a:custGeom>
            <a:avLst/>
            <a:gdLst/>
            <a:ahLst/>
            <a:rect l="0" t="0" r="r" b="b"/>
            <a:pathLst>
              <a:path w="12860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9"/>
                </a:lnTo>
                <a:lnTo>
                  <a:pt x="263" y="29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9"/>
                </a:lnTo>
                <a:lnTo>
                  <a:pt x="395" y="29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9"/>
                </a:lnTo>
                <a:lnTo>
                  <a:pt x="527" y="29"/>
                </a:lnTo>
                <a:lnTo>
                  <a:pt x="527" y="0"/>
                </a:lnTo>
                <a:moveTo>
                  <a:pt x="659" y="0"/>
                </a:moveTo>
                <a:lnTo>
                  <a:pt x="738" y="0"/>
                </a:lnTo>
                <a:lnTo>
                  <a:pt x="738" y="29"/>
                </a:lnTo>
                <a:lnTo>
                  <a:pt x="659" y="29"/>
                </a:lnTo>
                <a:lnTo>
                  <a:pt x="659" y="0"/>
                </a:lnTo>
                <a:moveTo>
                  <a:pt x="790" y="0"/>
                </a:moveTo>
                <a:lnTo>
                  <a:pt x="870" y="0"/>
                </a:lnTo>
                <a:lnTo>
                  <a:pt x="870" y="29"/>
                </a:lnTo>
                <a:lnTo>
                  <a:pt x="790" y="29"/>
                </a:lnTo>
                <a:lnTo>
                  <a:pt x="790" y="0"/>
                </a:lnTo>
                <a:moveTo>
                  <a:pt x="922" y="0"/>
                </a:moveTo>
                <a:lnTo>
                  <a:pt x="1001" y="0"/>
                </a:lnTo>
                <a:lnTo>
                  <a:pt x="1001" y="29"/>
                </a:lnTo>
                <a:lnTo>
                  <a:pt x="922" y="29"/>
                </a:lnTo>
                <a:lnTo>
                  <a:pt x="922" y="0"/>
                </a:lnTo>
                <a:moveTo>
                  <a:pt x="1054" y="0"/>
                </a:moveTo>
                <a:lnTo>
                  <a:pt x="1133" y="0"/>
                </a:lnTo>
                <a:lnTo>
                  <a:pt x="1133" y="29"/>
                </a:lnTo>
                <a:lnTo>
                  <a:pt x="1054" y="29"/>
                </a:lnTo>
                <a:lnTo>
                  <a:pt x="1054" y="0"/>
                </a:lnTo>
                <a:moveTo>
                  <a:pt x="1186" y="0"/>
                </a:moveTo>
                <a:lnTo>
                  <a:pt x="1265" y="0"/>
                </a:lnTo>
                <a:lnTo>
                  <a:pt x="1265" y="29"/>
                </a:lnTo>
                <a:lnTo>
                  <a:pt x="1186" y="29"/>
                </a:lnTo>
                <a:lnTo>
                  <a:pt x="1186" y="0"/>
                </a:lnTo>
                <a:moveTo>
                  <a:pt x="1317" y="0"/>
                </a:moveTo>
                <a:lnTo>
                  <a:pt x="1397" y="0"/>
                </a:lnTo>
                <a:lnTo>
                  <a:pt x="1397" y="29"/>
                </a:lnTo>
                <a:lnTo>
                  <a:pt x="1317" y="29"/>
                </a:lnTo>
                <a:lnTo>
                  <a:pt x="1317" y="0"/>
                </a:lnTo>
                <a:moveTo>
                  <a:pt x="1449" y="0"/>
                </a:moveTo>
                <a:lnTo>
                  <a:pt x="1528" y="0"/>
                </a:lnTo>
                <a:lnTo>
                  <a:pt x="1528" y="29"/>
                </a:lnTo>
                <a:lnTo>
                  <a:pt x="1449" y="29"/>
                </a:lnTo>
                <a:lnTo>
                  <a:pt x="1449" y="0"/>
                </a:lnTo>
                <a:moveTo>
                  <a:pt x="1581" y="0"/>
                </a:moveTo>
                <a:lnTo>
                  <a:pt x="1660" y="0"/>
                </a:lnTo>
                <a:lnTo>
                  <a:pt x="1660" y="29"/>
                </a:lnTo>
                <a:lnTo>
                  <a:pt x="1581" y="29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9"/>
                </a:lnTo>
                <a:lnTo>
                  <a:pt x="1713" y="29"/>
                </a:lnTo>
                <a:lnTo>
                  <a:pt x="1713" y="0"/>
                </a:lnTo>
                <a:moveTo>
                  <a:pt x="1844" y="0"/>
                </a:moveTo>
                <a:lnTo>
                  <a:pt x="1924" y="0"/>
                </a:lnTo>
                <a:lnTo>
                  <a:pt x="1924" y="29"/>
                </a:lnTo>
                <a:lnTo>
                  <a:pt x="1844" y="29"/>
                </a:lnTo>
                <a:lnTo>
                  <a:pt x="1844" y="0"/>
                </a:lnTo>
                <a:moveTo>
                  <a:pt x="1976" y="0"/>
                </a:moveTo>
                <a:lnTo>
                  <a:pt x="2055" y="0"/>
                </a:lnTo>
                <a:lnTo>
                  <a:pt x="2055" y="29"/>
                </a:lnTo>
                <a:lnTo>
                  <a:pt x="1976" y="29"/>
                </a:lnTo>
                <a:lnTo>
                  <a:pt x="1976" y="0"/>
                </a:lnTo>
                <a:moveTo>
                  <a:pt x="2108" y="0"/>
                </a:moveTo>
                <a:lnTo>
                  <a:pt x="2187" y="0"/>
                </a:lnTo>
                <a:lnTo>
                  <a:pt x="2187" y="29"/>
                </a:lnTo>
                <a:lnTo>
                  <a:pt x="2108" y="29"/>
                </a:lnTo>
                <a:lnTo>
                  <a:pt x="2108" y="0"/>
                </a:lnTo>
                <a:moveTo>
                  <a:pt x="2240" y="0"/>
                </a:moveTo>
                <a:lnTo>
                  <a:pt x="2319" y="0"/>
                </a:lnTo>
                <a:lnTo>
                  <a:pt x="2319" y="29"/>
                </a:lnTo>
                <a:lnTo>
                  <a:pt x="2240" y="29"/>
                </a:lnTo>
                <a:lnTo>
                  <a:pt x="2240" y="0"/>
                </a:lnTo>
                <a:moveTo>
                  <a:pt x="2371" y="0"/>
                </a:moveTo>
                <a:lnTo>
                  <a:pt x="2451" y="0"/>
                </a:lnTo>
                <a:lnTo>
                  <a:pt x="2451" y="29"/>
                </a:lnTo>
                <a:lnTo>
                  <a:pt x="2371" y="29"/>
                </a:lnTo>
                <a:lnTo>
                  <a:pt x="2371" y="0"/>
                </a:lnTo>
                <a:moveTo>
                  <a:pt x="2503" y="0"/>
                </a:moveTo>
                <a:lnTo>
                  <a:pt x="2582" y="0"/>
                </a:lnTo>
                <a:lnTo>
                  <a:pt x="2582" y="29"/>
                </a:lnTo>
                <a:lnTo>
                  <a:pt x="2503" y="29"/>
                </a:lnTo>
                <a:lnTo>
                  <a:pt x="2503" y="0"/>
                </a:lnTo>
                <a:moveTo>
                  <a:pt x="2635" y="0"/>
                </a:moveTo>
                <a:lnTo>
                  <a:pt x="2714" y="0"/>
                </a:lnTo>
                <a:lnTo>
                  <a:pt x="2714" y="29"/>
                </a:lnTo>
                <a:lnTo>
                  <a:pt x="2635" y="29"/>
                </a:lnTo>
                <a:lnTo>
                  <a:pt x="2635" y="0"/>
                </a:lnTo>
                <a:moveTo>
                  <a:pt x="2767" y="0"/>
                </a:moveTo>
                <a:lnTo>
                  <a:pt x="2846" y="0"/>
                </a:lnTo>
                <a:lnTo>
                  <a:pt x="2846" y="29"/>
                </a:lnTo>
                <a:lnTo>
                  <a:pt x="2767" y="29"/>
                </a:lnTo>
                <a:lnTo>
                  <a:pt x="2767" y="0"/>
                </a:lnTo>
                <a:moveTo>
                  <a:pt x="2898" y="0"/>
                </a:moveTo>
                <a:lnTo>
                  <a:pt x="2978" y="0"/>
                </a:lnTo>
                <a:lnTo>
                  <a:pt x="2978" y="29"/>
                </a:lnTo>
                <a:lnTo>
                  <a:pt x="2898" y="29"/>
                </a:lnTo>
                <a:lnTo>
                  <a:pt x="2898" y="0"/>
                </a:lnTo>
                <a:moveTo>
                  <a:pt x="3030" y="0"/>
                </a:moveTo>
                <a:lnTo>
                  <a:pt x="3109" y="0"/>
                </a:lnTo>
                <a:lnTo>
                  <a:pt x="3109" y="29"/>
                </a:lnTo>
                <a:lnTo>
                  <a:pt x="3030" y="29"/>
                </a:lnTo>
                <a:lnTo>
                  <a:pt x="3030" y="0"/>
                </a:lnTo>
                <a:moveTo>
                  <a:pt x="3162" y="0"/>
                </a:moveTo>
                <a:lnTo>
                  <a:pt x="3241" y="0"/>
                </a:lnTo>
                <a:lnTo>
                  <a:pt x="3241" y="29"/>
                </a:lnTo>
                <a:lnTo>
                  <a:pt x="3162" y="29"/>
                </a:lnTo>
                <a:lnTo>
                  <a:pt x="3162" y="0"/>
                </a:lnTo>
                <a:moveTo>
                  <a:pt x="3293" y="0"/>
                </a:moveTo>
                <a:lnTo>
                  <a:pt x="3373" y="0"/>
                </a:lnTo>
                <a:lnTo>
                  <a:pt x="3373" y="29"/>
                </a:lnTo>
                <a:lnTo>
                  <a:pt x="3293" y="29"/>
                </a:lnTo>
                <a:lnTo>
                  <a:pt x="3293" y="0"/>
                </a:lnTo>
                <a:moveTo>
                  <a:pt x="3425" y="0"/>
                </a:moveTo>
                <a:lnTo>
                  <a:pt x="3505" y="0"/>
                </a:lnTo>
                <a:lnTo>
                  <a:pt x="3505" y="29"/>
                </a:lnTo>
                <a:lnTo>
                  <a:pt x="3425" y="29"/>
                </a:lnTo>
                <a:lnTo>
                  <a:pt x="3425" y="0"/>
                </a:lnTo>
                <a:moveTo>
                  <a:pt x="3557" y="0"/>
                </a:moveTo>
                <a:lnTo>
                  <a:pt x="3636" y="0"/>
                </a:lnTo>
                <a:lnTo>
                  <a:pt x="3636" y="29"/>
                </a:lnTo>
                <a:lnTo>
                  <a:pt x="3557" y="29"/>
                </a:lnTo>
                <a:lnTo>
                  <a:pt x="3557" y="0"/>
                </a:lnTo>
                <a:moveTo>
                  <a:pt x="3689" y="0"/>
                </a:moveTo>
                <a:lnTo>
                  <a:pt x="3768" y="0"/>
                </a:lnTo>
                <a:lnTo>
                  <a:pt x="3768" y="29"/>
                </a:lnTo>
                <a:lnTo>
                  <a:pt x="3689" y="29"/>
                </a:lnTo>
                <a:lnTo>
                  <a:pt x="3689" y="0"/>
                </a:lnTo>
                <a:moveTo>
                  <a:pt x="3820" y="0"/>
                </a:moveTo>
                <a:lnTo>
                  <a:pt x="3900" y="0"/>
                </a:lnTo>
                <a:lnTo>
                  <a:pt x="3900" y="29"/>
                </a:lnTo>
                <a:lnTo>
                  <a:pt x="3820" y="29"/>
                </a:lnTo>
                <a:lnTo>
                  <a:pt x="3820" y="0"/>
                </a:lnTo>
                <a:moveTo>
                  <a:pt x="3952" y="0"/>
                </a:moveTo>
                <a:lnTo>
                  <a:pt x="4032" y="0"/>
                </a:lnTo>
                <a:lnTo>
                  <a:pt x="4032" y="29"/>
                </a:lnTo>
                <a:lnTo>
                  <a:pt x="3952" y="29"/>
                </a:lnTo>
                <a:lnTo>
                  <a:pt x="3952" y="0"/>
                </a:lnTo>
                <a:moveTo>
                  <a:pt x="4084" y="0"/>
                </a:moveTo>
                <a:lnTo>
                  <a:pt x="4163" y="0"/>
                </a:lnTo>
                <a:lnTo>
                  <a:pt x="4163" y="29"/>
                </a:lnTo>
                <a:lnTo>
                  <a:pt x="4084" y="29"/>
                </a:lnTo>
                <a:lnTo>
                  <a:pt x="4084" y="0"/>
                </a:lnTo>
                <a:moveTo>
                  <a:pt x="4216" y="0"/>
                </a:moveTo>
                <a:lnTo>
                  <a:pt x="4295" y="0"/>
                </a:lnTo>
                <a:lnTo>
                  <a:pt x="4295" y="29"/>
                </a:lnTo>
                <a:lnTo>
                  <a:pt x="4216" y="29"/>
                </a:lnTo>
                <a:lnTo>
                  <a:pt x="4216" y="0"/>
                </a:lnTo>
                <a:moveTo>
                  <a:pt x="4347" y="0"/>
                </a:moveTo>
                <a:lnTo>
                  <a:pt x="4427" y="0"/>
                </a:lnTo>
                <a:lnTo>
                  <a:pt x="4427" y="29"/>
                </a:lnTo>
                <a:lnTo>
                  <a:pt x="4347" y="29"/>
                </a:lnTo>
                <a:lnTo>
                  <a:pt x="4347" y="0"/>
                </a:lnTo>
                <a:moveTo>
                  <a:pt x="4479" y="0"/>
                </a:moveTo>
                <a:lnTo>
                  <a:pt x="4559" y="0"/>
                </a:lnTo>
                <a:lnTo>
                  <a:pt x="4559" y="29"/>
                </a:lnTo>
                <a:lnTo>
                  <a:pt x="4479" y="29"/>
                </a:lnTo>
                <a:lnTo>
                  <a:pt x="4479" y="0"/>
                </a:lnTo>
                <a:moveTo>
                  <a:pt x="4611" y="0"/>
                </a:moveTo>
                <a:lnTo>
                  <a:pt x="4690" y="0"/>
                </a:lnTo>
                <a:lnTo>
                  <a:pt x="4690" y="29"/>
                </a:lnTo>
                <a:lnTo>
                  <a:pt x="4611" y="29"/>
                </a:lnTo>
                <a:lnTo>
                  <a:pt x="4611" y="0"/>
                </a:lnTo>
                <a:moveTo>
                  <a:pt x="4743" y="0"/>
                </a:moveTo>
                <a:lnTo>
                  <a:pt x="4822" y="0"/>
                </a:lnTo>
                <a:lnTo>
                  <a:pt x="4822" y="29"/>
                </a:lnTo>
                <a:lnTo>
                  <a:pt x="4743" y="29"/>
                </a:lnTo>
                <a:lnTo>
                  <a:pt x="4743" y="0"/>
                </a:lnTo>
                <a:moveTo>
                  <a:pt x="4874" y="0"/>
                </a:moveTo>
                <a:lnTo>
                  <a:pt x="4954" y="0"/>
                </a:lnTo>
                <a:lnTo>
                  <a:pt x="4954" y="29"/>
                </a:lnTo>
                <a:lnTo>
                  <a:pt x="4874" y="29"/>
                </a:lnTo>
                <a:lnTo>
                  <a:pt x="4874" y="0"/>
                </a:lnTo>
                <a:moveTo>
                  <a:pt x="5006" y="0"/>
                </a:moveTo>
                <a:lnTo>
                  <a:pt x="5086" y="0"/>
                </a:lnTo>
                <a:lnTo>
                  <a:pt x="5086" y="29"/>
                </a:lnTo>
                <a:lnTo>
                  <a:pt x="5006" y="29"/>
                </a:lnTo>
                <a:lnTo>
                  <a:pt x="5006" y="0"/>
                </a:lnTo>
                <a:moveTo>
                  <a:pt x="5138" y="0"/>
                </a:moveTo>
                <a:lnTo>
                  <a:pt x="5217" y="0"/>
                </a:lnTo>
                <a:lnTo>
                  <a:pt x="5217" y="29"/>
                </a:lnTo>
                <a:lnTo>
                  <a:pt x="5138" y="29"/>
                </a:lnTo>
                <a:lnTo>
                  <a:pt x="5138" y="0"/>
                </a:lnTo>
                <a:moveTo>
                  <a:pt x="5270" y="0"/>
                </a:moveTo>
                <a:lnTo>
                  <a:pt x="5349" y="0"/>
                </a:lnTo>
                <a:lnTo>
                  <a:pt x="5349" y="29"/>
                </a:lnTo>
                <a:lnTo>
                  <a:pt x="5270" y="29"/>
                </a:lnTo>
                <a:lnTo>
                  <a:pt x="5270" y="0"/>
                </a:lnTo>
                <a:moveTo>
                  <a:pt x="5402" y="0"/>
                </a:moveTo>
                <a:lnTo>
                  <a:pt x="5482" y="0"/>
                </a:lnTo>
                <a:lnTo>
                  <a:pt x="5482" y="29"/>
                </a:lnTo>
                <a:lnTo>
                  <a:pt x="5402" y="29"/>
                </a:lnTo>
                <a:lnTo>
                  <a:pt x="5402" y="0"/>
                </a:lnTo>
                <a:moveTo>
                  <a:pt x="5534" y="0"/>
                </a:moveTo>
                <a:lnTo>
                  <a:pt x="5614" y="0"/>
                </a:lnTo>
                <a:lnTo>
                  <a:pt x="5614" y="29"/>
                </a:lnTo>
                <a:lnTo>
                  <a:pt x="5534" y="29"/>
                </a:lnTo>
                <a:lnTo>
                  <a:pt x="5534" y="0"/>
                </a:lnTo>
                <a:moveTo>
                  <a:pt x="5666" y="0"/>
                </a:moveTo>
                <a:lnTo>
                  <a:pt x="5745" y="0"/>
                </a:lnTo>
                <a:lnTo>
                  <a:pt x="5745" y="29"/>
                </a:lnTo>
                <a:lnTo>
                  <a:pt x="5666" y="29"/>
                </a:lnTo>
                <a:lnTo>
                  <a:pt x="5666" y="0"/>
                </a:lnTo>
                <a:moveTo>
                  <a:pt x="5798" y="0"/>
                </a:moveTo>
                <a:lnTo>
                  <a:pt x="5877" y="0"/>
                </a:lnTo>
                <a:lnTo>
                  <a:pt x="5877" y="29"/>
                </a:lnTo>
                <a:lnTo>
                  <a:pt x="5798" y="29"/>
                </a:lnTo>
                <a:lnTo>
                  <a:pt x="5798" y="0"/>
                </a:lnTo>
                <a:moveTo>
                  <a:pt x="5929" y="0"/>
                </a:moveTo>
                <a:lnTo>
                  <a:pt x="6009" y="0"/>
                </a:lnTo>
                <a:lnTo>
                  <a:pt x="6009" y="29"/>
                </a:lnTo>
                <a:lnTo>
                  <a:pt x="5929" y="29"/>
                </a:lnTo>
                <a:lnTo>
                  <a:pt x="5929" y="0"/>
                </a:lnTo>
                <a:moveTo>
                  <a:pt x="6061" y="0"/>
                </a:moveTo>
                <a:lnTo>
                  <a:pt x="6141" y="0"/>
                </a:lnTo>
                <a:lnTo>
                  <a:pt x="6141" y="29"/>
                </a:lnTo>
                <a:lnTo>
                  <a:pt x="6061" y="29"/>
                </a:lnTo>
                <a:lnTo>
                  <a:pt x="6061" y="0"/>
                </a:lnTo>
                <a:moveTo>
                  <a:pt x="6193" y="0"/>
                </a:moveTo>
                <a:lnTo>
                  <a:pt x="6272" y="0"/>
                </a:lnTo>
                <a:lnTo>
                  <a:pt x="6272" y="29"/>
                </a:lnTo>
                <a:lnTo>
                  <a:pt x="6193" y="29"/>
                </a:lnTo>
                <a:lnTo>
                  <a:pt x="6193" y="0"/>
                </a:lnTo>
                <a:moveTo>
                  <a:pt x="6325" y="0"/>
                </a:moveTo>
                <a:lnTo>
                  <a:pt x="6404" y="0"/>
                </a:lnTo>
                <a:lnTo>
                  <a:pt x="6404" y="29"/>
                </a:lnTo>
                <a:lnTo>
                  <a:pt x="6325" y="29"/>
                </a:lnTo>
                <a:lnTo>
                  <a:pt x="6325" y="0"/>
                </a:lnTo>
                <a:moveTo>
                  <a:pt x="6456" y="0"/>
                </a:moveTo>
                <a:lnTo>
                  <a:pt x="6536" y="0"/>
                </a:lnTo>
                <a:lnTo>
                  <a:pt x="6536" y="29"/>
                </a:lnTo>
                <a:lnTo>
                  <a:pt x="6456" y="29"/>
                </a:lnTo>
                <a:lnTo>
                  <a:pt x="6456" y="0"/>
                </a:lnTo>
                <a:moveTo>
                  <a:pt x="6588" y="0"/>
                </a:moveTo>
                <a:lnTo>
                  <a:pt x="6668" y="0"/>
                </a:lnTo>
                <a:lnTo>
                  <a:pt x="6668" y="29"/>
                </a:lnTo>
                <a:lnTo>
                  <a:pt x="6588" y="29"/>
                </a:lnTo>
                <a:lnTo>
                  <a:pt x="6588" y="0"/>
                </a:lnTo>
                <a:moveTo>
                  <a:pt x="6720" y="0"/>
                </a:moveTo>
                <a:lnTo>
                  <a:pt x="6799" y="0"/>
                </a:lnTo>
                <a:lnTo>
                  <a:pt x="6799" y="29"/>
                </a:lnTo>
                <a:lnTo>
                  <a:pt x="6720" y="29"/>
                </a:lnTo>
                <a:lnTo>
                  <a:pt x="6720" y="0"/>
                </a:lnTo>
                <a:moveTo>
                  <a:pt x="6852" y="0"/>
                </a:moveTo>
                <a:lnTo>
                  <a:pt x="6931" y="0"/>
                </a:lnTo>
                <a:lnTo>
                  <a:pt x="6931" y="29"/>
                </a:lnTo>
                <a:lnTo>
                  <a:pt x="6852" y="29"/>
                </a:lnTo>
                <a:lnTo>
                  <a:pt x="6852" y="0"/>
                </a:lnTo>
                <a:moveTo>
                  <a:pt x="6983" y="0"/>
                </a:moveTo>
                <a:lnTo>
                  <a:pt x="7063" y="0"/>
                </a:lnTo>
                <a:lnTo>
                  <a:pt x="7063" y="29"/>
                </a:lnTo>
                <a:lnTo>
                  <a:pt x="6983" y="29"/>
                </a:lnTo>
                <a:lnTo>
                  <a:pt x="6983" y="0"/>
                </a:lnTo>
                <a:moveTo>
                  <a:pt x="7115" y="0"/>
                </a:moveTo>
                <a:lnTo>
                  <a:pt x="7194" y="0"/>
                </a:lnTo>
                <a:lnTo>
                  <a:pt x="7194" y="29"/>
                </a:lnTo>
                <a:lnTo>
                  <a:pt x="7115" y="29"/>
                </a:lnTo>
                <a:lnTo>
                  <a:pt x="7115" y="0"/>
                </a:lnTo>
                <a:moveTo>
                  <a:pt x="7247" y="0"/>
                </a:moveTo>
                <a:lnTo>
                  <a:pt x="7326" y="0"/>
                </a:lnTo>
                <a:lnTo>
                  <a:pt x="7326" y="29"/>
                </a:lnTo>
                <a:lnTo>
                  <a:pt x="7247" y="29"/>
                </a:lnTo>
                <a:lnTo>
                  <a:pt x="7247" y="0"/>
                </a:lnTo>
                <a:moveTo>
                  <a:pt x="7379" y="0"/>
                </a:moveTo>
                <a:lnTo>
                  <a:pt x="7458" y="0"/>
                </a:lnTo>
                <a:lnTo>
                  <a:pt x="7458" y="29"/>
                </a:lnTo>
                <a:lnTo>
                  <a:pt x="7379" y="29"/>
                </a:lnTo>
                <a:lnTo>
                  <a:pt x="7379" y="0"/>
                </a:lnTo>
                <a:moveTo>
                  <a:pt x="7510" y="0"/>
                </a:moveTo>
                <a:lnTo>
                  <a:pt x="7590" y="0"/>
                </a:lnTo>
                <a:lnTo>
                  <a:pt x="7590" y="29"/>
                </a:lnTo>
                <a:lnTo>
                  <a:pt x="7510" y="29"/>
                </a:lnTo>
                <a:lnTo>
                  <a:pt x="7510" y="0"/>
                </a:lnTo>
                <a:moveTo>
                  <a:pt x="7642" y="0"/>
                </a:moveTo>
                <a:lnTo>
                  <a:pt x="7721" y="0"/>
                </a:lnTo>
                <a:lnTo>
                  <a:pt x="7721" y="29"/>
                </a:lnTo>
                <a:lnTo>
                  <a:pt x="7642" y="29"/>
                </a:lnTo>
                <a:lnTo>
                  <a:pt x="7642" y="0"/>
                </a:lnTo>
                <a:moveTo>
                  <a:pt x="7774" y="0"/>
                </a:moveTo>
                <a:lnTo>
                  <a:pt x="7853" y="0"/>
                </a:lnTo>
                <a:lnTo>
                  <a:pt x="7853" y="29"/>
                </a:lnTo>
                <a:lnTo>
                  <a:pt x="7774" y="29"/>
                </a:lnTo>
                <a:lnTo>
                  <a:pt x="7774" y="0"/>
                </a:lnTo>
                <a:moveTo>
                  <a:pt x="7906" y="0"/>
                </a:moveTo>
                <a:lnTo>
                  <a:pt x="7985" y="0"/>
                </a:lnTo>
                <a:lnTo>
                  <a:pt x="7985" y="29"/>
                </a:lnTo>
                <a:lnTo>
                  <a:pt x="7906" y="29"/>
                </a:lnTo>
                <a:lnTo>
                  <a:pt x="7906" y="0"/>
                </a:lnTo>
                <a:moveTo>
                  <a:pt x="8037" y="0"/>
                </a:moveTo>
                <a:lnTo>
                  <a:pt x="8117" y="0"/>
                </a:lnTo>
                <a:lnTo>
                  <a:pt x="8117" y="29"/>
                </a:lnTo>
                <a:lnTo>
                  <a:pt x="8037" y="29"/>
                </a:lnTo>
                <a:lnTo>
                  <a:pt x="8037" y="0"/>
                </a:lnTo>
                <a:moveTo>
                  <a:pt x="8169" y="0"/>
                </a:moveTo>
                <a:lnTo>
                  <a:pt x="8248" y="0"/>
                </a:lnTo>
                <a:lnTo>
                  <a:pt x="8248" y="29"/>
                </a:lnTo>
                <a:lnTo>
                  <a:pt x="8169" y="29"/>
                </a:lnTo>
                <a:lnTo>
                  <a:pt x="8169" y="0"/>
                </a:lnTo>
                <a:moveTo>
                  <a:pt x="8301" y="0"/>
                </a:moveTo>
                <a:lnTo>
                  <a:pt x="8380" y="0"/>
                </a:lnTo>
                <a:lnTo>
                  <a:pt x="8380" y="29"/>
                </a:lnTo>
                <a:lnTo>
                  <a:pt x="8301" y="29"/>
                </a:lnTo>
                <a:lnTo>
                  <a:pt x="8301" y="0"/>
                </a:lnTo>
                <a:moveTo>
                  <a:pt x="8433" y="0"/>
                </a:moveTo>
                <a:lnTo>
                  <a:pt x="8512" y="0"/>
                </a:lnTo>
                <a:lnTo>
                  <a:pt x="8512" y="29"/>
                </a:lnTo>
                <a:lnTo>
                  <a:pt x="8433" y="29"/>
                </a:lnTo>
                <a:lnTo>
                  <a:pt x="8433" y="0"/>
                </a:lnTo>
                <a:moveTo>
                  <a:pt x="8564" y="0"/>
                </a:moveTo>
                <a:lnTo>
                  <a:pt x="8644" y="0"/>
                </a:lnTo>
                <a:lnTo>
                  <a:pt x="8644" y="29"/>
                </a:lnTo>
                <a:lnTo>
                  <a:pt x="8564" y="29"/>
                </a:lnTo>
                <a:lnTo>
                  <a:pt x="8564" y="0"/>
                </a:lnTo>
                <a:moveTo>
                  <a:pt x="8696" y="0"/>
                </a:moveTo>
                <a:lnTo>
                  <a:pt x="8775" y="0"/>
                </a:lnTo>
                <a:lnTo>
                  <a:pt x="8775" y="29"/>
                </a:lnTo>
                <a:lnTo>
                  <a:pt x="8696" y="29"/>
                </a:lnTo>
                <a:lnTo>
                  <a:pt x="8696" y="0"/>
                </a:lnTo>
                <a:moveTo>
                  <a:pt x="8828" y="0"/>
                </a:moveTo>
                <a:lnTo>
                  <a:pt x="8907" y="0"/>
                </a:lnTo>
                <a:lnTo>
                  <a:pt x="8907" y="29"/>
                </a:lnTo>
                <a:lnTo>
                  <a:pt x="8828" y="29"/>
                </a:lnTo>
                <a:lnTo>
                  <a:pt x="8828" y="0"/>
                </a:lnTo>
                <a:moveTo>
                  <a:pt x="8960" y="0"/>
                </a:moveTo>
                <a:lnTo>
                  <a:pt x="9039" y="0"/>
                </a:lnTo>
                <a:lnTo>
                  <a:pt x="9039" y="29"/>
                </a:lnTo>
                <a:lnTo>
                  <a:pt x="8960" y="29"/>
                </a:lnTo>
                <a:lnTo>
                  <a:pt x="8960" y="0"/>
                </a:lnTo>
                <a:moveTo>
                  <a:pt x="9091" y="0"/>
                </a:moveTo>
                <a:lnTo>
                  <a:pt x="9171" y="0"/>
                </a:lnTo>
                <a:lnTo>
                  <a:pt x="9171" y="29"/>
                </a:lnTo>
                <a:lnTo>
                  <a:pt x="9091" y="29"/>
                </a:lnTo>
                <a:lnTo>
                  <a:pt x="9091" y="0"/>
                </a:lnTo>
                <a:moveTo>
                  <a:pt x="9223" y="0"/>
                </a:moveTo>
                <a:lnTo>
                  <a:pt x="9302" y="0"/>
                </a:lnTo>
                <a:lnTo>
                  <a:pt x="9302" y="29"/>
                </a:lnTo>
                <a:lnTo>
                  <a:pt x="9223" y="29"/>
                </a:lnTo>
                <a:lnTo>
                  <a:pt x="9223" y="0"/>
                </a:lnTo>
                <a:moveTo>
                  <a:pt x="9355" y="0"/>
                </a:moveTo>
                <a:lnTo>
                  <a:pt x="9434" y="0"/>
                </a:lnTo>
                <a:lnTo>
                  <a:pt x="9434" y="29"/>
                </a:lnTo>
                <a:lnTo>
                  <a:pt x="9355" y="29"/>
                </a:lnTo>
                <a:lnTo>
                  <a:pt x="9355" y="0"/>
                </a:lnTo>
                <a:moveTo>
                  <a:pt x="9487" y="0"/>
                </a:moveTo>
                <a:lnTo>
                  <a:pt x="9566" y="0"/>
                </a:lnTo>
                <a:lnTo>
                  <a:pt x="9566" y="29"/>
                </a:lnTo>
                <a:lnTo>
                  <a:pt x="9487" y="29"/>
                </a:lnTo>
                <a:lnTo>
                  <a:pt x="9487" y="0"/>
                </a:lnTo>
                <a:moveTo>
                  <a:pt x="9618" y="0"/>
                </a:moveTo>
                <a:lnTo>
                  <a:pt x="9698" y="0"/>
                </a:lnTo>
                <a:lnTo>
                  <a:pt x="9698" y="29"/>
                </a:lnTo>
                <a:lnTo>
                  <a:pt x="9618" y="29"/>
                </a:lnTo>
                <a:lnTo>
                  <a:pt x="9618" y="0"/>
                </a:lnTo>
                <a:moveTo>
                  <a:pt x="9750" y="0"/>
                </a:moveTo>
                <a:lnTo>
                  <a:pt x="9829" y="0"/>
                </a:lnTo>
                <a:lnTo>
                  <a:pt x="9829" y="29"/>
                </a:lnTo>
                <a:lnTo>
                  <a:pt x="9750" y="29"/>
                </a:lnTo>
                <a:lnTo>
                  <a:pt x="9750" y="0"/>
                </a:lnTo>
                <a:moveTo>
                  <a:pt x="9882" y="0"/>
                </a:moveTo>
                <a:lnTo>
                  <a:pt x="9961" y="0"/>
                </a:lnTo>
                <a:lnTo>
                  <a:pt x="9961" y="29"/>
                </a:lnTo>
                <a:lnTo>
                  <a:pt x="9882" y="29"/>
                </a:lnTo>
                <a:lnTo>
                  <a:pt x="9882" y="0"/>
                </a:lnTo>
                <a:moveTo>
                  <a:pt x="10014" y="0"/>
                </a:moveTo>
                <a:lnTo>
                  <a:pt x="10093" y="0"/>
                </a:lnTo>
                <a:lnTo>
                  <a:pt x="10093" y="29"/>
                </a:lnTo>
                <a:lnTo>
                  <a:pt x="10014" y="29"/>
                </a:lnTo>
                <a:lnTo>
                  <a:pt x="10014" y="0"/>
                </a:lnTo>
                <a:moveTo>
                  <a:pt x="10145" y="0"/>
                </a:moveTo>
                <a:lnTo>
                  <a:pt x="10225" y="0"/>
                </a:lnTo>
                <a:lnTo>
                  <a:pt x="10225" y="29"/>
                </a:lnTo>
                <a:lnTo>
                  <a:pt x="10145" y="29"/>
                </a:lnTo>
                <a:lnTo>
                  <a:pt x="10145" y="0"/>
                </a:lnTo>
                <a:moveTo>
                  <a:pt x="10277" y="0"/>
                </a:moveTo>
                <a:lnTo>
                  <a:pt x="10356" y="0"/>
                </a:lnTo>
                <a:lnTo>
                  <a:pt x="10356" y="29"/>
                </a:lnTo>
                <a:lnTo>
                  <a:pt x="10277" y="29"/>
                </a:lnTo>
                <a:lnTo>
                  <a:pt x="10277" y="0"/>
                </a:lnTo>
                <a:moveTo>
                  <a:pt x="10409" y="0"/>
                </a:moveTo>
                <a:lnTo>
                  <a:pt x="10488" y="0"/>
                </a:lnTo>
                <a:lnTo>
                  <a:pt x="10488" y="29"/>
                </a:lnTo>
                <a:lnTo>
                  <a:pt x="10409" y="29"/>
                </a:lnTo>
                <a:lnTo>
                  <a:pt x="10409" y="0"/>
                </a:lnTo>
                <a:moveTo>
                  <a:pt x="10541" y="0"/>
                </a:moveTo>
                <a:lnTo>
                  <a:pt x="10620" y="0"/>
                </a:lnTo>
                <a:lnTo>
                  <a:pt x="10620" y="29"/>
                </a:lnTo>
                <a:lnTo>
                  <a:pt x="10541" y="29"/>
                </a:lnTo>
                <a:lnTo>
                  <a:pt x="10541" y="0"/>
                </a:lnTo>
                <a:moveTo>
                  <a:pt x="10672" y="0"/>
                </a:moveTo>
                <a:lnTo>
                  <a:pt x="10752" y="0"/>
                </a:lnTo>
                <a:lnTo>
                  <a:pt x="10752" y="29"/>
                </a:lnTo>
                <a:lnTo>
                  <a:pt x="10672" y="29"/>
                </a:lnTo>
                <a:lnTo>
                  <a:pt x="10672" y="0"/>
                </a:lnTo>
                <a:moveTo>
                  <a:pt x="10804" y="0"/>
                </a:moveTo>
                <a:lnTo>
                  <a:pt x="10883" y="0"/>
                </a:lnTo>
                <a:lnTo>
                  <a:pt x="10883" y="29"/>
                </a:lnTo>
                <a:lnTo>
                  <a:pt x="10804" y="29"/>
                </a:lnTo>
                <a:lnTo>
                  <a:pt x="10804" y="0"/>
                </a:lnTo>
                <a:moveTo>
                  <a:pt x="10936" y="0"/>
                </a:moveTo>
                <a:lnTo>
                  <a:pt x="11015" y="0"/>
                </a:lnTo>
                <a:lnTo>
                  <a:pt x="11015" y="29"/>
                </a:lnTo>
                <a:lnTo>
                  <a:pt x="10936" y="29"/>
                </a:lnTo>
                <a:lnTo>
                  <a:pt x="10936" y="0"/>
                </a:lnTo>
                <a:moveTo>
                  <a:pt x="11068" y="0"/>
                </a:moveTo>
                <a:lnTo>
                  <a:pt x="11147" y="0"/>
                </a:lnTo>
                <a:lnTo>
                  <a:pt x="11147" y="29"/>
                </a:lnTo>
                <a:lnTo>
                  <a:pt x="11068" y="29"/>
                </a:lnTo>
                <a:lnTo>
                  <a:pt x="11068" y="0"/>
                </a:lnTo>
                <a:moveTo>
                  <a:pt x="11199" y="0"/>
                </a:moveTo>
                <a:lnTo>
                  <a:pt x="11279" y="0"/>
                </a:lnTo>
                <a:lnTo>
                  <a:pt x="11279" y="29"/>
                </a:lnTo>
                <a:lnTo>
                  <a:pt x="11199" y="29"/>
                </a:lnTo>
                <a:lnTo>
                  <a:pt x="11199" y="0"/>
                </a:lnTo>
                <a:moveTo>
                  <a:pt x="11331" y="0"/>
                </a:moveTo>
                <a:lnTo>
                  <a:pt x="11410" y="0"/>
                </a:lnTo>
                <a:lnTo>
                  <a:pt x="11410" y="29"/>
                </a:lnTo>
                <a:lnTo>
                  <a:pt x="11331" y="29"/>
                </a:lnTo>
                <a:lnTo>
                  <a:pt x="11331" y="0"/>
                </a:lnTo>
                <a:moveTo>
                  <a:pt x="11463" y="0"/>
                </a:moveTo>
                <a:lnTo>
                  <a:pt x="11542" y="0"/>
                </a:lnTo>
                <a:lnTo>
                  <a:pt x="11542" y="29"/>
                </a:lnTo>
                <a:lnTo>
                  <a:pt x="11463" y="29"/>
                </a:lnTo>
                <a:lnTo>
                  <a:pt x="11463" y="0"/>
                </a:lnTo>
                <a:moveTo>
                  <a:pt x="11594" y="0"/>
                </a:moveTo>
                <a:lnTo>
                  <a:pt x="11674" y="0"/>
                </a:lnTo>
                <a:lnTo>
                  <a:pt x="11674" y="29"/>
                </a:lnTo>
                <a:lnTo>
                  <a:pt x="11594" y="29"/>
                </a:lnTo>
                <a:lnTo>
                  <a:pt x="11594" y="0"/>
                </a:lnTo>
                <a:moveTo>
                  <a:pt x="11726" y="0"/>
                </a:moveTo>
                <a:lnTo>
                  <a:pt x="11806" y="0"/>
                </a:lnTo>
                <a:lnTo>
                  <a:pt x="11806" y="29"/>
                </a:lnTo>
                <a:lnTo>
                  <a:pt x="11726" y="29"/>
                </a:lnTo>
                <a:lnTo>
                  <a:pt x="11726" y="0"/>
                </a:lnTo>
                <a:moveTo>
                  <a:pt x="11858" y="0"/>
                </a:moveTo>
                <a:lnTo>
                  <a:pt x="11937" y="0"/>
                </a:lnTo>
                <a:lnTo>
                  <a:pt x="11937" y="29"/>
                </a:lnTo>
                <a:lnTo>
                  <a:pt x="11858" y="29"/>
                </a:lnTo>
                <a:lnTo>
                  <a:pt x="11858" y="0"/>
                </a:lnTo>
                <a:moveTo>
                  <a:pt x="11990" y="0"/>
                </a:moveTo>
                <a:lnTo>
                  <a:pt x="12069" y="0"/>
                </a:lnTo>
                <a:lnTo>
                  <a:pt x="12069" y="29"/>
                </a:lnTo>
                <a:lnTo>
                  <a:pt x="11990" y="29"/>
                </a:lnTo>
                <a:lnTo>
                  <a:pt x="11990" y="0"/>
                </a:lnTo>
                <a:moveTo>
                  <a:pt x="12121" y="0"/>
                </a:moveTo>
                <a:lnTo>
                  <a:pt x="12201" y="0"/>
                </a:lnTo>
                <a:lnTo>
                  <a:pt x="12201" y="29"/>
                </a:lnTo>
                <a:lnTo>
                  <a:pt x="12121" y="29"/>
                </a:lnTo>
                <a:lnTo>
                  <a:pt x="12121" y="0"/>
                </a:lnTo>
                <a:moveTo>
                  <a:pt x="12253" y="0"/>
                </a:moveTo>
                <a:lnTo>
                  <a:pt x="12333" y="0"/>
                </a:lnTo>
                <a:lnTo>
                  <a:pt x="12333" y="29"/>
                </a:lnTo>
                <a:lnTo>
                  <a:pt x="12253" y="29"/>
                </a:lnTo>
                <a:lnTo>
                  <a:pt x="12253" y="0"/>
                </a:lnTo>
                <a:moveTo>
                  <a:pt x="12385" y="0"/>
                </a:moveTo>
                <a:lnTo>
                  <a:pt x="12464" y="0"/>
                </a:lnTo>
                <a:lnTo>
                  <a:pt x="12464" y="29"/>
                </a:lnTo>
                <a:lnTo>
                  <a:pt x="12385" y="29"/>
                </a:lnTo>
                <a:lnTo>
                  <a:pt x="12385" y="0"/>
                </a:lnTo>
                <a:moveTo>
                  <a:pt x="12517" y="0"/>
                </a:moveTo>
                <a:lnTo>
                  <a:pt x="12596" y="0"/>
                </a:lnTo>
                <a:lnTo>
                  <a:pt x="12596" y="29"/>
                </a:lnTo>
                <a:lnTo>
                  <a:pt x="12517" y="29"/>
                </a:lnTo>
                <a:lnTo>
                  <a:pt x="12517" y="0"/>
                </a:lnTo>
                <a:moveTo>
                  <a:pt x="12648" y="0"/>
                </a:moveTo>
                <a:lnTo>
                  <a:pt x="12728" y="0"/>
                </a:lnTo>
                <a:lnTo>
                  <a:pt x="12728" y="29"/>
                </a:lnTo>
                <a:lnTo>
                  <a:pt x="12648" y="29"/>
                </a:lnTo>
                <a:lnTo>
                  <a:pt x="12648" y="0"/>
                </a:lnTo>
                <a:moveTo>
                  <a:pt x="12780" y="0"/>
                </a:moveTo>
                <a:lnTo>
                  <a:pt x="12860" y="0"/>
                </a:lnTo>
                <a:lnTo>
                  <a:pt x="12860" y="29"/>
                </a:lnTo>
                <a:lnTo>
                  <a:pt x="12780" y="29"/>
                </a:lnTo>
                <a:lnTo>
                  <a:pt x="1278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514440" y="6242040"/>
            <a:ext cx="6638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金融科技的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2405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38600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位，本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8216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967040" y="6242040"/>
            <a:ext cx="6638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是用数字技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26931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283860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解决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12912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传统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419640" y="6242040"/>
            <a:ext cx="10612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金融的信息与配置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58136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难题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390240" y="1523880"/>
            <a:ext cx="11411280" cy="1771920"/>
          </a:xfrm>
          <a:custGeom>
            <a:avLst/>
            <a:gdLst/>
            <a:ahLst/>
            <a:rect l="0" t="0" r="r" b="b"/>
            <a:pathLst>
              <a:path w="31698" h="4922">
                <a:moveTo>
                  <a:pt x="0" y="463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1407" y="0"/>
                </a:lnTo>
                <a:cubicBezTo>
                  <a:pt x="31426" y="0"/>
                  <a:pt x="31445" y="2"/>
                  <a:pt x="31464" y="5"/>
                </a:cubicBezTo>
                <a:cubicBezTo>
                  <a:pt x="31483" y="9"/>
                  <a:pt x="31501" y="15"/>
                  <a:pt x="31519" y="22"/>
                </a:cubicBezTo>
                <a:cubicBezTo>
                  <a:pt x="31536" y="29"/>
                  <a:pt x="31553" y="38"/>
                  <a:pt x="31569" y="49"/>
                </a:cubicBezTo>
                <a:cubicBezTo>
                  <a:pt x="31585" y="59"/>
                  <a:pt x="31600" y="72"/>
                  <a:pt x="31613" y="85"/>
                </a:cubicBezTo>
                <a:cubicBezTo>
                  <a:pt x="31627" y="99"/>
                  <a:pt x="31639" y="113"/>
                  <a:pt x="31649" y="129"/>
                </a:cubicBezTo>
                <a:cubicBezTo>
                  <a:pt x="31660" y="145"/>
                  <a:pt x="31669" y="162"/>
                  <a:pt x="31676" y="179"/>
                </a:cubicBezTo>
                <a:cubicBezTo>
                  <a:pt x="31684" y="197"/>
                  <a:pt x="31689" y="215"/>
                  <a:pt x="31693" y="234"/>
                </a:cubicBezTo>
                <a:cubicBezTo>
                  <a:pt x="31697" y="253"/>
                  <a:pt x="31698" y="272"/>
                  <a:pt x="31698" y="291"/>
                </a:cubicBezTo>
                <a:lnTo>
                  <a:pt x="31698" y="4631"/>
                </a:lnTo>
                <a:cubicBezTo>
                  <a:pt x="31698" y="4650"/>
                  <a:pt x="31697" y="4669"/>
                  <a:pt x="31693" y="4688"/>
                </a:cubicBezTo>
                <a:cubicBezTo>
                  <a:pt x="31689" y="4707"/>
                  <a:pt x="31684" y="4725"/>
                  <a:pt x="31676" y="4742"/>
                </a:cubicBezTo>
                <a:cubicBezTo>
                  <a:pt x="31669" y="4760"/>
                  <a:pt x="31660" y="4777"/>
                  <a:pt x="31649" y="4793"/>
                </a:cubicBezTo>
                <a:cubicBezTo>
                  <a:pt x="31639" y="4809"/>
                  <a:pt x="31627" y="4823"/>
                  <a:pt x="31613" y="4837"/>
                </a:cubicBezTo>
                <a:cubicBezTo>
                  <a:pt x="31600" y="4850"/>
                  <a:pt x="31585" y="4862"/>
                  <a:pt x="31569" y="4873"/>
                </a:cubicBezTo>
                <a:cubicBezTo>
                  <a:pt x="31553" y="4884"/>
                  <a:pt x="31536" y="4893"/>
                  <a:pt x="31519" y="4900"/>
                </a:cubicBezTo>
                <a:cubicBezTo>
                  <a:pt x="31501" y="4907"/>
                  <a:pt x="31483" y="4913"/>
                  <a:pt x="31464" y="4916"/>
                </a:cubicBezTo>
                <a:cubicBezTo>
                  <a:pt x="31445" y="4920"/>
                  <a:pt x="31426" y="4922"/>
                  <a:pt x="31407" y="4922"/>
                </a:cubicBezTo>
                <a:lnTo>
                  <a:pt x="291" y="4922"/>
                </a:lnTo>
                <a:cubicBezTo>
                  <a:pt x="272" y="4922"/>
                  <a:pt x="253" y="4920"/>
                  <a:pt x="235" y="4916"/>
                </a:cubicBezTo>
                <a:cubicBezTo>
                  <a:pt x="216" y="4913"/>
                  <a:pt x="198" y="4907"/>
                  <a:pt x="180" y="4900"/>
                </a:cubicBezTo>
                <a:cubicBezTo>
                  <a:pt x="162" y="4893"/>
                  <a:pt x="146" y="4884"/>
                  <a:pt x="130" y="4873"/>
                </a:cubicBezTo>
                <a:cubicBezTo>
                  <a:pt x="114" y="4862"/>
                  <a:pt x="99" y="4850"/>
                  <a:pt x="86" y="4837"/>
                </a:cubicBezTo>
                <a:cubicBezTo>
                  <a:pt x="72" y="4823"/>
                  <a:pt x="60" y="4809"/>
                  <a:pt x="49" y="4793"/>
                </a:cubicBezTo>
                <a:cubicBezTo>
                  <a:pt x="39" y="4777"/>
                  <a:pt x="30" y="4760"/>
                  <a:pt x="22" y="4742"/>
                </a:cubicBezTo>
                <a:cubicBezTo>
                  <a:pt x="15" y="4725"/>
                  <a:pt x="10" y="4707"/>
                  <a:pt x="6" y="4688"/>
                </a:cubicBezTo>
                <a:cubicBezTo>
                  <a:pt x="2" y="4669"/>
                  <a:pt x="0" y="4650"/>
                  <a:pt x="0" y="4631"/>
                </a:cubicBezTo>
                <a:close/>
              </a:path>
            </a:pathLst>
          </a:custGeom>
          <a:solidFill>
            <a:srgbClr val="FDF3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390240" y="1523880"/>
            <a:ext cx="11411280" cy="1771920"/>
          </a:xfrm>
          <a:custGeom>
            <a:avLst/>
            <a:gdLst/>
            <a:ahLst/>
            <a:rect l="0" t="0" r="r" b="b"/>
            <a:pathLst>
              <a:path w="31698" h="4922">
                <a:moveTo>
                  <a:pt x="0" y="463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1407" y="0"/>
                </a:lnTo>
                <a:cubicBezTo>
                  <a:pt x="31426" y="0"/>
                  <a:pt x="31445" y="2"/>
                  <a:pt x="31464" y="5"/>
                </a:cubicBezTo>
                <a:cubicBezTo>
                  <a:pt x="31483" y="9"/>
                  <a:pt x="31501" y="15"/>
                  <a:pt x="31519" y="22"/>
                </a:cubicBezTo>
                <a:cubicBezTo>
                  <a:pt x="31536" y="29"/>
                  <a:pt x="31553" y="38"/>
                  <a:pt x="31569" y="49"/>
                </a:cubicBezTo>
                <a:cubicBezTo>
                  <a:pt x="31585" y="59"/>
                  <a:pt x="31600" y="72"/>
                  <a:pt x="31613" y="85"/>
                </a:cubicBezTo>
                <a:cubicBezTo>
                  <a:pt x="31627" y="99"/>
                  <a:pt x="31639" y="113"/>
                  <a:pt x="31649" y="129"/>
                </a:cubicBezTo>
                <a:cubicBezTo>
                  <a:pt x="31660" y="145"/>
                  <a:pt x="31669" y="162"/>
                  <a:pt x="31676" y="179"/>
                </a:cubicBezTo>
                <a:cubicBezTo>
                  <a:pt x="31684" y="197"/>
                  <a:pt x="31689" y="215"/>
                  <a:pt x="31693" y="234"/>
                </a:cubicBezTo>
                <a:cubicBezTo>
                  <a:pt x="31697" y="253"/>
                  <a:pt x="31698" y="272"/>
                  <a:pt x="31698" y="291"/>
                </a:cubicBezTo>
                <a:lnTo>
                  <a:pt x="31698" y="4631"/>
                </a:lnTo>
                <a:cubicBezTo>
                  <a:pt x="31698" y="4650"/>
                  <a:pt x="31697" y="4669"/>
                  <a:pt x="31693" y="4688"/>
                </a:cubicBezTo>
                <a:cubicBezTo>
                  <a:pt x="31689" y="4707"/>
                  <a:pt x="31684" y="4725"/>
                  <a:pt x="31676" y="4742"/>
                </a:cubicBezTo>
                <a:cubicBezTo>
                  <a:pt x="31669" y="4760"/>
                  <a:pt x="31660" y="4777"/>
                  <a:pt x="31649" y="4793"/>
                </a:cubicBezTo>
                <a:cubicBezTo>
                  <a:pt x="31639" y="4809"/>
                  <a:pt x="31627" y="4823"/>
                  <a:pt x="31613" y="4837"/>
                </a:cubicBezTo>
                <a:cubicBezTo>
                  <a:pt x="31600" y="4850"/>
                  <a:pt x="31585" y="4862"/>
                  <a:pt x="31569" y="4873"/>
                </a:cubicBezTo>
                <a:cubicBezTo>
                  <a:pt x="31553" y="4884"/>
                  <a:pt x="31536" y="4893"/>
                  <a:pt x="31519" y="4900"/>
                </a:cubicBezTo>
                <a:cubicBezTo>
                  <a:pt x="31501" y="4907"/>
                  <a:pt x="31483" y="4913"/>
                  <a:pt x="31464" y="4916"/>
                </a:cubicBezTo>
                <a:cubicBezTo>
                  <a:pt x="31445" y="4920"/>
                  <a:pt x="31426" y="4922"/>
                  <a:pt x="31407" y="4922"/>
                </a:cubicBezTo>
                <a:lnTo>
                  <a:pt x="291" y="4922"/>
                </a:lnTo>
                <a:cubicBezTo>
                  <a:pt x="272" y="4922"/>
                  <a:pt x="253" y="4920"/>
                  <a:pt x="235" y="4916"/>
                </a:cubicBezTo>
                <a:cubicBezTo>
                  <a:pt x="216" y="4913"/>
                  <a:pt x="198" y="4907"/>
                  <a:pt x="180" y="4900"/>
                </a:cubicBezTo>
                <a:cubicBezTo>
                  <a:pt x="162" y="4893"/>
                  <a:pt x="146" y="4884"/>
                  <a:pt x="130" y="4873"/>
                </a:cubicBezTo>
                <a:cubicBezTo>
                  <a:pt x="114" y="4862"/>
                  <a:pt x="99" y="4850"/>
                  <a:pt x="86" y="4837"/>
                </a:cubicBezTo>
                <a:cubicBezTo>
                  <a:pt x="72" y="4823"/>
                  <a:pt x="60" y="4809"/>
                  <a:pt x="49" y="4793"/>
                </a:cubicBezTo>
                <a:cubicBezTo>
                  <a:pt x="39" y="4777"/>
                  <a:pt x="30" y="4760"/>
                  <a:pt x="22" y="4742"/>
                </a:cubicBezTo>
                <a:cubicBezTo>
                  <a:pt x="15" y="4725"/>
                  <a:pt x="10" y="4707"/>
                  <a:pt x="6" y="4688"/>
                </a:cubicBezTo>
                <a:cubicBezTo>
                  <a:pt x="2" y="4669"/>
                  <a:pt x="0" y="4650"/>
                  <a:pt x="0" y="4631"/>
                </a:cubicBezTo>
                <a:close/>
              </a:path>
            </a:pathLst>
          </a:custGeom>
          <a:noFill/>
          <a:ln w="18720">
            <a:solidFill>
              <a:srgbClr val="800000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8088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核心假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5026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说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876320" y="929880"/>
            <a:ext cx="3614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H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13160" y="2172960"/>
            <a:ext cx="251244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在保持其他因素不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323160" y="2124720"/>
            <a:ext cx="3146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649320" y="2172960"/>
            <a:ext cx="282636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的条件下，金融科技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6585480" y="2124720"/>
            <a:ext cx="3146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发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911640" y="2172960"/>
            <a:ext cx="251244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展能够有效提升企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9521280" y="2124720"/>
            <a:ext cx="3146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9847800" y="2172960"/>
            <a:ext cx="94248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0826280" y="2124720"/>
            <a:ext cx="3146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1152440" y="2172960"/>
            <a:ext cx="31464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5769720" y="2649240"/>
            <a:ext cx="628560" cy="41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水平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80880" y="3635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待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659520" y="35946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检验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216800" y="36352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95000" y="4352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19" y="272"/>
                  <a:pt x="210" y="276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6"/>
                  <a:pt x="73" y="272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774080" y="359460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键问题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762120" y="422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040760" y="426384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一正向效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2154960" y="422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2433600" y="42638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2712240" y="422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495000" y="4790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2990880" y="4263840"/>
            <a:ext cx="26676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量上是否成立、有多强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62120" y="47019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若成立，通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154960" y="46612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433600" y="47019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哪些渠道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95000" y="5229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548160" y="46612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传导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62120" y="51404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什么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319040" y="50994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样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597680" y="514044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的制度配套能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3269520" y="50994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548160" y="51404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826800" y="50994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105440" y="514044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放更大效能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8088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架构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12860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图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50264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一：理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6240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299808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374580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4" name=""/>
          <p:cNvPicPr/>
          <p:nvPr/>
        </p:nvPicPr>
        <p:blipFill>
          <a:blip r:embed="rId1"/>
          <a:stretch/>
        </p:blipFill>
        <p:spPr>
          <a:xfrm>
            <a:off x="1571760" y="1609560"/>
            <a:ext cx="9048240" cy="48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411948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框架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80880" y="929880"/>
            <a:ext cx="21679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机制一：信息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26240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998080" y="929880"/>
            <a:ext cx="289008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化机制（破解不会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59889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36264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80880" y="165420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内部：提升数据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33136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495000" y="2371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610000" y="165420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理能力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62120" y="2282760"/>
            <a:ext cx="4001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增强数据抓取、清洗、运算能力，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494100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521964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活企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577692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6055560" y="22827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自有的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891480" y="22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44840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800568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828432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884160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495000" y="2809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912024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762120" y="2720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开源技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159768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2154960" y="27208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短了数字信息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82680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4105440" y="2720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46623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4941000" y="2720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在企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49828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605556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633420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6612840" y="2720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散路径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380880" y="334944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外部：改善市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052720" y="33087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610000" y="33494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2888280" y="33087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49500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166920" y="33494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62120" y="397836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公开透明展示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433600" y="393732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2990880" y="39783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状况、交易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38372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662360" y="39783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史与运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549828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95000" y="4505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5776920" y="3978360"/>
            <a:ext cx="26676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流程，提升外部信任度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21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1040760" y="4416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31904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597680" y="4416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8763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2154960" y="4416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来更强的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32695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3548160" y="441648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新意愿与更高的风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7769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055560" y="4416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容忍空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689148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380880" y="6210000"/>
            <a:ext cx="3753000" cy="10440"/>
          </a:xfrm>
          <a:custGeom>
            <a:avLst/>
            <a:gdLst/>
            <a:ahLst/>
            <a:rect l="0" t="0" r="r" b="b"/>
            <a:pathLst>
              <a:path w="10425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9"/>
                </a:lnTo>
                <a:lnTo>
                  <a:pt x="132" y="29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8" y="0"/>
                </a:moveTo>
                <a:lnTo>
                  <a:pt x="477" y="0"/>
                </a:lnTo>
                <a:lnTo>
                  <a:pt x="477" y="29"/>
                </a:lnTo>
                <a:lnTo>
                  <a:pt x="398" y="29"/>
                </a:lnTo>
                <a:lnTo>
                  <a:pt x="398" y="0"/>
                </a:lnTo>
                <a:moveTo>
                  <a:pt x="530" y="0"/>
                </a:moveTo>
                <a:lnTo>
                  <a:pt x="610" y="0"/>
                </a:lnTo>
                <a:lnTo>
                  <a:pt x="610" y="29"/>
                </a:lnTo>
                <a:lnTo>
                  <a:pt x="530" y="29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9"/>
                </a:lnTo>
                <a:lnTo>
                  <a:pt x="663" y="29"/>
                </a:lnTo>
                <a:lnTo>
                  <a:pt x="663" y="0"/>
                </a:lnTo>
                <a:moveTo>
                  <a:pt x="796" y="0"/>
                </a:moveTo>
                <a:lnTo>
                  <a:pt x="875" y="0"/>
                </a:lnTo>
                <a:lnTo>
                  <a:pt x="875" y="29"/>
                </a:lnTo>
                <a:lnTo>
                  <a:pt x="796" y="29"/>
                </a:lnTo>
                <a:lnTo>
                  <a:pt x="796" y="0"/>
                </a:lnTo>
                <a:moveTo>
                  <a:pt x="928" y="0"/>
                </a:moveTo>
                <a:lnTo>
                  <a:pt x="1008" y="0"/>
                </a:lnTo>
                <a:lnTo>
                  <a:pt x="1008" y="29"/>
                </a:lnTo>
                <a:lnTo>
                  <a:pt x="928" y="29"/>
                </a:lnTo>
                <a:lnTo>
                  <a:pt x="928" y="0"/>
                </a:lnTo>
                <a:moveTo>
                  <a:pt x="1061" y="0"/>
                </a:moveTo>
                <a:lnTo>
                  <a:pt x="1140" y="0"/>
                </a:lnTo>
                <a:lnTo>
                  <a:pt x="1140" y="29"/>
                </a:lnTo>
                <a:lnTo>
                  <a:pt x="1061" y="29"/>
                </a:lnTo>
                <a:lnTo>
                  <a:pt x="1061" y="0"/>
                </a:lnTo>
                <a:moveTo>
                  <a:pt x="1194" y="0"/>
                </a:moveTo>
                <a:lnTo>
                  <a:pt x="1273" y="0"/>
                </a:lnTo>
                <a:lnTo>
                  <a:pt x="1273" y="29"/>
                </a:lnTo>
                <a:lnTo>
                  <a:pt x="1194" y="29"/>
                </a:lnTo>
                <a:lnTo>
                  <a:pt x="1194" y="0"/>
                </a:lnTo>
                <a:moveTo>
                  <a:pt x="1326" y="0"/>
                </a:moveTo>
                <a:lnTo>
                  <a:pt x="1406" y="0"/>
                </a:lnTo>
                <a:lnTo>
                  <a:pt x="1406" y="29"/>
                </a:lnTo>
                <a:lnTo>
                  <a:pt x="1326" y="29"/>
                </a:lnTo>
                <a:lnTo>
                  <a:pt x="1326" y="0"/>
                </a:lnTo>
                <a:moveTo>
                  <a:pt x="1459" y="0"/>
                </a:moveTo>
                <a:lnTo>
                  <a:pt x="1538" y="0"/>
                </a:lnTo>
                <a:lnTo>
                  <a:pt x="1538" y="29"/>
                </a:lnTo>
                <a:lnTo>
                  <a:pt x="1459" y="29"/>
                </a:lnTo>
                <a:lnTo>
                  <a:pt x="1459" y="0"/>
                </a:lnTo>
                <a:moveTo>
                  <a:pt x="1591" y="0"/>
                </a:moveTo>
                <a:lnTo>
                  <a:pt x="1671" y="0"/>
                </a:lnTo>
                <a:lnTo>
                  <a:pt x="1671" y="29"/>
                </a:lnTo>
                <a:lnTo>
                  <a:pt x="1591" y="29"/>
                </a:lnTo>
                <a:lnTo>
                  <a:pt x="1591" y="0"/>
                </a:lnTo>
                <a:moveTo>
                  <a:pt x="1724" y="0"/>
                </a:moveTo>
                <a:lnTo>
                  <a:pt x="1803" y="0"/>
                </a:lnTo>
                <a:lnTo>
                  <a:pt x="1803" y="29"/>
                </a:lnTo>
                <a:lnTo>
                  <a:pt x="1724" y="29"/>
                </a:lnTo>
                <a:lnTo>
                  <a:pt x="1724" y="0"/>
                </a:lnTo>
                <a:moveTo>
                  <a:pt x="1857" y="0"/>
                </a:moveTo>
                <a:lnTo>
                  <a:pt x="1936" y="0"/>
                </a:lnTo>
                <a:lnTo>
                  <a:pt x="1936" y="29"/>
                </a:lnTo>
                <a:lnTo>
                  <a:pt x="1857" y="29"/>
                </a:lnTo>
                <a:lnTo>
                  <a:pt x="1857" y="0"/>
                </a:lnTo>
                <a:moveTo>
                  <a:pt x="1989" y="0"/>
                </a:moveTo>
                <a:lnTo>
                  <a:pt x="2069" y="0"/>
                </a:lnTo>
                <a:lnTo>
                  <a:pt x="2069" y="29"/>
                </a:lnTo>
                <a:lnTo>
                  <a:pt x="1989" y="29"/>
                </a:lnTo>
                <a:lnTo>
                  <a:pt x="1989" y="0"/>
                </a:lnTo>
                <a:moveTo>
                  <a:pt x="2122" y="0"/>
                </a:moveTo>
                <a:lnTo>
                  <a:pt x="2201" y="0"/>
                </a:lnTo>
                <a:lnTo>
                  <a:pt x="2201" y="29"/>
                </a:lnTo>
                <a:lnTo>
                  <a:pt x="2122" y="29"/>
                </a:lnTo>
                <a:lnTo>
                  <a:pt x="2122" y="0"/>
                </a:lnTo>
                <a:moveTo>
                  <a:pt x="2255" y="0"/>
                </a:moveTo>
                <a:lnTo>
                  <a:pt x="2334" y="0"/>
                </a:lnTo>
                <a:lnTo>
                  <a:pt x="2334" y="29"/>
                </a:lnTo>
                <a:lnTo>
                  <a:pt x="2255" y="29"/>
                </a:lnTo>
                <a:lnTo>
                  <a:pt x="2255" y="0"/>
                </a:lnTo>
                <a:moveTo>
                  <a:pt x="2387" y="0"/>
                </a:moveTo>
                <a:lnTo>
                  <a:pt x="2467" y="0"/>
                </a:lnTo>
                <a:lnTo>
                  <a:pt x="2467" y="29"/>
                </a:lnTo>
                <a:lnTo>
                  <a:pt x="2387" y="29"/>
                </a:lnTo>
                <a:lnTo>
                  <a:pt x="2387" y="0"/>
                </a:lnTo>
                <a:moveTo>
                  <a:pt x="2520" y="0"/>
                </a:moveTo>
                <a:lnTo>
                  <a:pt x="2599" y="0"/>
                </a:lnTo>
                <a:lnTo>
                  <a:pt x="2599" y="29"/>
                </a:lnTo>
                <a:lnTo>
                  <a:pt x="2520" y="29"/>
                </a:lnTo>
                <a:lnTo>
                  <a:pt x="2520" y="0"/>
                </a:lnTo>
                <a:moveTo>
                  <a:pt x="2652" y="0"/>
                </a:moveTo>
                <a:lnTo>
                  <a:pt x="2732" y="0"/>
                </a:lnTo>
                <a:lnTo>
                  <a:pt x="2732" y="29"/>
                </a:lnTo>
                <a:lnTo>
                  <a:pt x="2652" y="29"/>
                </a:lnTo>
                <a:lnTo>
                  <a:pt x="2652" y="0"/>
                </a:lnTo>
                <a:moveTo>
                  <a:pt x="2785" y="0"/>
                </a:moveTo>
                <a:lnTo>
                  <a:pt x="2864" y="0"/>
                </a:lnTo>
                <a:lnTo>
                  <a:pt x="2864" y="29"/>
                </a:lnTo>
                <a:lnTo>
                  <a:pt x="2785" y="29"/>
                </a:lnTo>
                <a:lnTo>
                  <a:pt x="2785" y="0"/>
                </a:lnTo>
                <a:moveTo>
                  <a:pt x="2918" y="0"/>
                </a:moveTo>
                <a:lnTo>
                  <a:pt x="2997" y="0"/>
                </a:lnTo>
                <a:lnTo>
                  <a:pt x="2997" y="29"/>
                </a:lnTo>
                <a:lnTo>
                  <a:pt x="2918" y="29"/>
                </a:lnTo>
                <a:lnTo>
                  <a:pt x="2918" y="0"/>
                </a:lnTo>
                <a:moveTo>
                  <a:pt x="3050" y="0"/>
                </a:moveTo>
                <a:lnTo>
                  <a:pt x="3130" y="0"/>
                </a:lnTo>
                <a:lnTo>
                  <a:pt x="3130" y="29"/>
                </a:lnTo>
                <a:lnTo>
                  <a:pt x="3050" y="29"/>
                </a:lnTo>
                <a:lnTo>
                  <a:pt x="3050" y="0"/>
                </a:lnTo>
                <a:moveTo>
                  <a:pt x="3183" y="0"/>
                </a:moveTo>
                <a:lnTo>
                  <a:pt x="3262" y="0"/>
                </a:lnTo>
                <a:lnTo>
                  <a:pt x="3262" y="29"/>
                </a:lnTo>
                <a:lnTo>
                  <a:pt x="3183" y="29"/>
                </a:lnTo>
                <a:lnTo>
                  <a:pt x="3183" y="0"/>
                </a:lnTo>
                <a:moveTo>
                  <a:pt x="3316" y="0"/>
                </a:moveTo>
                <a:lnTo>
                  <a:pt x="3395" y="0"/>
                </a:lnTo>
                <a:lnTo>
                  <a:pt x="3395" y="29"/>
                </a:lnTo>
                <a:lnTo>
                  <a:pt x="3316" y="29"/>
                </a:lnTo>
                <a:lnTo>
                  <a:pt x="3316" y="0"/>
                </a:lnTo>
                <a:moveTo>
                  <a:pt x="3448" y="0"/>
                </a:moveTo>
                <a:lnTo>
                  <a:pt x="3528" y="0"/>
                </a:lnTo>
                <a:lnTo>
                  <a:pt x="3528" y="29"/>
                </a:lnTo>
                <a:lnTo>
                  <a:pt x="3448" y="29"/>
                </a:lnTo>
                <a:lnTo>
                  <a:pt x="3448" y="0"/>
                </a:lnTo>
                <a:moveTo>
                  <a:pt x="3581" y="0"/>
                </a:moveTo>
                <a:lnTo>
                  <a:pt x="3660" y="0"/>
                </a:lnTo>
                <a:lnTo>
                  <a:pt x="3660" y="29"/>
                </a:lnTo>
                <a:lnTo>
                  <a:pt x="3581" y="29"/>
                </a:lnTo>
                <a:lnTo>
                  <a:pt x="3581" y="0"/>
                </a:lnTo>
                <a:moveTo>
                  <a:pt x="3713" y="0"/>
                </a:moveTo>
                <a:lnTo>
                  <a:pt x="3793" y="0"/>
                </a:lnTo>
                <a:lnTo>
                  <a:pt x="3793" y="29"/>
                </a:lnTo>
                <a:lnTo>
                  <a:pt x="3713" y="29"/>
                </a:lnTo>
                <a:lnTo>
                  <a:pt x="3713" y="0"/>
                </a:lnTo>
                <a:moveTo>
                  <a:pt x="3846" y="0"/>
                </a:moveTo>
                <a:lnTo>
                  <a:pt x="3926" y="0"/>
                </a:lnTo>
                <a:lnTo>
                  <a:pt x="3926" y="29"/>
                </a:lnTo>
                <a:lnTo>
                  <a:pt x="3846" y="29"/>
                </a:lnTo>
                <a:lnTo>
                  <a:pt x="3846" y="0"/>
                </a:lnTo>
                <a:moveTo>
                  <a:pt x="3979" y="0"/>
                </a:moveTo>
                <a:lnTo>
                  <a:pt x="4058" y="0"/>
                </a:lnTo>
                <a:lnTo>
                  <a:pt x="4058" y="29"/>
                </a:lnTo>
                <a:lnTo>
                  <a:pt x="3979" y="29"/>
                </a:lnTo>
                <a:lnTo>
                  <a:pt x="3979" y="0"/>
                </a:lnTo>
                <a:moveTo>
                  <a:pt x="4111" y="0"/>
                </a:moveTo>
                <a:lnTo>
                  <a:pt x="4192" y="0"/>
                </a:lnTo>
                <a:lnTo>
                  <a:pt x="4192" y="29"/>
                </a:lnTo>
                <a:lnTo>
                  <a:pt x="4111" y="29"/>
                </a:lnTo>
                <a:lnTo>
                  <a:pt x="4111" y="0"/>
                </a:lnTo>
                <a:moveTo>
                  <a:pt x="4245" y="0"/>
                </a:moveTo>
                <a:lnTo>
                  <a:pt x="4324" y="0"/>
                </a:lnTo>
                <a:lnTo>
                  <a:pt x="4324" y="29"/>
                </a:lnTo>
                <a:lnTo>
                  <a:pt x="4245" y="29"/>
                </a:lnTo>
                <a:lnTo>
                  <a:pt x="4245" y="0"/>
                </a:lnTo>
                <a:moveTo>
                  <a:pt x="4378" y="0"/>
                </a:moveTo>
                <a:lnTo>
                  <a:pt x="4457" y="0"/>
                </a:lnTo>
                <a:lnTo>
                  <a:pt x="4457" y="29"/>
                </a:lnTo>
                <a:lnTo>
                  <a:pt x="4378" y="29"/>
                </a:lnTo>
                <a:lnTo>
                  <a:pt x="4378" y="0"/>
                </a:lnTo>
                <a:moveTo>
                  <a:pt x="4510" y="0"/>
                </a:moveTo>
                <a:lnTo>
                  <a:pt x="4590" y="0"/>
                </a:lnTo>
                <a:lnTo>
                  <a:pt x="4590" y="29"/>
                </a:lnTo>
                <a:lnTo>
                  <a:pt x="4510" y="29"/>
                </a:lnTo>
                <a:lnTo>
                  <a:pt x="4510" y="0"/>
                </a:lnTo>
                <a:moveTo>
                  <a:pt x="4643" y="0"/>
                </a:moveTo>
                <a:lnTo>
                  <a:pt x="4722" y="0"/>
                </a:lnTo>
                <a:lnTo>
                  <a:pt x="4722" y="29"/>
                </a:lnTo>
                <a:lnTo>
                  <a:pt x="4643" y="29"/>
                </a:lnTo>
                <a:lnTo>
                  <a:pt x="4643" y="0"/>
                </a:lnTo>
                <a:moveTo>
                  <a:pt x="4776" y="0"/>
                </a:moveTo>
                <a:lnTo>
                  <a:pt x="4855" y="0"/>
                </a:lnTo>
                <a:lnTo>
                  <a:pt x="4855" y="29"/>
                </a:lnTo>
                <a:lnTo>
                  <a:pt x="4776" y="29"/>
                </a:lnTo>
                <a:lnTo>
                  <a:pt x="4776" y="0"/>
                </a:lnTo>
                <a:moveTo>
                  <a:pt x="4908" y="0"/>
                </a:moveTo>
                <a:lnTo>
                  <a:pt x="4988" y="0"/>
                </a:lnTo>
                <a:lnTo>
                  <a:pt x="4988" y="29"/>
                </a:lnTo>
                <a:lnTo>
                  <a:pt x="4908" y="29"/>
                </a:lnTo>
                <a:lnTo>
                  <a:pt x="4908" y="0"/>
                </a:lnTo>
                <a:moveTo>
                  <a:pt x="5041" y="0"/>
                </a:moveTo>
                <a:lnTo>
                  <a:pt x="5120" y="0"/>
                </a:lnTo>
                <a:lnTo>
                  <a:pt x="5120" y="29"/>
                </a:lnTo>
                <a:lnTo>
                  <a:pt x="5041" y="29"/>
                </a:lnTo>
                <a:lnTo>
                  <a:pt x="5041" y="0"/>
                </a:lnTo>
                <a:moveTo>
                  <a:pt x="5173" y="0"/>
                </a:moveTo>
                <a:lnTo>
                  <a:pt x="5253" y="0"/>
                </a:lnTo>
                <a:lnTo>
                  <a:pt x="5253" y="29"/>
                </a:lnTo>
                <a:lnTo>
                  <a:pt x="5173" y="29"/>
                </a:lnTo>
                <a:lnTo>
                  <a:pt x="5173" y="0"/>
                </a:lnTo>
                <a:moveTo>
                  <a:pt x="5306" y="0"/>
                </a:moveTo>
                <a:lnTo>
                  <a:pt x="5385" y="0"/>
                </a:lnTo>
                <a:lnTo>
                  <a:pt x="5385" y="29"/>
                </a:lnTo>
                <a:lnTo>
                  <a:pt x="5306" y="29"/>
                </a:lnTo>
                <a:lnTo>
                  <a:pt x="5306" y="0"/>
                </a:lnTo>
                <a:moveTo>
                  <a:pt x="5439" y="0"/>
                </a:moveTo>
                <a:lnTo>
                  <a:pt x="5518" y="0"/>
                </a:lnTo>
                <a:lnTo>
                  <a:pt x="5518" y="29"/>
                </a:lnTo>
                <a:lnTo>
                  <a:pt x="5439" y="29"/>
                </a:lnTo>
                <a:lnTo>
                  <a:pt x="5439" y="0"/>
                </a:lnTo>
                <a:moveTo>
                  <a:pt x="5571" y="0"/>
                </a:moveTo>
                <a:lnTo>
                  <a:pt x="5651" y="0"/>
                </a:lnTo>
                <a:lnTo>
                  <a:pt x="5651" y="29"/>
                </a:lnTo>
                <a:lnTo>
                  <a:pt x="5571" y="29"/>
                </a:lnTo>
                <a:lnTo>
                  <a:pt x="5571" y="0"/>
                </a:lnTo>
                <a:moveTo>
                  <a:pt x="5704" y="0"/>
                </a:moveTo>
                <a:lnTo>
                  <a:pt x="5783" y="0"/>
                </a:lnTo>
                <a:lnTo>
                  <a:pt x="5783" y="29"/>
                </a:lnTo>
                <a:lnTo>
                  <a:pt x="5704" y="29"/>
                </a:lnTo>
                <a:lnTo>
                  <a:pt x="5704" y="0"/>
                </a:lnTo>
                <a:moveTo>
                  <a:pt x="5837" y="0"/>
                </a:moveTo>
                <a:lnTo>
                  <a:pt x="5916" y="0"/>
                </a:lnTo>
                <a:lnTo>
                  <a:pt x="5916" y="29"/>
                </a:lnTo>
                <a:lnTo>
                  <a:pt x="5837" y="29"/>
                </a:lnTo>
                <a:lnTo>
                  <a:pt x="5837" y="0"/>
                </a:lnTo>
                <a:moveTo>
                  <a:pt x="5969" y="0"/>
                </a:moveTo>
                <a:lnTo>
                  <a:pt x="6049" y="0"/>
                </a:lnTo>
                <a:lnTo>
                  <a:pt x="6049" y="29"/>
                </a:lnTo>
                <a:lnTo>
                  <a:pt x="5969" y="29"/>
                </a:lnTo>
                <a:lnTo>
                  <a:pt x="5969" y="0"/>
                </a:lnTo>
                <a:moveTo>
                  <a:pt x="6102" y="0"/>
                </a:moveTo>
                <a:lnTo>
                  <a:pt x="6181" y="0"/>
                </a:lnTo>
                <a:lnTo>
                  <a:pt x="6181" y="29"/>
                </a:lnTo>
                <a:lnTo>
                  <a:pt x="6102" y="29"/>
                </a:lnTo>
                <a:lnTo>
                  <a:pt x="6102" y="0"/>
                </a:lnTo>
                <a:moveTo>
                  <a:pt x="6234" y="0"/>
                </a:moveTo>
                <a:lnTo>
                  <a:pt x="6314" y="0"/>
                </a:lnTo>
                <a:lnTo>
                  <a:pt x="6314" y="29"/>
                </a:lnTo>
                <a:lnTo>
                  <a:pt x="6234" y="29"/>
                </a:lnTo>
                <a:lnTo>
                  <a:pt x="6234" y="0"/>
                </a:lnTo>
                <a:moveTo>
                  <a:pt x="6367" y="0"/>
                </a:moveTo>
                <a:lnTo>
                  <a:pt x="6446" y="0"/>
                </a:lnTo>
                <a:lnTo>
                  <a:pt x="6446" y="29"/>
                </a:lnTo>
                <a:lnTo>
                  <a:pt x="6367" y="29"/>
                </a:lnTo>
                <a:lnTo>
                  <a:pt x="6367" y="0"/>
                </a:lnTo>
                <a:moveTo>
                  <a:pt x="6500" y="0"/>
                </a:moveTo>
                <a:lnTo>
                  <a:pt x="6579" y="0"/>
                </a:lnTo>
                <a:lnTo>
                  <a:pt x="6579" y="29"/>
                </a:lnTo>
                <a:lnTo>
                  <a:pt x="6500" y="29"/>
                </a:lnTo>
                <a:lnTo>
                  <a:pt x="6500" y="0"/>
                </a:lnTo>
                <a:moveTo>
                  <a:pt x="6632" y="0"/>
                </a:moveTo>
                <a:lnTo>
                  <a:pt x="6712" y="0"/>
                </a:lnTo>
                <a:lnTo>
                  <a:pt x="6712" y="29"/>
                </a:lnTo>
                <a:lnTo>
                  <a:pt x="6632" y="29"/>
                </a:lnTo>
                <a:lnTo>
                  <a:pt x="6632" y="0"/>
                </a:lnTo>
                <a:moveTo>
                  <a:pt x="6765" y="0"/>
                </a:moveTo>
                <a:lnTo>
                  <a:pt x="6844" y="0"/>
                </a:lnTo>
                <a:lnTo>
                  <a:pt x="6844" y="29"/>
                </a:lnTo>
                <a:lnTo>
                  <a:pt x="6765" y="29"/>
                </a:lnTo>
                <a:lnTo>
                  <a:pt x="6765" y="0"/>
                </a:lnTo>
                <a:moveTo>
                  <a:pt x="6898" y="0"/>
                </a:moveTo>
                <a:lnTo>
                  <a:pt x="6977" y="0"/>
                </a:lnTo>
                <a:lnTo>
                  <a:pt x="6977" y="29"/>
                </a:lnTo>
                <a:lnTo>
                  <a:pt x="6898" y="29"/>
                </a:lnTo>
                <a:lnTo>
                  <a:pt x="6898" y="0"/>
                </a:lnTo>
                <a:moveTo>
                  <a:pt x="7030" y="0"/>
                </a:moveTo>
                <a:lnTo>
                  <a:pt x="7110" y="0"/>
                </a:lnTo>
                <a:lnTo>
                  <a:pt x="7110" y="29"/>
                </a:lnTo>
                <a:lnTo>
                  <a:pt x="7030" y="29"/>
                </a:lnTo>
                <a:lnTo>
                  <a:pt x="7030" y="0"/>
                </a:lnTo>
                <a:moveTo>
                  <a:pt x="7163" y="0"/>
                </a:moveTo>
                <a:lnTo>
                  <a:pt x="7242" y="0"/>
                </a:lnTo>
                <a:lnTo>
                  <a:pt x="7242" y="29"/>
                </a:lnTo>
                <a:lnTo>
                  <a:pt x="7163" y="29"/>
                </a:lnTo>
                <a:lnTo>
                  <a:pt x="7163" y="0"/>
                </a:lnTo>
                <a:moveTo>
                  <a:pt x="7296" y="0"/>
                </a:moveTo>
                <a:lnTo>
                  <a:pt x="7375" y="0"/>
                </a:lnTo>
                <a:lnTo>
                  <a:pt x="7375" y="29"/>
                </a:lnTo>
                <a:lnTo>
                  <a:pt x="7296" y="29"/>
                </a:lnTo>
                <a:lnTo>
                  <a:pt x="7296" y="0"/>
                </a:lnTo>
                <a:moveTo>
                  <a:pt x="7428" y="0"/>
                </a:moveTo>
                <a:lnTo>
                  <a:pt x="7508" y="0"/>
                </a:lnTo>
                <a:lnTo>
                  <a:pt x="7508" y="29"/>
                </a:lnTo>
                <a:lnTo>
                  <a:pt x="7428" y="29"/>
                </a:lnTo>
                <a:lnTo>
                  <a:pt x="7428" y="0"/>
                </a:lnTo>
                <a:moveTo>
                  <a:pt x="7561" y="0"/>
                </a:moveTo>
                <a:lnTo>
                  <a:pt x="7640" y="0"/>
                </a:lnTo>
                <a:lnTo>
                  <a:pt x="7640" y="29"/>
                </a:lnTo>
                <a:lnTo>
                  <a:pt x="7561" y="29"/>
                </a:lnTo>
                <a:lnTo>
                  <a:pt x="7561" y="0"/>
                </a:lnTo>
                <a:moveTo>
                  <a:pt x="7693" y="0"/>
                </a:moveTo>
                <a:lnTo>
                  <a:pt x="7773" y="0"/>
                </a:lnTo>
                <a:lnTo>
                  <a:pt x="7773" y="29"/>
                </a:lnTo>
                <a:lnTo>
                  <a:pt x="7693" y="29"/>
                </a:lnTo>
                <a:lnTo>
                  <a:pt x="7693" y="0"/>
                </a:lnTo>
                <a:moveTo>
                  <a:pt x="7826" y="0"/>
                </a:moveTo>
                <a:lnTo>
                  <a:pt x="7905" y="0"/>
                </a:lnTo>
                <a:lnTo>
                  <a:pt x="7905" y="29"/>
                </a:lnTo>
                <a:lnTo>
                  <a:pt x="7826" y="29"/>
                </a:lnTo>
                <a:lnTo>
                  <a:pt x="7826" y="0"/>
                </a:lnTo>
                <a:moveTo>
                  <a:pt x="7959" y="0"/>
                </a:moveTo>
                <a:lnTo>
                  <a:pt x="8038" y="0"/>
                </a:lnTo>
                <a:lnTo>
                  <a:pt x="8038" y="29"/>
                </a:lnTo>
                <a:lnTo>
                  <a:pt x="7959" y="29"/>
                </a:lnTo>
                <a:lnTo>
                  <a:pt x="7959" y="0"/>
                </a:lnTo>
                <a:moveTo>
                  <a:pt x="8091" y="0"/>
                </a:moveTo>
                <a:lnTo>
                  <a:pt x="8171" y="0"/>
                </a:lnTo>
                <a:lnTo>
                  <a:pt x="8171" y="29"/>
                </a:lnTo>
                <a:lnTo>
                  <a:pt x="8091" y="29"/>
                </a:lnTo>
                <a:lnTo>
                  <a:pt x="8091" y="0"/>
                </a:lnTo>
                <a:moveTo>
                  <a:pt x="8224" y="0"/>
                </a:moveTo>
                <a:lnTo>
                  <a:pt x="8303" y="0"/>
                </a:lnTo>
                <a:lnTo>
                  <a:pt x="8303" y="29"/>
                </a:lnTo>
                <a:lnTo>
                  <a:pt x="8224" y="29"/>
                </a:lnTo>
                <a:lnTo>
                  <a:pt x="8224" y="0"/>
                </a:lnTo>
                <a:moveTo>
                  <a:pt x="8357" y="0"/>
                </a:moveTo>
                <a:lnTo>
                  <a:pt x="8436" y="0"/>
                </a:lnTo>
                <a:lnTo>
                  <a:pt x="8436" y="29"/>
                </a:lnTo>
                <a:lnTo>
                  <a:pt x="8357" y="29"/>
                </a:lnTo>
                <a:lnTo>
                  <a:pt x="8357" y="0"/>
                </a:lnTo>
                <a:moveTo>
                  <a:pt x="8489" y="0"/>
                </a:moveTo>
                <a:lnTo>
                  <a:pt x="8569" y="0"/>
                </a:lnTo>
                <a:lnTo>
                  <a:pt x="8569" y="29"/>
                </a:lnTo>
                <a:lnTo>
                  <a:pt x="8489" y="29"/>
                </a:lnTo>
                <a:lnTo>
                  <a:pt x="8489" y="0"/>
                </a:lnTo>
                <a:moveTo>
                  <a:pt x="8622" y="0"/>
                </a:moveTo>
                <a:lnTo>
                  <a:pt x="8701" y="0"/>
                </a:lnTo>
                <a:lnTo>
                  <a:pt x="8701" y="29"/>
                </a:lnTo>
                <a:lnTo>
                  <a:pt x="8622" y="29"/>
                </a:lnTo>
                <a:lnTo>
                  <a:pt x="8622" y="0"/>
                </a:lnTo>
                <a:moveTo>
                  <a:pt x="8754" y="0"/>
                </a:moveTo>
                <a:lnTo>
                  <a:pt x="8834" y="0"/>
                </a:lnTo>
                <a:lnTo>
                  <a:pt x="8834" y="29"/>
                </a:lnTo>
                <a:lnTo>
                  <a:pt x="8754" y="29"/>
                </a:lnTo>
                <a:lnTo>
                  <a:pt x="8754" y="0"/>
                </a:lnTo>
                <a:moveTo>
                  <a:pt x="8887" y="0"/>
                </a:moveTo>
                <a:lnTo>
                  <a:pt x="8966" y="0"/>
                </a:lnTo>
                <a:lnTo>
                  <a:pt x="8966" y="29"/>
                </a:lnTo>
                <a:lnTo>
                  <a:pt x="8887" y="29"/>
                </a:lnTo>
                <a:lnTo>
                  <a:pt x="8887" y="0"/>
                </a:lnTo>
                <a:moveTo>
                  <a:pt x="9020" y="0"/>
                </a:moveTo>
                <a:lnTo>
                  <a:pt x="9099" y="0"/>
                </a:lnTo>
                <a:lnTo>
                  <a:pt x="9099" y="29"/>
                </a:lnTo>
                <a:lnTo>
                  <a:pt x="9020" y="29"/>
                </a:lnTo>
                <a:lnTo>
                  <a:pt x="9020" y="0"/>
                </a:lnTo>
                <a:moveTo>
                  <a:pt x="9152" y="0"/>
                </a:moveTo>
                <a:lnTo>
                  <a:pt x="9232" y="0"/>
                </a:lnTo>
                <a:lnTo>
                  <a:pt x="9232" y="29"/>
                </a:lnTo>
                <a:lnTo>
                  <a:pt x="9152" y="29"/>
                </a:lnTo>
                <a:lnTo>
                  <a:pt x="9152" y="0"/>
                </a:lnTo>
                <a:moveTo>
                  <a:pt x="9285" y="0"/>
                </a:moveTo>
                <a:lnTo>
                  <a:pt x="9364" y="0"/>
                </a:lnTo>
                <a:lnTo>
                  <a:pt x="9364" y="29"/>
                </a:lnTo>
                <a:lnTo>
                  <a:pt x="9285" y="29"/>
                </a:lnTo>
                <a:lnTo>
                  <a:pt x="9285" y="0"/>
                </a:lnTo>
                <a:moveTo>
                  <a:pt x="9418" y="0"/>
                </a:moveTo>
                <a:lnTo>
                  <a:pt x="9497" y="0"/>
                </a:lnTo>
                <a:lnTo>
                  <a:pt x="9497" y="29"/>
                </a:lnTo>
                <a:lnTo>
                  <a:pt x="9418" y="29"/>
                </a:lnTo>
                <a:lnTo>
                  <a:pt x="9418" y="0"/>
                </a:lnTo>
                <a:moveTo>
                  <a:pt x="9550" y="0"/>
                </a:moveTo>
                <a:lnTo>
                  <a:pt x="9630" y="0"/>
                </a:lnTo>
                <a:lnTo>
                  <a:pt x="9630" y="29"/>
                </a:lnTo>
                <a:lnTo>
                  <a:pt x="9550" y="29"/>
                </a:lnTo>
                <a:lnTo>
                  <a:pt x="9550" y="0"/>
                </a:lnTo>
                <a:moveTo>
                  <a:pt x="9683" y="0"/>
                </a:moveTo>
                <a:lnTo>
                  <a:pt x="9762" y="0"/>
                </a:lnTo>
                <a:lnTo>
                  <a:pt x="9762" y="29"/>
                </a:lnTo>
                <a:lnTo>
                  <a:pt x="9683" y="29"/>
                </a:lnTo>
                <a:lnTo>
                  <a:pt x="9683" y="0"/>
                </a:lnTo>
                <a:moveTo>
                  <a:pt x="9816" y="0"/>
                </a:moveTo>
                <a:lnTo>
                  <a:pt x="9895" y="0"/>
                </a:lnTo>
                <a:lnTo>
                  <a:pt x="9895" y="29"/>
                </a:lnTo>
                <a:lnTo>
                  <a:pt x="9816" y="29"/>
                </a:lnTo>
                <a:lnTo>
                  <a:pt x="9816" y="0"/>
                </a:lnTo>
                <a:moveTo>
                  <a:pt x="9948" y="0"/>
                </a:moveTo>
                <a:lnTo>
                  <a:pt x="10028" y="0"/>
                </a:lnTo>
                <a:lnTo>
                  <a:pt x="10028" y="29"/>
                </a:lnTo>
                <a:lnTo>
                  <a:pt x="9948" y="29"/>
                </a:lnTo>
                <a:lnTo>
                  <a:pt x="9948" y="0"/>
                </a:lnTo>
                <a:moveTo>
                  <a:pt x="10081" y="0"/>
                </a:moveTo>
                <a:lnTo>
                  <a:pt x="10160" y="0"/>
                </a:lnTo>
                <a:lnTo>
                  <a:pt x="10160" y="29"/>
                </a:lnTo>
                <a:lnTo>
                  <a:pt x="10081" y="29"/>
                </a:lnTo>
                <a:lnTo>
                  <a:pt x="10081" y="0"/>
                </a:lnTo>
                <a:moveTo>
                  <a:pt x="10213" y="0"/>
                </a:moveTo>
                <a:lnTo>
                  <a:pt x="10293" y="0"/>
                </a:lnTo>
                <a:lnTo>
                  <a:pt x="10293" y="29"/>
                </a:lnTo>
                <a:lnTo>
                  <a:pt x="10213" y="29"/>
                </a:lnTo>
                <a:lnTo>
                  <a:pt x="10213" y="0"/>
                </a:lnTo>
                <a:moveTo>
                  <a:pt x="10346" y="0"/>
                </a:moveTo>
                <a:lnTo>
                  <a:pt x="10425" y="0"/>
                </a:lnTo>
                <a:lnTo>
                  <a:pt x="10425" y="29"/>
                </a:lnTo>
                <a:lnTo>
                  <a:pt x="10346" y="29"/>
                </a:lnTo>
                <a:lnTo>
                  <a:pt x="10346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51444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8049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950040" y="6242040"/>
            <a:ext cx="16956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量：信息披露指数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ICI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、正面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7885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934000" y="6242040"/>
            <a:ext cx="8856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道占比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Positive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38088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机制二：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87632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624040" y="929880"/>
            <a:ext cx="32515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改善机制（破解不能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59889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636264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8088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938160" y="16131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偿债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495000" y="2371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49544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能力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62120" y="228276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借助大数据、云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71224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990880" y="2282760"/>
            <a:ext cx="88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算、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AI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883680" y="22420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实时监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71960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276880" y="22420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预测资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611280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495000" y="2809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666972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6212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自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0407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31904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59768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87632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1549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433600" y="27208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度，提高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5481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3826800" y="272088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金使用效率，保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776920" y="2680200"/>
            <a:ext cx="10674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证偿债现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6891480" y="27208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金流充足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80880" y="334944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降低融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216800" y="33087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49500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495440" y="33494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62120" y="39783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机器学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59768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87632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算法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43360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712240" y="3978360"/>
            <a:ext cx="2401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能金融机构建立授信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21964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498280" y="397836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估模型，清除融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744840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727040" y="39783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渠道的技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884160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495000" y="4505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912024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障碍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621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040760" y="44164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59768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876320" y="44164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在融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43360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712240" y="4416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299088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3269520" y="4416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承担的风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43837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4662360" y="4416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溢价，融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5776920" y="437544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资选择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6612840" y="4416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更多元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380880" y="6210000"/>
            <a:ext cx="4010400" cy="10440"/>
          </a:xfrm>
          <a:custGeom>
            <a:avLst/>
            <a:gdLst/>
            <a:ahLst/>
            <a:rect l="0" t="0" r="r" b="b"/>
            <a:pathLst>
              <a:path w="11140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9"/>
                </a:lnTo>
                <a:lnTo>
                  <a:pt x="131" y="29"/>
                </a:lnTo>
                <a:lnTo>
                  <a:pt x="131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9"/>
                </a:lnTo>
                <a:lnTo>
                  <a:pt x="263" y="29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9"/>
                </a:lnTo>
                <a:lnTo>
                  <a:pt x="395" y="29"/>
                </a:lnTo>
                <a:lnTo>
                  <a:pt x="395" y="0"/>
                </a:lnTo>
                <a:moveTo>
                  <a:pt x="526" y="0"/>
                </a:moveTo>
                <a:lnTo>
                  <a:pt x="606" y="0"/>
                </a:lnTo>
                <a:lnTo>
                  <a:pt x="606" y="29"/>
                </a:lnTo>
                <a:lnTo>
                  <a:pt x="526" y="29"/>
                </a:lnTo>
                <a:lnTo>
                  <a:pt x="526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9"/>
                </a:lnTo>
                <a:lnTo>
                  <a:pt x="658" y="29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9"/>
                </a:lnTo>
                <a:lnTo>
                  <a:pt x="790" y="29"/>
                </a:lnTo>
                <a:lnTo>
                  <a:pt x="790" y="0"/>
                </a:lnTo>
                <a:moveTo>
                  <a:pt x="921" y="0"/>
                </a:moveTo>
                <a:lnTo>
                  <a:pt x="1001" y="0"/>
                </a:lnTo>
                <a:lnTo>
                  <a:pt x="1001" y="29"/>
                </a:lnTo>
                <a:lnTo>
                  <a:pt x="921" y="29"/>
                </a:lnTo>
                <a:lnTo>
                  <a:pt x="921" y="0"/>
                </a:lnTo>
                <a:moveTo>
                  <a:pt x="1053" y="0"/>
                </a:moveTo>
                <a:lnTo>
                  <a:pt x="1133" y="0"/>
                </a:lnTo>
                <a:lnTo>
                  <a:pt x="1133" y="29"/>
                </a:lnTo>
                <a:lnTo>
                  <a:pt x="1053" y="29"/>
                </a:lnTo>
                <a:lnTo>
                  <a:pt x="1053" y="0"/>
                </a:lnTo>
                <a:moveTo>
                  <a:pt x="1185" y="0"/>
                </a:moveTo>
                <a:lnTo>
                  <a:pt x="1264" y="0"/>
                </a:lnTo>
                <a:lnTo>
                  <a:pt x="1264" y="29"/>
                </a:lnTo>
                <a:lnTo>
                  <a:pt x="1185" y="29"/>
                </a:lnTo>
                <a:lnTo>
                  <a:pt x="1185" y="0"/>
                </a:lnTo>
                <a:moveTo>
                  <a:pt x="1316" y="0"/>
                </a:moveTo>
                <a:lnTo>
                  <a:pt x="1396" y="0"/>
                </a:lnTo>
                <a:lnTo>
                  <a:pt x="1396" y="29"/>
                </a:lnTo>
                <a:lnTo>
                  <a:pt x="1316" y="29"/>
                </a:lnTo>
                <a:lnTo>
                  <a:pt x="1316" y="0"/>
                </a:lnTo>
                <a:moveTo>
                  <a:pt x="1448" y="0"/>
                </a:moveTo>
                <a:lnTo>
                  <a:pt x="1527" y="0"/>
                </a:lnTo>
                <a:lnTo>
                  <a:pt x="1527" y="29"/>
                </a:lnTo>
                <a:lnTo>
                  <a:pt x="1448" y="29"/>
                </a:lnTo>
                <a:lnTo>
                  <a:pt x="1448" y="0"/>
                </a:lnTo>
                <a:moveTo>
                  <a:pt x="1580" y="0"/>
                </a:moveTo>
                <a:lnTo>
                  <a:pt x="1659" y="0"/>
                </a:lnTo>
                <a:lnTo>
                  <a:pt x="1659" y="29"/>
                </a:lnTo>
                <a:lnTo>
                  <a:pt x="1580" y="29"/>
                </a:lnTo>
                <a:lnTo>
                  <a:pt x="1580" y="0"/>
                </a:lnTo>
                <a:moveTo>
                  <a:pt x="1711" y="0"/>
                </a:moveTo>
                <a:lnTo>
                  <a:pt x="1791" y="0"/>
                </a:lnTo>
                <a:lnTo>
                  <a:pt x="1791" y="29"/>
                </a:lnTo>
                <a:lnTo>
                  <a:pt x="1711" y="29"/>
                </a:lnTo>
                <a:lnTo>
                  <a:pt x="1711" y="0"/>
                </a:lnTo>
                <a:moveTo>
                  <a:pt x="1843" y="0"/>
                </a:moveTo>
                <a:lnTo>
                  <a:pt x="1922" y="0"/>
                </a:lnTo>
                <a:lnTo>
                  <a:pt x="1922" y="29"/>
                </a:lnTo>
                <a:lnTo>
                  <a:pt x="1843" y="29"/>
                </a:lnTo>
                <a:lnTo>
                  <a:pt x="1843" y="0"/>
                </a:lnTo>
                <a:moveTo>
                  <a:pt x="1975" y="0"/>
                </a:moveTo>
                <a:lnTo>
                  <a:pt x="2054" y="0"/>
                </a:lnTo>
                <a:lnTo>
                  <a:pt x="2054" y="29"/>
                </a:lnTo>
                <a:lnTo>
                  <a:pt x="1975" y="29"/>
                </a:lnTo>
                <a:lnTo>
                  <a:pt x="1975" y="0"/>
                </a:lnTo>
                <a:moveTo>
                  <a:pt x="2106" y="0"/>
                </a:moveTo>
                <a:lnTo>
                  <a:pt x="2186" y="0"/>
                </a:lnTo>
                <a:lnTo>
                  <a:pt x="2186" y="29"/>
                </a:lnTo>
                <a:lnTo>
                  <a:pt x="2106" y="29"/>
                </a:lnTo>
                <a:lnTo>
                  <a:pt x="2106" y="0"/>
                </a:lnTo>
                <a:moveTo>
                  <a:pt x="2238" y="0"/>
                </a:moveTo>
                <a:lnTo>
                  <a:pt x="2317" y="0"/>
                </a:lnTo>
                <a:lnTo>
                  <a:pt x="2317" y="29"/>
                </a:lnTo>
                <a:lnTo>
                  <a:pt x="2238" y="29"/>
                </a:lnTo>
                <a:lnTo>
                  <a:pt x="2238" y="0"/>
                </a:lnTo>
                <a:moveTo>
                  <a:pt x="2370" y="0"/>
                </a:moveTo>
                <a:lnTo>
                  <a:pt x="2449" y="0"/>
                </a:lnTo>
                <a:lnTo>
                  <a:pt x="2449" y="29"/>
                </a:lnTo>
                <a:lnTo>
                  <a:pt x="2370" y="29"/>
                </a:lnTo>
                <a:lnTo>
                  <a:pt x="2370" y="0"/>
                </a:lnTo>
                <a:moveTo>
                  <a:pt x="2501" y="0"/>
                </a:moveTo>
                <a:lnTo>
                  <a:pt x="2581" y="0"/>
                </a:lnTo>
                <a:lnTo>
                  <a:pt x="2581" y="29"/>
                </a:lnTo>
                <a:lnTo>
                  <a:pt x="2501" y="29"/>
                </a:lnTo>
                <a:lnTo>
                  <a:pt x="2501" y="0"/>
                </a:lnTo>
                <a:moveTo>
                  <a:pt x="2633" y="0"/>
                </a:moveTo>
                <a:lnTo>
                  <a:pt x="2712" y="0"/>
                </a:lnTo>
                <a:lnTo>
                  <a:pt x="2712" y="29"/>
                </a:lnTo>
                <a:lnTo>
                  <a:pt x="2633" y="29"/>
                </a:lnTo>
                <a:lnTo>
                  <a:pt x="2633" y="0"/>
                </a:lnTo>
                <a:moveTo>
                  <a:pt x="2765" y="0"/>
                </a:moveTo>
                <a:lnTo>
                  <a:pt x="2844" y="0"/>
                </a:lnTo>
                <a:lnTo>
                  <a:pt x="2844" y="29"/>
                </a:lnTo>
                <a:lnTo>
                  <a:pt x="2765" y="29"/>
                </a:lnTo>
                <a:lnTo>
                  <a:pt x="2765" y="0"/>
                </a:lnTo>
                <a:moveTo>
                  <a:pt x="2896" y="0"/>
                </a:moveTo>
                <a:lnTo>
                  <a:pt x="2976" y="0"/>
                </a:lnTo>
                <a:lnTo>
                  <a:pt x="2976" y="29"/>
                </a:lnTo>
                <a:lnTo>
                  <a:pt x="2896" y="29"/>
                </a:lnTo>
                <a:lnTo>
                  <a:pt x="2896" y="0"/>
                </a:lnTo>
                <a:moveTo>
                  <a:pt x="3028" y="0"/>
                </a:moveTo>
                <a:lnTo>
                  <a:pt x="3107" y="0"/>
                </a:lnTo>
                <a:lnTo>
                  <a:pt x="3107" y="29"/>
                </a:lnTo>
                <a:lnTo>
                  <a:pt x="3028" y="29"/>
                </a:lnTo>
                <a:lnTo>
                  <a:pt x="3028" y="0"/>
                </a:lnTo>
                <a:moveTo>
                  <a:pt x="3160" y="0"/>
                </a:moveTo>
                <a:lnTo>
                  <a:pt x="3239" y="0"/>
                </a:lnTo>
                <a:lnTo>
                  <a:pt x="3239" y="29"/>
                </a:lnTo>
                <a:lnTo>
                  <a:pt x="3160" y="29"/>
                </a:lnTo>
                <a:lnTo>
                  <a:pt x="3160" y="0"/>
                </a:lnTo>
                <a:moveTo>
                  <a:pt x="3291" y="0"/>
                </a:moveTo>
                <a:lnTo>
                  <a:pt x="3371" y="0"/>
                </a:lnTo>
                <a:lnTo>
                  <a:pt x="3371" y="29"/>
                </a:lnTo>
                <a:lnTo>
                  <a:pt x="3291" y="29"/>
                </a:lnTo>
                <a:lnTo>
                  <a:pt x="3291" y="0"/>
                </a:lnTo>
                <a:moveTo>
                  <a:pt x="3423" y="0"/>
                </a:moveTo>
                <a:lnTo>
                  <a:pt x="3502" y="0"/>
                </a:lnTo>
                <a:lnTo>
                  <a:pt x="3502" y="29"/>
                </a:lnTo>
                <a:lnTo>
                  <a:pt x="3423" y="29"/>
                </a:lnTo>
                <a:lnTo>
                  <a:pt x="3423" y="0"/>
                </a:lnTo>
                <a:moveTo>
                  <a:pt x="3555" y="0"/>
                </a:moveTo>
                <a:lnTo>
                  <a:pt x="3634" y="0"/>
                </a:lnTo>
                <a:lnTo>
                  <a:pt x="3634" y="29"/>
                </a:lnTo>
                <a:lnTo>
                  <a:pt x="3555" y="29"/>
                </a:lnTo>
                <a:lnTo>
                  <a:pt x="3555" y="0"/>
                </a:lnTo>
                <a:moveTo>
                  <a:pt x="3686" y="0"/>
                </a:moveTo>
                <a:lnTo>
                  <a:pt x="3766" y="0"/>
                </a:lnTo>
                <a:lnTo>
                  <a:pt x="3766" y="29"/>
                </a:lnTo>
                <a:lnTo>
                  <a:pt x="3686" y="29"/>
                </a:lnTo>
                <a:lnTo>
                  <a:pt x="3686" y="0"/>
                </a:lnTo>
                <a:moveTo>
                  <a:pt x="3818" y="0"/>
                </a:moveTo>
                <a:lnTo>
                  <a:pt x="3897" y="0"/>
                </a:lnTo>
                <a:lnTo>
                  <a:pt x="3897" y="29"/>
                </a:lnTo>
                <a:lnTo>
                  <a:pt x="3818" y="29"/>
                </a:lnTo>
                <a:lnTo>
                  <a:pt x="3818" y="0"/>
                </a:lnTo>
                <a:moveTo>
                  <a:pt x="3950" y="0"/>
                </a:moveTo>
                <a:lnTo>
                  <a:pt x="4029" y="0"/>
                </a:lnTo>
                <a:lnTo>
                  <a:pt x="4029" y="29"/>
                </a:lnTo>
                <a:lnTo>
                  <a:pt x="3950" y="29"/>
                </a:lnTo>
                <a:lnTo>
                  <a:pt x="3950" y="0"/>
                </a:lnTo>
                <a:moveTo>
                  <a:pt x="4081" y="0"/>
                </a:moveTo>
                <a:lnTo>
                  <a:pt x="4161" y="0"/>
                </a:lnTo>
                <a:lnTo>
                  <a:pt x="4161" y="29"/>
                </a:lnTo>
                <a:lnTo>
                  <a:pt x="4081" y="29"/>
                </a:lnTo>
                <a:lnTo>
                  <a:pt x="4081" y="0"/>
                </a:lnTo>
                <a:moveTo>
                  <a:pt x="4213" y="0"/>
                </a:moveTo>
                <a:lnTo>
                  <a:pt x="4292" y="0"/>
                </a:lnTo>
                <a:lnTo>
                  <a:pt x="4292" y="29"/>
                </a:lnTo>
                <a:lnTo>
                  <a:pt x="4213" y="29"/>
                </a:lnTo>
                <a:lnTo>
                  <a:pt x="4213" y="0"/>
                </a:lnTo>
                <a:moveTo>
                  <a:pt x="4345" y="0"/>
                </a:moveTo>
                <a:lnTo>
                  <a:pt x="4424" y="0"/>
                </a:lnTo>
                <a:lnTo>
                  <a:pt x="4424" y="29"/>
                </a:lnTo>
                <a:lnTo>
                  <a:pt x="4345" y="29"/>
                </a:lnTo>
                <a:lnTo>
                  <a:pt x="4345" y="0"/>
                </a:lnTo>
                <a:moveTo>
                  <a:pt x="4476" y="0"/>
                </a:moveTo>
                <a:lnTo>
                  <a:pt x="4557" y="0"/>
                </a:lnTo>
                <a:lnTo>
                  <a:pt x="4557" y="29"/>
                </a:lnTo>
                <a:lnTo>
                  <a:pt x="4476" y="29"/>
                </a:lnTo>
                <a:lnTo>
                  <a:pt x="4476" y="0"/>
                </a:lnTo>
                <a:moveTo>
                  <a:pt x="4609" y="0"/>
                </a:moveTo>
                <a:lnTo>
                  <a:pt x="4688" y="0"/>
                </a:lnTo>
                <a:lnTo>
                  <a:pt x="4688" y="29"/>
                </a:lnTo>
                <a:lnTo>
                  <a:pt x="4609" y="29"/>
                </a:lnTo>
                <a:lnTo>
                  <a:pt x="4609" y="0"/>
                </a:lnTo>
                <a:moveTo>
                  <a:pt x="4741" y="0"/>
                </a:moveTo>
                <a:lnTo>
                  <a:pt x="4820" y="0"/>
                </a:lnTo>
                <a:lnTo>
                  <a:pt x="4820" y="29"/>
                </a:lnTo>
                <a:lnTo>
                  <a:pt x="4741" y="29"/>
                </a:lnTo>
                <a:lnTo>
                  <a:pt x="4741" y="0"/>
                </a:lnTo>
                <a:moveTo>
                  <a:pt x="4872" y="0"/>
                </a:moveTo>
                <a:lnTo>
                  <a:pt x="4952" y="0"/>
                </a:lnTo>
                <a:lnTo>
                  <a:pt x="4952" y="29"/>
                </a:lnTo>
                <a:lnTo>
                  <a:pt x="4872" y="29"/>
                </a:lnTo>
                <a:lnTo>
                  <a:pt x="4872" y="0"/>
                </a:lnTo>
                <a:moveTo>
                  <a:pt x="5004" y="0"/>
                </a:moveTo>
                <a:lnTo>
                  <a:pt x="5083" y="0"/>
                </a:lnTo>
                <a:lnTo>
                  <a:pt x="5083" y="29"/>
                </a:lnTo>
                <a:lnTo>
                  <a:pt x="5004" y="29"/>
                </a:lnTo>
                <a:lnTo>
                  <a:pt x="5004" y="0"/>
                </a:lnTo>
                <a:moveTo>
                  <a:pt x="5136" y="0"/>
                </a:moveTo>
                <a:lnTo>
                  <a:pt x="5215" y="0"/>
                </a:lnTo>
                <a:lnTo>
                  <a:pt x="5215" y="29"/>
                </a:lnTo>
                <a:lnTo>
                  <a:pt x="5136" y="29"/>
                </a:lnTo>
                <a:lnTo>
                  <a:pt x="5136" y="0"/>
                </a:lnTo>
                <a:moveTo>
                  <a:pt x="5267" y="0"/>
                </a:moveTo>
                <a:lnTo>
                  <a:pt x="5347" y="0"/>
                </a:lnTo>
                <a:lnTo>
                  <a:pt x="5347" y="29"/>
                </a:lnTo>
                <a:lnTo>
                  <a:pt x="5267" y="29"/>
                </a:lnTo>
                <a:lnTo>
                  <a:pt x="5267" y="0"/>
                </a:lnTo>
                <a:moveTo>
                  <a:pt x="5399" y="0"/>
                </a:moveTo>
                <a:lnTo>
                  <a:pt x="5478" y="0"/>
                </a:lnTo>
                <a:lnTo>
                  <a:pt x="5478" y="29"/>
                </a:lnTo>
                <a:lnTo>
                  <a:pt x="5399" y="29"/>
                </a:lnTo>
                <a:lnTo>
                  <a:pt x="5399" y="0"/>
                </a:lnTo>
                <a:moveTo>
                  <a:pt x="5531" y="0"/>
                </a:moveTo>
                <a:lnTo>
                  <a:pt x="5610" y="0"/>
                </a:lnTo>
                <a:lnTo>
                  <a:pt x="5610" y="29"/>
                </a:lnTo>
                <a:lnTo>
                  <a:pt x="5531" y="29"/>
                </a:lnTo>
                <a:lnTo>
                  <a:pt x="5531" y="0"/>
                </a:lnTo>
                <a:moveTo>
                  <a:pt x="5662" y="0"/>
                </a:moveTo>
                <a:lnTo>
                  <a:pt x="5742" y="0"/>
                </a:lnTo>
                <a:lnTo>
                  <a:pt x="5742" y="29"/>
                </a:lnTo>
                <a:lnTo>
                  <a:pt x="5662" y="29"/>
                </a:lnTo>
                <a:lnTo>
                  <a:pt x="5662" y="0"/>
                </a:lnTo>
                <a:moveTo>
                  <a:pt x="5794" y="0"/>
                </a:moveTo>
                <a:lnTo>
                  <a:pt x="5873" y="0"/>
                </a:lnTo>
                <a:lnTo>
                  <a:pt x="5873" y="29"/>
                </a:lnTo>
                <a:lnTo>
                  <a:pt x="5794" y="29"/>
                </a:lnTo>
                <a:lnTo>
                  <a:pt x="5794" y="0"/>
                </a:lnTo>
                <a:moveTo>
                  <a:pt x="5926" y="0"/>
                </a:moveTo>
                <a:lnTo>
                  <a:pt x="6005" y="0"/>
                </a:lnTo>
                <a:lnTo>
                  <a:pt x="6005" y="29"/>
                </a:lnTo>
                <a:lnTo>
                  <a:pt x="5926" y="29"/>
                </a:lnTo>
                <a:lnTo>
                  <a:pt x="5926" y="0"/>
                </a:lnTo>
                <a:moveTo>
                  <a:pt x="6057" y="0"/>
                </a:moveTo>
                <a:lnTo>
                  <a:pt x="6137" y="0"/>
                </a:lnTo>
                <a:lnTo>
                  <a:pt x="6137" y="29"/>
                </a:lnTo>
                <a:lnTo>
                  <a:pt x="6057" y="29"/>
                </a:lnTo>
                <a:lnTo>
                  <a:pt x="6057" y="0"/>
                </a:lnTo>
                <a:moveTo>
                  <a:pt x="6189" y="0"/>
                </a:moveTo>
                <a:lnTo>
                  <a:pt x="6268" y="0"/>
                </a:lnTo>
                <a:lnTo>
                  <a:pt x="6268" y="29"/>
                </a:lnTo>
                <a:lnTo>
                  <a:pt x="6189" y="29"/>
                </a:lnTo>
                <a:lnTo>
                  <a:pt x="6189" y="0"/>
                </a:lnTo>
                <a:moveTo>
                  <a:pt x="6321" y="0"/>
                </a:moveTo>
                <a:lnTo>
                  <a:pt x="6400" y="0"/>
                </a:lnTo>
                <a:lnTo>
                  <a:pt x="6400" y="29"/>
                </a:lnTo>
                <a:lnTo>
                  <a:pt x="6321" y="29"/>
                </a:lnTo>
                <a:lnTo>
                  <a:pt x="6321" y="0"/>
                </a:lnTo>
                <a:moveTo>
                  <a:pt x="6452" y="0"/>
                </a:moveTo>
                <a:lnTo>
                  <a:pt x="6532" y="0"/>
                </a:lnTo>
                <a:lnTo>
                  <a:pt x="6532" y="29"/>
                </a:lnTo>
                <a:lnTo>
                  <a:pt x="6452" y="29"/>
                </a:lnTo>
                <a:lnTo>
                  <a:pt x="6452" y="0"/>
                </a:lnTo>
                <a:moveTo>
                  <a:pt x="6584" y="0"/>
                </a:moveTo>
                <a:lnTo>
                  <a:pt x="6663" y="0"/>
                </a:lnTo>
                <a:lnTo>
                  <a:pt x="6663" y="29"/>
                </a:lnTo>
                <a:lnTo>
                  <a:pt x="6584" y="29"/>
                </a:lnTo>
                <a:lnTo>
                  <a:pt x="6584" y="0"/>
                </a:lnTo>
                <a:moveTo>
                  <a:pt x="6716" y="0"/>
                </a:moveTo>
                <a:lnTo>
                  <a:pt x="6795" y="0"/>
                </a:lnTo>
                <a:lnTo>
                  <a:pt x="6795" y="29"/>
                </a:lnTo>
                <a:lnTo>
                  <a:pt x="6716" y="29"/>
                </a:lnTo>
                <a:lnTo>
                  <a:pt x="6716" y="0"/>
                </a:lnTo>
                <a:moveTo>
                  <a:pt x="6847" y="0"/>
                </a:moveTo>
                <a:lnTo>
                  <a:pt x="6927" y="0"/>
                </a:lnTo>
                <a:lnTo>
                  <a:pt x="6927" y="29"/>
                </a:lnTo>
                <a:lnTo>
                  <a:pt x="6847" y="29"/>
                </a:lnTo>
                <a:lnTo>
                  <a:pt x="6847" y="0"/>
                </a:lnTo>
                <a:moveTo>
                  <a:pt x="6979" y="0"/>
                </a:moveTo>
                <a:lnTo>
                  <a:pt x="7058" y="0"/>
                </a:lnTo>
                <a:lnTo>
                  <a:pt x="7058" y="29"/>
                </a:lnTo>
                <a:lnTo>
                  <a:pt x="6979" y="29"/>
                </a:lnTo>
                <a:lnTo>
                  <a:pt x="6979" y="0"/>
                </a:lnTo>
                <a:moveTo>
                  <a:pt x="7111" y="0"/>
                </a:moveTo>
                <a:lnTo>
                  <a:pt x="7190" y="0"/>
                </a:lnTo>
                <a:lnTo>
                  <a:pt x="7190" y="29"/>
                </a:lnTo>
                <a:lnTo>
                  <a:pt x="7111" y="29"/>
                </a:lnTo>
                <a:lnTo>
                  <a:pt x="7111" y="0"/>
                </a:lnTo>
                <a:moveTo>
                  <a:pt x="7242" y="0"/>
                </a:moveTo>
                <a:lnTo>
                  <a:pt x="7322" y="0"/>
                </a:lnTo>
                <a:lnTo>
                  <a:pt x="7322" y="29"/>
                </a:lnTo>
                <a:lnTo>
                  <a:pt x="7242" y="29"/>
                </a:lnTo>
                <a:lnTo>
                  <a:pt x="7242" y="0"/>
                </a:lnTo>
                <a:moveTo>
                  <a:pt x="7374" y="0"/>
                </a:moveTo>
                <a:lnTo>
                  <a:pt x="7453" y="0"/>
                </a:lnTo>
                <a:lnTo>
                  <a:pt x="7453" y="29"/>
                </a:lnTo>
                <a:lnTo>
                  <a:pt x="7374" y="29"/>
                </a:lnTo>
                <a:lnTo>
                  <a:pt x="7374" y="0"/>
                </a:lnTo>
                <a:moveTo>
                  <a:pt x="7506" y="0"/>
                </a:moveTo>
                <a:lnTo>
                  <a:pt x="7585" y="0"/>
                </a:lnTo>
                <a:lnTo>
                  <a:pt x="7585" y="29"/>
                </a:lnTo>
                <a:lnTo>
                  <a:pt x="7506" y="29"/>
                </a:lnTo>
                <a:lnTo>
                  <a:pt x="7506" y="0"/>
                </a:lnTo>
                <a:moveTo>
                  <a:pt x="7637" y="0"/>
                </a:moveTo>
                <a:lnTo>
                  <a:pt x="7717" y="0"/>
                </a:lnTo>
                <a:lnTo>
                  <a:pt x="7717" y="29"/>
                </a:lnTo>
                <a:lnTo>
                  <a:pt x="7637" y="29"/>
                </a:lnTo>
                <a:lnTo>
                  <a:pt x="7637" y="0"/>
                </a:lnTo>
                <a:moveTo>
                  <a:pt x="7769" y="0"/>
                </a:moveTo>
                <a:lnTo>
                  <a:pt x="7848" y="0"/>
                </a:lnTo>
                <a:lnTo>
                  <a:pt x="7848" y="29"/>
                </a:lnTo>
                <a:lnTo>
                  <a:pt x="7769" y="29"/>
                </a:lnTo>
                <a:lnTo>
                  <a:pt x="7769" y="0"/>
                </a:lnTo>
                <a:moveTo>
                  <a:pt x="7901" y="0"/>
                </a:moveTo>
                <a:lnTo>
                  <a:pt x="7980" y="0"/>
                </a:lnTo>
                <a:lnTo>
                  <a:pt x="7980" y="29"/>
                </a:lnTo>
                <a:lnTo>
                  <a:pt x="7901" y="29"/>
                </a:lnTo>
                <a:lnTo>
                  <a:pt x="7901" y="0"/>
                </a:lnTo>
                <a:moveTo>
                  <a:pt x="8032" y="0"/>
                </a:moveTo>
                <a:lnTo>
                  <a:pt x="8112" y="0"/>
                </a:lnTo>
                <a:lnTo>
                  <a:pt x="8112" y="29"/>
                </a:lnTo>
                <a:lnTo>
                  <a:pt x="8032" y="29"/>
                </a:lnTo>
                <a:lnTo>
                  <a:pt x="8032" y="0"/>
                </a:lnTo>
                <a:moveTo>
                  <a:pt x="8164" y="0"/>
                </a:moveTo>
                <a:lnTo>
                  <a:pt x="8243" y="0"/>
                </a:lnTo>
                <a:lnTo>
                  <a:pt x="8243" y="29"/>
                </a:lnTo>
                <a:lnTo>
                  <a:pt x="8164" y="29"/>
                </a:lnTo>
                <a:lnTo>
                  <a:pt x="8164" y="0"/>
                </a:lnTo>
                <a:moveTo>
                  <a:pt x="8296" y="0"/>
                </a:moveTo>
                <a:lnTo>
                  <a:pt x="8375" y="0"/>
                </a:lnTo>
                <a:lnTo>
                  <a:pt x="8375" y="29"/>
                </a:lnTo>
                <a:lnTo>
                  <a:pt x="8296" y="29"/>
                </a:lnTo>
                <a:lnTo>
                  <a:pt x="8296" y="0"/>
                </a:lnTo>
                <a:moveTo>
                  <a:pt x="8427" y="0"/>
                </a:moveTo>
                <a:lnTo>
                  <a:pt x="8507" y="0"/>
                </a:lnTo>
                <a:lnTo>
                  <a:pt x="8507" y="29"/>
                </a:lnTo>
                <a:lnTo>
                  <a:pt x="8427" y="29"/>
                </a:lnTo>
                <a:lnTo>
                  <a:pt x="8427" y="0"/>
                </a:lnTo>
                <a:moveTo>
                  <a:pt x="8559" y="0"/>
                </a:moveTo>
                <a:lnTo>
                  <a:pt x="8638" y="0"/>
                </a:lnTo>
                <a:lnTo>
                  <a:pt x="8638" y="29"/>
                </a:lnTo>
                <a:lnTo>
                  <a:pt x="8559" y="29"/>
                </a:lnTo>
                <a:lnTo>
                  <a:pt x="8559" y="0"/>
                </a:lnTo>
                <a:moveTo>
                  <a:pt x="8691" y="0"/>
                </a:moveTo>
                <a:lnTo>
                  <a:pt x="8770" y="0"/>
                </a:lnTo>
                <a:lnTo>
                  <a:pt x="8770" y="29"/>
                </a:lnTo>
                <a:lnTo>
                  <a:pt x="8691" y="29"/>
                </a:lnTo>
                <a:lnTo>
                  <a:pt x="8691" y="0"/>
                </a:lnTo>
                <a:moveTo>
                  <a:pt x="8822" y="0"/>
                </a:moveTo>
                <a:lnTo>
                  <a:pt x="8902" y="0"/>
                </a:lnTo>
                <a:lnTo>
                  <a:pt x="8902" y="29"/>
                </a:lnTo>
                <a:lnTo>
                  <a:pt x="8822" y="29"/>
                </a:lnTo>
                <a:lnTo>
                  <a:pt x="8822" y="0"/>
                </a:lnTo>
                <a:moveTo>
                  <a:pt x="8954" y="0"/>
                </a:moveTo>
                <a:lnTo>
                  <a:pt x="9033" y="0"/>
                </a:lnTo>
                <a:lnTo>
                  <a:pt x="9033" y="29"/>
                </a:lnTo>
                <a:lnTo>
                  <a:pt x="8954" y="29"/>
                </a:lnTo>
                <a:lnTo>
                  <a:pt x="8954" y="0"/>
                </a:lnTo>
                <a:moveTo>
                  <a:pt x="9085" y="0"/>
                </a:moveTo>
                <a:lnTo>
                  <a:pt x="9165" y="0"/>
                </a:lnTo>
                <a:lnTo>
                  <a:pt x="9165" y="29"/>
                </a:lnTo>
                <a:lnTo>
                  <a:pt x="9085" y="29"/>
                </a:lnTo>
                <a:lnTo>
                  <a:pt x="9085" y="0"/>
                </a:lnTo>
                <a:moveTo>
                  <a:pt x="9217" y="0"/>
                </a:moveTo>
                <a:lnTo>
                  <a:pt x="9297" y="0"/>
                </a:lnTo>
                <a:lnTo>
                  <a:pt x="9297" y="29"/>
                </a:lnTo>
                <a:lnTo>
                  <a:pt x="9217" y="29"/>
                </a:lnTo>
                <a:lnTo>
                  <a:pt x="9217" y="0"/>
                </a:lnTo>
                <a:moveTo>
                  <a:pt x="9349" y="0"/>
                </a:moveTo>
                <a:lnTo>
                  <a:pt x="9428" y="0"/>
                </a:lnTo>
                <a:lnTo>
                  <a:pt x="9428" y="29"/>
                </a:lnTo>
                <a:lnTo>
                  <a:pt x="9349" y="29"/>
                </a:lnTo>
                <a:lnTo>
                  <a:pt x="9349" y="0"/>
                </a:lnTo>
                <a:moveTo>
                  <a:pt x="9480" y="0"/>
                </a:moveTo>
                <a:lnTo>
                  <a:pt x="9560" y="0"/>
                </a:lnTo>
                <a:lnTo>
                  <a:pt x="9560" y="29"/>
                </a:lnTo>
                <a:lnTo>
                  <a:pt x="9480" y="29"/>
                </a:lnTo>
                <a:lnTo>
                  <a:pt x="9480" y="0"/>
                </a:lnTo>
                <a:moveTo>
                  <a:pt x="9612" y="0"/>
                </a:moveTo>
                <a:lnTo>
                  <a:pt x="9692" y="0"/>
                </a:lnTo>
                <a:lnTo>
                  <a:pt x="9692" y="29"/>
                </a:lnTo>
                <a:lnTo>
                  <a:pt x="9612" y="29"/>
                </a:lnTo>
                <a:lnTo>
                  <a:pt x="9612" y="0"/>
                </a:lnTo>
                <a:moveTo>
                  <a:pt x="9744" y="0"/>
                </a:moveTo>
                <a:lnTo>
                  <a:pt x="9823" y="0"/>
                </a:lnTo>
                <a:lnTo>
                  <a:pt x="9823" y="29"/>
                </a:lnTo>
                <a:lnTo>
                  <a:pt x="9744" y="29"/>
                </a:lnTo>
                <a:lnTo>
                  <a:pt x="9744" y="0"/>
                </a:lnTo>
                <a:moveTo>
                  <a:pt x="9875" y="0"/>
                </a:moveTo>
                <a:lnTo>
                  <a:pt x="9955" y="0"/>
                </a:lnTo>
                <a:lnTo>
                  <a:pt x="9955" y="29"/>
                </a:lnTo>
                <a:lnTo>
                  <a:pt x="9875" y="29"/>
                </a:lnTo>
                <a:lnTo>
                  <a:pt x="9875" y="0"/>
                </a:lnTo>
                <a:moveTo>
                  <a:pt x="10007" y="0"/>
                </a:moveTo>
                <a:lnTo>
                  <a:pt x="10086" y="0"/>
                </a:lnTo>
                <a:lnTo>
                  <a:pt x="10086" y="29"/>
                </a:lnTo>
                <a:lnTo>
                  <a:pt x="10007" y="29"/>
                </a:lnTo>
                <a:lnTo>
                  <a:pt x="10007" y="0"/>
                </a:lnTo>
                <a:moveTo>
                  <a:pt x="10139" y="0"/>
                </a:moveTo>
                <a:lnTo>
                  <a:pt x="10218" y="0"/>
                </a:lnTo>
                <a:lnTo>
                  <a:pt x="10218" y="29"/>
                </a:lnTo>
                <a:lnTo>
                  <a:pt x="10139" y="29"/>
                </a:lnTo>
                <a:lnTo>
                  <a:pt x="10139" y="0"/>
                </a:lnTo>
                <a:moveTo>
                  <a:pt x="10270" y="0"/>
                </a:moveTo>
                <a:lnTo>
                  <a:pt x="10350" y="0"/>
                </a:lnTo>
                <a:lnTo>
                  <a:pt x="10350" y="29"/>
                </a:lnTo>
                <a:lnTo>
                  <a:pt x="10270" y="29"/>
                </a:lnTo>
                <a:lnTo>
                  <a:pt x="10270" y="0"/>
                </a:lnTo>
                <a:moveTo>
                  <a:pt x="10402" y="0"/>
                </a:moveTo>
                <a:lnTo>
                  <a:pt x="10481" y="0"/>
                </a:lnTo>
                <a:lnTo>
                  <a:pt x="10481" y="29"/>
                </a:lnTo>
                <a:lnTo>
                  <a:pt x="10402" y="29"/>
                </a:lnTo>
                <a:lnTo>
                  <a:pt x="10402" y="0"/>
                </a:lnTo>
                <a:moveTo>
                  <a:pt x="10534" y="0"/>
                </a:moveTo>
                <a:lnTo>
                  <a:pt x="10613" y="0"/>
                </a:lnTo>
                <a:lnTo>
                  <a:pt x="10613" y="29"/>
                </a:lnTo>
                <a:lnTo>
                  <a:pt x="10534" y="29"/>
                </a:lnTo>
                <a:lnTo>
                  <a:pt x="10534" y="0"/>
                </a:lnTo>
                <a:moveTo>
                  <a:pt x="10665" y="0"/>
                </a:moveTo>
                <a:lnTo>
                  <a:pt x="10745" y="0"/>
                </a:lnTo>
                <a:lnTo>
                  <a:pt x="10745" y="29"/>
                </a:lnTo>
                <a:lnTo>
                  <a:pt x="10665" y="29"/>
                </a:lnTo>
                <a:lnTo>
                  <a:pt x="10665" y="0"/>
                </a:lnTo>
                <a:moveTo>
                  <a:pt x="10797" y="0"/>
                </a:moveTo>
                <a:lnTo>
                  <a:pt x="10876" y="0"/>
                </a:lnTo>
                <a:lnTo>
                  <a:pt x="10876" y="29"/>
                </a:lnTo>
                <a:lnTo>
                  <a:pt x="10797" y="29"/>
                </a:lnTo>
                <a:lnTo>
                  <a:pt x="10797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9"/>
                </a:lnTo>
                <a:lnTo>
                  <a:pt x="10929" y="29"/>
                </a:lnTo>
                <a:lnTo>
                  <a:pt x="10929" y="0"/>
                </a:lnTo>
                <a:moveTo>
                  <a:pt x="11060" y="0"/>
                </a:moveTo>
                <a:lnTo>
                  <a:pt x="11140" y="0"/>
                </a:lnTo>
                <a:lnTo>
                  <a:pt x="11140" y="29"/>
                </a:lnTo>
                <a:lnTo>
                  <a:pt x="11060" y="29"/>
                </a:lnTo>
                <a:lnTo>
                  <a:pt x="1106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1444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8049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95004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量：流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3860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531080" y="6242040"/>
            <a:ext cx="1288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比率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LR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、利息支出占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916000" y="6221520"/>
            <a:ext cx="3985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总负债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3351600" y="6242040"/>
            <a:ext cx="7570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比重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Interest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380880" y="929880"/>
            <a:ext cx="18068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机制三：风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22503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624040" y="929880"/>
            <a:ext cx="32515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管理机制（破解不敢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9889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36264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380880" y="165420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提升风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216800" y="16131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495000" y="2371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774080" y="165420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置能力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62120" y="22420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实时监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59768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154960" y="22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2712240" y="22827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化、行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3548160" y="22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105440" y="22827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向与内部运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495000" y="2809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549828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62120" y="2720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快速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31904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597680" y="2720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别市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21549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43360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71224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990880" y="2720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54816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105440" y="2720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中断、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494100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5498280" y="27208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异常等风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661284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89148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380880" y="33494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抑制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938160" y="33087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216800" y="33494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49500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90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774080" y="33087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762120" y="397836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捕捉前沿技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15496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433600" y="39783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712240" y="393732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进轨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3269520" y="39783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迹，强化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4383720" y="393732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专项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94100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549828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495000" y="4505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776920" y="39783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支出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762120" y="4416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平滑研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597680" y="437544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2154960" y="4416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程中的风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32695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3548160" y="4416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，提高研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466236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4941000" y="44164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投入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49828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5776920" y="4416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05556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334200" y="4416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80880" y="6210000"/>
            <a:ext cx="3010320" cy="10440"/>
          </a:xfrm>
          <a:custGeom>
            <a:avLst/>
            <a:gdLst/>
            <a:ahLst/>
            <a:rect l="0" t="0" r="r" b="b"/>
            <a:pathLst>
              <a:path w="8362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9"/>
                </a:lnTo>
                <a:lnTo>
                  <a:pt x="131" y="29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9"/>
                </a:lnTo>
                <a:lnTo>
                  <a:pt x="263" y="29"/>
                </a:lnTo>
                <a:lnTo>
                  <a:pt x="263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9"/>
                </a:lnTo>
                <a:lnTo>
                  <a:pt x="394" y="29"/>
                </a:lnTo>
                <a:lnTo>
                  <a:pt x="394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9"/>
                </a:lnTo>
                <a:lnTo>
                  <a:pt x="526" y="29"/>
                </a:lnTo>
                <a:lnTo>
                  <a:pt x="526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9"/>
                </a:lnTo>
                <a:lnTo>
                  <a:pt x="657" y="29"/>
                </a:lnTo>
                <a:lnTo>
                  <a:pt x="657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9"/>
                </a:lnTo>
                <a:lnTo>
                  <a:pt x="789" y="29"/>
                </a:lnTo>
                <a:lnTo>
                  <a:pt x="789" y="0"/>
                </a:lnTo>
                <a:moveTo>
                  <a:pt x="920" y="0"/>
                </a:moveTo>
                <a:lnTo>
                  <a:pt x="999" y="0"/>
                </a:lnTo>
                <a:lnTo>
                  <a:pt x="999" y="29"/>
                </a:lnTo>
                <a:lnTo>
                  <a:pt x="920" y="29"/>
                </a:lnTo>
                <a:lnTo>
                  <a:pt x="920" y="0"/>
                </a:lnTo>
                <a:moveTo>
                  <a:pt x="1051" y="0"/>
                </a:moveTo>
                <a:lnTo>
                  <a:pt x="1131" y="0"/>
                </a:lnTo>
                <a:lnTo>
                  <a:pt x="1131" y="29"/>
                </a:lnTo>
                <a:lnTo>
                  <a:pt x="1051" y="29"/>
                </a:lnTo>
                <a:lnTo>
                  <a:pt x="1051" y="0"/>
                </a:lnTo>
                <a:moveTo>
                  <a:pt x="1183" y="0"/>
                </a:moveTo>
                <a:lnTo>
                  <a:pt x="1262" y="0"/>
                </a:lnTo>
                <a:lnTo>
                  <a:pt x="1262" y="29"/>
                </a:lnTo>
                <a:lnTo>
                  <a:pt x="1183" y="29"/>
                </a:lnTo>
                <a:lnTo>
                  <a:pt x="1183" y="0"/>
                </a:lnTo>
                <a:moveTo>
                  <a:pt x="1314" y="0"/>
                </a:moveTo>
                <a:lnTo>
                  <a:pt x="1394" y="0"/>
                </a:lnTo>
                <a:lnTo>
                  <a:pt x="1394" y="29"/>
                </a:lnTo>
                <a:lnTo>
                  <a:pt x="1314" y="29"/>
                </a:lnTo>
                <a:lnTo>
                  <a:pt x="1314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9"/>
                </a:lnTo>
                <a:lnTo>
                  <a:pt x="1446" y="29"/>
                </a:lnTo>
                <a:lnTo>
                  <a:pt x="1446" y="0"/>
                </a:lnTo>
                <a:moveTo>
                  <a:pt x="1577" y="0"/>
                </a:moveTo>
                <a:lnTo>
                  <a:pt x="1657" y="0"/>
                </a:lnTo>
                <a:lnTo>
                  <a:pt x="1657" y="29"/>
                </a:lnTo>
                <a:lnTo>
                  <a:pt x="1577" y="29"/>
                </a:lnTo>
                <a:lnTo>
                  <a:pt x="1577" y="0"/>
                </a:lnTo>
                <a:moveTo>
                  <a:pt x="1709" y="0"/>
                </a:moveTo>
                <a:lnTo>
                  <a:pt x="1788" y="0"/>
                </a:lnTo>
                <a:lnTo>
                  <a:pt x="1788" y="29"/>
                </a:lnTo>
                <a:lnTo>
                  <a:pt x="1709" y="29"/>
                </a:lnTo>
                <a:lnTo>
                  <a:pt x="1709" y="0"/>
                </a:lnTo>
                <a:moveTo>
                  <a:pt x="1840" y="0"/>
                </a:moveTo>
                <a:lnTo>
                  <a:pt x="1920" y="0"/>
                </a:lnTo>
                <a:lnTo>
                  <a:pt x="1920" y="29"/>
                </a:lnTo>
                <a:lnTo>
                  <a:pt x="1840" y="29"/>
                </a:lnTo>
                <a:lnTo>
                  <a:pt x="1840" y="0"/>
                </a:lnTo>
                <a:moveTo>
                  <a:pt x="1972" y="0"/>
                </a:moveTo>
                <a:lnTo>
                  <a:pt x="2051" y="0"/>
                </a:lnTo>
                <a:lnTo>
                  <a:pt x="2051" y="29"/>
                </a:lnTo>
                <a:lnTo>
                  <a:pt x="1972" y="29"/>
                </a:lnTo>
                <a:lnTo>
                  <a:pt x="1972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9"/>
                </a:lnTo>
                <a:lnTo>
                  <a:pt x="2103" y="29"/>
                </a:lnTo>
                <a:lnTo>
                  <a:pt x="2103" y="0"/>
                </a:lnTo>
                <a:moveTo>
                  <a:pt x="2235" y="0"/>
                </a:moveTo>
                <a:lnTo>
                  <a:pt x="2314" y="0"/>
                </a:lnTo>
                <a:lnTo>
                  <a:pt x="2314" y="29"/>
                </a:lnTo>
                <a:lnTo>
                  <a:pt x="2235" y="29"/>
                </a:lnTo>
                <a:lnTo>
                  <a:pt x="2235" y="0"/>
                </a:lnTo>
                <a:moveTo>
                  <a:pt x="2366" y="0"/>
                </a:moveTo>
                <a:lnTo>
                  <a:pt x="2445" y="0"/>
                </a:lnTo>
                <a:lnTo>
                  <a:pt x="2445" y="29"/>
                </a:lnTo>
                <a:lnTo>
                  <a:pt x="2366" y="29"/>
                </a:lnTo>
                <a:lnTo>
                  <a:pt x="2366" y="0"/>
                </a:lnTo>
                <a:moveTo>
                  <a:pt x="2497" y="0"/>
                </a:moveTo>
                <a:lnTo>
                  <a:pt x="2577" y="0"/>
                </a:lnTo>
                <a:lnTo>
                  <a:pt x="2577" y="29"/>
                </a:lnTo>
                <a:lnTo>
                  <a:pt x="2497" y="29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9"/>
                </a:lnTo>
                <a:lnTo>
                  <a:pt x="2629" y="29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9"/>
                </a:lnTo>
                <a:lnTo>
                  <a:pt x="2760" y="29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9"/>
                </a:lnTo>
                <a:lnTo>
                  <a:pt x="2892" y="29"/>
                </a:lnTo>
                <a:lnTo>
                  <a:pt x="2892" y="0"/>
                </a:lnTo>
                <a:moveTo>
                  <a:pt x="3023" y="0"/>
                </a:moveTo>
                <a:lnTo>
                  <a:pt x="3103" y="0"/>
                </a:lnTo>
                <a:lnTo>
                  <a:pt x="3103" y="29"/>
                </a:lnTo>
                <a:lnTo>
                  <a:pt x="3023" y="29"/>
                </a:lnTo>
                <a:lnTo>
                  <a:pt x="3023" y="0"/>
                </a:lnTo>
                <a:moveTo>
                  <a:pt x="3156" y="0"/>
                </a:moveTo>
                <a:lnTo>
                  <a:pt x="3235" y="0"/>
                </a:lnTo>
                <a:lnTo>
                  <a:pt x="3235" y="29"/>
                </a:lnTo>
                <a:lnTo>
                  <a:pt x="3156" y="29"/>
                </a:lnTo>
                <a:lnTo>
                  <a:pt x="3156" y="0"/>
                </a:lnTo>
                <a:moveTo>
                  <a:pt x="3287" y="0"/>
                </a:moveTo>
                <a:lnTo>
                  <a:pt x="3367" y="0"/>
                </a:lnTo>
                <a:lnTo>
                  <a:pt x="3367" y="29"/>
                </a:lnTo>
                <a:lnTo>
                  <a:pt x="3287" y="29"/>
                </a:lnTo>
                <a:lnTo>
                  <a:pt x="3287" y="0"/>
                </a:lnTo>
                <a:moveTo>
                  <a:pt x="3419" y="0"/>
                </a:moveTo>
                <a:lnTo>
                  <a:pt x="3498" y="0"/>
                </a:lnTo>
                <a:lnTo>
                  <a:pt x="3498" y="29"/>
                </a:lnTo>
                <a:lnTo>
                  <a:pt x="3419" y="29"/>
                </a:lnTo>
                <a:lnTo>
                  <a:pt x="3419" y="0"/>
                </a:lnTo>
                <a:moveTo>
                  <a:pt x="3550" y="0"/>
                </a:moveTo>
                <a:lnTo>
                  <a:pt x="3629" y="0"/>
                </a:lnTo>
                <a:lnTo>
                  <a:pt x="3629" y="29"/>
                </a:lnTo>
                <a:lnTo>
                  <a:pt x="3550" y="29"/>
                </a:lnTo>
                <a:lnTo>
                  <a:pt x="3550" y="0"/>
                </a:lnTo>
                <a:moveTo>
                  <a:pt x="3681" y="0"/>
                </a:moveTo>
                <a:lnTo>
                  <a:pt x="3761" y="0"/>
                </a:lnTo>
                <a:lnTo>
                  <a:pt x="3761" y="29"/>
                </a:lnTo>
                <a:lnTo>
                  <a:pt x="3681" y="29"/>
                </a:lnTo>
                <a:lnTo>
                  <a:pt x="3681" y="0"/>
                </a:lnTo>
                <a:moveTo>
                  <a:pt x="3813" y="0"/>
                </a:moveTo>
                <a:lnTo>
                  <a:pt x="3892" y="0"/>
                </a:lnTo>
                <a:lnTo>
                  <a:pt x="3892" y="29"/>
                </a:lnTo>
                <a:lnTo>
                  <a:pt x="3813" y="29"/>
                </a:lnTo>
                <a:lnTo>
                  <a:pt x="3813" y="0"/>
                </a:lnTo>
                <a:moveTo>
                  <a:pt x="3944" y="0"/>
                </a:moveTo>
                <a:lnTo>
                  <a:pt x="4024" y="0"/>
                </a:lnTo>
                <a:lnTo>
                  <a:pt x="4024" y="29"/>
                </a:lnTo>
                <a:lnTo>
                  <a:pt x="3944" y="29"/>
                </a:lnTo>
                <a:lnTo>
                  <a:pt x="3944" y="0"/>
                </a:lnTo>
                <a:moveTo>
                  <a:pt x="4076" y="0"/>
                </a:moveTo>
                <a:lnTo>
                  <a:pt x="4155" y="0"/>
                </a:lnTo>
                <a:lnTo>
                  <a:pt x="4155" y="29"/>
                </a:lnTo>
                <a:lnTo>
                  <a:pt x="4076" y="29"/>
                </a:lnTo>
                <a:lnTo>
                  <a:pt x="4076" y="0"/>
                </a:lnTo>
                <a:moveTo>
                  <a:pt x="4207" y="0"/>
                </a:moveTo>
                <a:lnTo>
                  <a:pt x="4287" y="0"/>
                </a:lnTo>
                <a:lnTo>
                  <a:pt x="4287" y="29"/>
                </a:lnTo>
                <a:lnTo>
                  <a:pt x="4207" y="29"/>
                </a:lnTo>
                <a:lnTo>
                  <a:pt x="4207" y="0"/>
                </a:lnTo>
                <a:moveTo>
                  <a:pt x="4339" y="0"/>
                </a:moveTo>
                <a:lnTo>
                  <a:pt x="4418" y="0"/>
                </a:lnTo>
                <a:lnTo>
                  <a:pt x="4418" y="29"/>
                </a:lnTo>
                <a:lnTo>
                  <a:pt x="4339" y="29"/>
                </a:lnTo>
                <a:lnTo>
                  <a:pt x="4339" y="0"/>
                </a:lnTo>
                <a:moveTo>
                  <a:pt x="4470" y="0"/>
                </a:moveTo>
                <a:lnTo>
                  <a:pt x="4550" y="0"/>
                </a:lnTo>
                <a:lnTo>
                  <a:pt x="4550" y="29"/>
                </a:lnTo>
                <a:lnTo>
                  <a:pt x="4470" y="29"/>
                </a:lnTo>
                <a:lnTo>
                  <a:pt x="4470" y="0"/>
                </a:lnTo>
                <a:moveTo>
                  <a:pt x="4602" y="0"/>
                </a:moveTo>
                <a:lnTo>
                  <a:pt x="4681" y="0"/>
                </a:lnTo>
                <a:lnTo>
                  <a:pt x="4681" y="29"/>
                </a:lnTo>
                <a:lnTo>
                  <a:pt x="4602" y="29"/>
                </a:lnTo>
                <a:lnTo>
                  <a:pt x="4602" y="0"/>
                </a:lnTo>
                <a:moveTo>
                  <a:pt x="4733" y="0"/>
                </a:moveTo>
                <a:lnTo>
                  <a:pt x="4812" y="0"/>
                </a:lnTo>
                <a:lnTo>
                  <a:pt x="4812" y="29"/>
                </a:lnTo>
                <a:lnTo>
                  <a:pt x="4733" y="29"/>
                </a:lnTo>
                <a:lnTo>
                  <a:pt x="4733" y="0"/>
                </a:lnTo>
                <a:moveTo>
                  <a:pt x="4865" y="0"/>
                </a:moveTo>
                <a:lnTo>
                  <a:pt x="4944" y="0"/>
                </a:lnTo>
                <a:lnTo>
                  <a:pt x="4944" y="29"/>
                </a:lnTo>
                <a:lnTo>
                  <a:pt x="4865" y="29"/>
                </a:lnTo>
                <a:lnTo>
                  <a:pt x="4865" y="0"/>
                </a:lnTo>
                <a:moveTo>
                  <a:pt x="4996" y="0"/>
                </a:moveTo>
                <a:lnTo>
                  <a:pt x="5075" y="0"/>
                </a:lnTo>
                <a:lnTo>
                  <a:pt x="5075" y="29"/>
                </a:lnTo>
                <a:lnTo>
                  <a:pt x="4996" y="29"/>
                </a:lnTo>
                <a:lnTo>
                  <a:pt x="4996" y="0"/>
                </a:lnTo>
                <a:moveTo>
                  <a:pt x="5127" y="0"/>
                </a:moveTo>
                <a:lnTo>
                  <a:pt x="5207" y="0"/>
                </a:lnTo>
                <a:lnTo>
                  <a:pt x="5207" y="29"/>
                </a:lnTo>
                <a:lnTo>
                  <a:pt x="5127" y="29"/>
                </a:lnTo>
                <a:lnTo>
                  <a:pt x="5127" y="0"/>
                </a:lnTo>
                <a:moveTo>
                  <a:pt x="5259" y="0"/>
                </a:moveTo>
                <a:lnTo>
                  <a:pt x="5338" y="0"/>
                </a:lnTo>
                <a:lnTo>
                  <a:pt x="5338" y="29"/>
                </a:lnTo>
                <a:lnTo>
                  <a:pt x="5259" y="29"/>
                </a:lnTo>
                <a:lnTo>
                  <a:pt x="5259" y="0"/>
                </a:lnTo>
                <a:moveTo>
                  <a:pt x="5390" y="0"/>
                </a:moveTo>
                <a:lnTo>
                  <a:pt x="5470" y="0"/>
                </a:lnTo>
                <a:lnTo>
                  <a:pt x="5470" y="29"/>
                </a:lnTo>
                <a:lnTo>
                  <a:pt x="5390" y="29"/>
                </a:lnTo>
                <a:lnTo>
                  <a:pt x="5390" y="0"/>
                </a:lnTo>
                <a:moveTo>
                  <a:pt x="5522" y="0"/>
                </a:moveTo>
                <a:lnTo>
                  <a:pt x="5601" y="0"/>
                </a:lnTo>
                <a:lnTo>
                  <a:pt x="5601" y="29"/>
                </a:lnTo>
                <a:lnTo>
                  <a:pt x="5522" y="29"/>
                </a:lnTo>
                <a:lnTo>
                  <a:pt x="5522" y="0"/>
                </a:lnTo>
                <a:moveTo>
                  <a:pt x="5653" y="0"/>
                </a:moveTo>
                <a:lnTo>
                  <a:pt x="5733" y="0"/>
                </a:lnTo>
                <a:lnTo>
                  <a:pt x="5733" y="29"/>
                </a:lnTo>
                <a:lnTo>
                  <a:pt x="5653" y="29"/>
                </a:lnTo>
                <a:lnTo>
                  <a:pt x="5653" y="0"/>
                </a:lnTo>
                <a:moveTo>
                  <a:pt x="5785" y="0"/>
                </a:moveTo>
                <a:lnTo>
                  <a:pt x="5864" y="0"/>
                </a:lnTo>
                <a:lnTo>
                  <a:pt x="5864" y="29"/>
                </a:lnTo>
                <a:lnTo>
                  <a:pt x="5785" y="29"/>
                </a:lnTo>
                <a:lnTo>
                  <a:pt x="5785" y="0"/>
                </a:lnTo>
                <a:moveTo>
                  <a:pt x="5916" y="0"/>
                </a:moveTo>
                <a:lnTo>
                  <a:pt x="5996" y="0"/>
                </a:lnTo>
                <a:lnTo>
                  <a:pt x="5996" y="29"/>
                </a:lnTo>
                <a:lnTo>
                  <a:pt x="5916" y="29"/>
                </a:lnTo>
                <a:lnTo>
                  <a:pt x="5916" y="0"/>
                </a:lnTo>
                <a:moveTo>
                  <a:pt x="6048" y="0"/>
                </a:moveTo>
                <a:lnTo>
                  <a:pt x="6127" y="0"/>
                </a:lnTo>
                <a:lnTo>
                  <a:pt x="6127" y="29"/>
                </a:lnTo>
                <a:lnTo>
                  <a:pt x="6048" y="29"/>
                </a:lnTo>
                <a:lnTo>
                  <a:pt x="6048" y="0"/>
                </a:lnTo>
                <a:moveTo>
                  <a:pt x="6179" y="0"/>
                </a:moveTo>
                <a:lnTo>
                  <a:pt x="6258" y="0"/>
                </a:lnTo>
                <a:lnTo>
                  <a:pt x="6258" y="29"/>
                </a:lnTo>
                <a:lnTo>
                  <a:pt x="6179" y="29"/>
                </a:lnTo>
                <a:lnTo>
                  <a:pt x="6179" y="0"/>
                </a:lnTo>
                <a:moveTo>
                  <a:pt x="6311" y="0"/>
                </a:moveTo>
                <a:lnTo>
                  <a:pt x="6390" y="0"/>
                </a:lnTo>
                <a:lnTo>
                  <a:pt x="6390" y="29"/>
                </a:lnTo>
                <a:lnTo>
                  <a:pt x="6311" y="29"/>
                </a:lnTo>
                <a:lnTo>
                  <a:pt x="6311" y="0"/>
                </a:lnTo>
                <a:moveTo>
                  <a:pt x="6442" y="0"/>
                </a:moveTo>
                <a:lnTo>
                  <a:pt x="6521" y="0"/>
                </a:lnTo>
                <a:lnTo>
                  <a:pt x="6521" y="29"/>
                </a:lnTo>
                <a:lnTo>
                  <a:pt x="6442" y="29"/>
                </a:lnTo>
                <a:lnTo>
                  <a:pt x="6442" y="0"/>
                </a:lnTo>
                <a:moveTo>
                  <a:pt x="6573" y="0"/>
                </a:moveTo>
                <a:lnTo>
                  <a:pt x="6653" y="0"/>
                </a:lnTo>
                <a:lnTo>
                  <a:pt x="6653" y="29"/>
                </a:lnTo>
                <a:lnTo>
                  <a:pt x="6573" y="29"/>
                </a:lnTo>
                <a:lnTo>
                  <a:pt x="6573" y="0"/>
                </a:lnTo>
                <a:moveTo>
                  <a:pt x="6705" y="0"/>
                </a:moveTo>
                <a:lnTo>
                  <a:pt x="6784" y="0"/>
                </a:lnTo>
                <a:lnTo>
                  <a:pt x="6784" y="29"/>
                </a:lnTo>
                <a:lnTo>
                  <a:pt x="6705" y="29"/>
                </a:lnTo>
                <a:lnTo>
                  <a:pt x="6705" y="0"/>
                </a:lnTo>
                <a:moveTo>
                  <a:pt x="6836" y="0"/>
                </a:moveTo>
                <a:lnTo>
                  <a:pt x="6916" y="0"/>
                </a:lnTo>
                <a:lnTo>
                  <a:pt x="6916" y="29"/>
                </a:lnTo>
                <a:lnTo>
                  <a:pt x="6836" y="29"/>
                </a:lnTo>
                <a:lnTo>
                  <a:pt x="6836" y="0"/>
                </a:lnTo>
                <a:moveTo>
                  <a:pt x="6968" y="0"/>
                </a:moveTo>
                <a:lnTo>
                  <a:pt x="7047" y="0"/>
                </a:lnTo>
                <a:lnTo>
                  <a:pt x="7047" y="29"/>
                </a:lnTo>
                <a:lnTo>
                  <a:pt x="6968" y="29"/>
                </a:lnTo>
                <a:lnTo>
                  <a:pt x="6968" y="0"/>
                </a:lnTo>
                <a:moveTo>
                  <a:pt x="7099" y="0"/>
                </a:moveTo>
                <a:lnTo>
                  <a:pt x="7179" y="0"/>
                </a:lnTo>
                <a:lnTo>
                  <a:pt x="7179" y="29"/>
                </a:lnTo>
                <a:lnTo>
                  <a:pt x="7099" y="29"/>
                </a:lnTo>
                <a:lnTo>
                  <a:pt x="7099" y="0"/>
                </a:lnTo>
                <a:moveTo>
                  <a:pt x="7231" y="0"/>
                </a:moveTo>
                <a:lnTo>
                  <a:pt x="7310" y="0"/>
                </a:lnTo>
                <a:lnTo>
                  <a:pt x="7310" y="29"/>
                </a:lnTo>
                <a:lnTo>
                  <a:pt x="7231" y="29"/>
                </a:lnTo>
                <a:lnTo>
                  <a:pt x="7231" y="0"/>
                </a:lnTo>
                <a:moveTo>
                  <a:pt x="7362" y="0"/>
                </a:moveTo>
                <a:lnTo>
                  <a:pt x="7442" y="0"/>
                </a:lnTo>
                <a:lnTo>
                  <a:pt x="7442" y="29"/>
                </a:lnTo>
                <a:lnTo>
                  <a:pt x="7362" y="29"/>
                </a:lnTo>
                <a:lnTo>
                  <a:pt x="7362" y="0"/>
                </a:lnTo>
                <a:moveTo>
                  <a:pt x="7494" y="0"/>
                </a:moveTo>
                <a:lnTo>
                  <a:pt x="7573" y="0"/>
                </a:lnTo>
                <a:lnTo>
                  <a:pt x="7573" y="29"/>
                </a:lnTo>
                <a:lnTo>
                  <a:pt x="7494" y="29"/>
                </a:lnTo>
                <a:lnTo>
                  <a:pt x="7494" y="0"/>
                </a:lnTo>
                <a:moveTo>
                  <a:pt x="7625" y="0"/>
                </a:moveTo>
                <a:lnTo>
                  <a:pt x="7704" y="0"/>
                </a:lnTo>
                <a:lnTo>
                  <a:pt x="7704" y="29"/>
                </a:lnTo>
                <a:lnTo>
                  <a:pt x="7625" y="29"/>
                </a:lnTo>
                <a:lnTo>
                  <a:pt x="7625" y="0"/>
                </a:lnTo>
                <a:moveTo>
                  <a:pt x="7756" y="0"/>
                </a:moveTo>
                <a:lnTo>
                  <a:pt x="7836" y="0"/>
                </a:lnTo>
                <a:lnTo>
                  <a:pt x="7836" y="29"/>
                </a:lnTo>
                <a:lnTo>
                  <a:pt x="7756" y="29"/>
                </a:lnTo>
                <a:lnTo>
                  <a:pt x="7756" y="0"/>
                </a:lnTo>
                <a:moveTo>
                  <a:pt x="7888" y="0"/>
                </a:moveTo>
                <a:lnTo>
                  <a:pt x="7967" y="0"/>
                </a:lnTo>
                <a:lnTo>
                  <a:pt x="7967" y="29"/>
                </a:lnTo>
                <a:lnTo>
                  <a:pt x="7888" y="29"/>
                </a:lnTo>
                <a:lnTo>
                  <a:pt x="7888" y="0"/>
                </a:lnTo>
                <a:moveTo>
                  <a:pt x="8019" y="0"/>
                </a:moveTo>
                <a:lnTo>
                  <a:pt x="8099" y="0"/>
                </a:lnTo>
                <a:lnTo>
                  <a:pt x="8099" y="29"/>
                </a:lnTo>
                <a:lnTo>
                  <a:pt x="8019" y="29"/>
                </a:lnTo>
                <a:lnTo>
                  <a:pt x="8019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9"/>
                </a:lnTo>
                <a:lnTo>
                  <a:pt x="8151" y="29"/>
                </a:lnTo>
                <a:lnTo>
                  <a:pt x="8151" y="0"/>
                </a:lnTo>
                <a:moveTo>
                  <a:pt x="8282" y="0"/>
                </a:moveTo>
                <a:lnTo>
                  <a:pt x="8362" y="0"/>
                </a:lnTo>
                <a:lnTo>
                  <a:pt x="8362" y="29"/>
                </a:lnTo>
                <a:lnTo>
                  <a:pt x="8282" y="29"/>
                </a:lnTo>
                <a:lnTo>
                  <a:pt x="8282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51444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机制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8049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95004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量：风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38600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676520" y="6242040"/>
            <a:ext cx="766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置能力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RT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4850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63052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9210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3066120" y="6242040"/>
            <a:ext cx="1335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IR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38088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三、研究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87632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设计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62404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：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9980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样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371760" y="929880"/>
            <a:ext cx="21679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本与数据清洗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8088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样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5952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本范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21680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95000" y="2371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1495440" y="165420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与数据来源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762120" y="2282760"/>
            <a:ext cx="59227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沪深两市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股主板上市公司，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2011—2021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年，回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859800" y="22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归样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7417080" y="2282760"/>
            <a:ext cx="1800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17 178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个企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931500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9593640" y="2282760"/>
            <a:ext cx="822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—年度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495000" y="2809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0401120" y="22420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观测值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76212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0407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319040" y="2720880"/>
            <a:ext cx="2645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数据来自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CSMAR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406296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341600" y="2720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与巨潮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517752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5734800" y="2720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网，宏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570720" y="2680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849000" y="27208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数据来自国家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8520840" y="2680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统计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9078120" y="2720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380880" y="334944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四条清洗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495440" y="33087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规则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04080" y="3978360"/>
            <a:ext cx="266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762120" y="3937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仅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040760" y="397836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保留核心数据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712240" y="393732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连续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269520" y="3978360"/>
            <a:ext cx="2176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5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年以上无缺失的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5522760" y="393732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观测值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04080" y="4416480"/>
            <a:ext cx="713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31904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597680" y="44164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行、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15496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2433600" y="4416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券、保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32695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3548160" y="4416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、房地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438372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4662360" y="441648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等金融类企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055560" y="4375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04080" y="4854600"/>
            <a:ext cx="4798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剔除研究期内的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ST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类、退市和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IPO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5486760" y="48135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04080" y="5292720"/>
            <a:ext cx="2664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62120" y="52516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连续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319040" y="52927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597680" y="52516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876320" y="5292720"/>
            <a:ext cx="19177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量做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1%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99%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3850560" y="52516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4128840" y="52927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4407480" y="52516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4686120" y="52927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90240" y="1514160"/>
            <a:ext cx="1619640" cy="276840"/>
          </a:xfrm>
          <a:custGeom>
            <a:avLst/>
            <a:gdLst/>
            <a:ahLst/>
            <a:rect l="0" t="0" r="r" b="b"/>
            <a:pathLst>
              <a:path w="4499" h="769">
                <a:moveTo>
                  <a:pt x="0" y="0"/>
                </a:moveTo>
                <a:lnTo>
                  <a:pt x="4499" y="0"/>
                </a:lnTo>
                <a:lnTo>
                  <a:pt x="449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2009520" y="1514160"/>
            <a:ext cx="3019680" cy="276840"/>
          </a:xfrm>
          <a:custGeom>
            <a:avLst/>
            <a:gdLst/>
            <a:ahLst/>
            <a:rect l="0" t="0" r="r" b="b"/>
            <a:pathLst>
              <a:path w="8388" h="769">
                <a:moveTo>
                  <a:pt x="0" y="0"/>
                </a:moveTo>
                <a:lnTo>
                  <a:pt x="8388" y="0"/>
                </a:lnTo>
                <a:lnTo>
                  <a:pt x="8388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028840" y="1514160"/>
            <a:ext cx="6782400" cy="276840"/>
          </a:xfrm>
          <a:custGeom>
            <a:avLst/>
            <a:gdLst/>
            <a:ahLst/>
            <a:rect l="0" t="0" r="r" b="b"/>
            <a:pathLst>
              <a:path w="18840" h="769">
                <a:moveTo>
                  <a:pt x="0" y="0"/>
                </a:moveTo>
                <a:lnTo>
                  <a:pt x="18840" y="0"/>
                </a:lnTo>
                <a:lnTo>
                  <a:pt x="18840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90240" y="1790640"/>
            <a:ext cx="1619640" cy="285840"/>
          </a:xfrm>
          <a:custGeom>
            <a:avLst/>
            <a:gdLst/>
            <a:ahLst/>
            <a:rect l="0" t="0" r="r" b="b"/>
            <a:pathLst>
              <a:path w="4499" h="794">
                <a:moveTo>
                  <a:pt x="0" y="0"/>
                </a:moveTo>
                <a:lnTo>
                  <a:pt x="4499" y="0"/>
                </a:lnTo>
                <a:lnTo>
                  <a:pt x="449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2009520" y="1790640"/>
            <a:ext cx="3019680" cy="285840"/>
          </a:xfrm>
          <a:custGeom>
            <a:avLst/>
            <a:gdLst/>
            <a:ahLst/>
            <a:rect l="0" t="0" r="r" b="b"/>
            <a:pathLst>
              <a:path w="8388" h="794">
                <a:moveTo>
                  <a:pt x="0" y="0"/>
                </a:moveTo>
                <a:lnTo>
                  <a:pt x="8388" y="0"/>
                </a:lnTo>
                <a:lnTo>
                  <a:pt x="8388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028840" y="1790640"/>
            <a:ext cx="6782400" cy="285840"/>
          </a:xfrm>
          <a:custGeom>
            <a:avLst/>
            <a:gdLst/>
            <a:ahLst/>
            <a:rect l="0" t="0" r="r" b="b"/>
            <a:pathLst>
              <a:path w="18840" h="794">
                <a:moveTo>
                  <a:pt x="0" y="0"/>
                </a:moveTo>
                <a:lnTo>
                  <a:pt x="18840" y="0"/>
                </a:lnTo>
                <a:lnTo>
                  <a:pt x="18840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90240" y="2571480"/>
            <a:ext cx="1619640" cy="286200"/>
          </a:xfrm>
          <a:custGeom>
            <a:avLst/>
            <a:gdLst/>
            <a:ahLst/>
            <a:rect l="0" t="0" r="r" b="b"/>
            <a:pathLst>
              <a:path w="4499" h="795">
                <a:moveTo>
                  <a:pt x="0" y="0"/>
                </a:moveTo>
                <a:lnTo>
                  <a:pt x="4499" y="0"/>
                </a:lnTo>
                <a:lnTo>
                  <a:pt x="449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2009520" y="2571480"/>
            <a:ext cx="3019680" cy="286200"/>
          </a:xfrm>
          <a:custGeom>
            <a:avLst/>
            <a:gdLst/>
            <a:ahLst/>
            <a:rect l="0" t="0" r="r" b="b"/>
            <a:pathLst>
              <a:path w="8388" h="795">
                <a:moveTo>
                  <a:pt x="0" y="0"/>
                </a:moveTo>
                <a:lnTo>
                  <a:pt x="8388" y="0"/>
                </a:lnTo>
                <a:lnTo>
                  <a:pt x="838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028840" y="2571480"/>
            <a:ext cx="6782400" cy="286200"/>
          </a:xfrm>
          <a:custGeom>
            <a:avLst/>
            <a:gdLst/>
            <a:ahLst/>
            <a:rect l="0" t="0" r="r" b="b"/>
            <a:pathLst>
              <a:path w="18840" h="795">
                <a:moveTo>
                  <a:pt x="0" y="0"/>
                </a:moveTo>
                <a:lnTo>
                  <a:pt x="18840" y="0"/>
                </a:lnTo>
                <a:lnTo>
                  <a:pt x="1884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390240" y="3143160"/>
            <a:ext cx="1619640" cy="276480"/>
          </a:xfrm>
          <a:custGeom>
            <a:avLst/>
            <a:gdLst/>
            <a:ahLst/>
            <a:rect l="0" t="0" r="r" b="b"/>
            <a:pathLst>
              <a:path w="4499" h="768">
                <a:moveTo>
                  <a:pt x="0" y="0"/>
                </a:moveTo>
                <a:lnTo>
                  <a:pt x="4499" y="0"/>
                </a:lnTo>
                <a:lnTo>
                  <a:pt x="449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009520" y="3143160"/>
            <a:ext cx="3019680" cy="276480"/>
          </a:xfrm>
          <a:custGeom>
            <a:avLst/>
            <a:gdLst/>
            <a:ahLst/>
            <a:rect l="0" t="0" r="r" b="b"/>
            <a:pathLst>
              <a:path w="8388" h="768">
                <a:moveTo>
                  <a:pt x="0" y="0"/>
                </a:moveTo>
                <a:lnTo>
                  <a:pt x="8388" y="0"/>
                </a:lnTo>
                <a:lnTo>
                  <a:pt x="838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5028840" y="3143160"/>
            <a:ext cx="6782400" cy="276480"/>
          </a:xfrm>
          <a:custGeom>
            <a:avLst/>
            <a:gdLst/>
            <a:ahLst/>
            <a:rect l="0" t="0" r="r" b="b"/>
            <a:pathLst>
              <a:path w="18840" h="768">
                <a:moveTo>
                  <a:pt x="0" y="0"/>
                </a:moveTo>
                <a:lnTo>
                  <a:pt x="18840" y="0"/>
                </a:lnTo>
                <a:lnTo>
                  <a:pt x="18840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8088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80880" y="150480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00016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009520" y="150480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01948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5028840" y="150480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1180116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80880" y="179064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2009520" y="179064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028840" y="179064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8088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00016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501948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180116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380880" y="20761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380880" y="206676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000160" y="20761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009520" y="206676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5019480" y="2076120"/>
            <a:ext cx="9720" cy="505440"/>
          </a:xfrm>
          <a:custGeom>
            <a:avLst/>
            <a:gdLst/>
            <a:ahLst/>
            <a:rect l="0" t="0" r="r" b="b"/>
            <a:pathLst>
              <a:path w="27" h="1404">
                <a:moveTo>
                  <a:pt x="0" y="0"/>
                </a:moveTo>
                <a:lnTo>
                  <a:pt x="27" y="0"/>
                </a:lnTo>
                <a:lnTo>
                  <a:pt x="2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5028840" y="206676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1801160" y="2076120"/>
            <a:ext cx="10080" cy="505440"/>
          </a:xfrm>
          <a:custGeom>
            <a:avLst/>
            <a:gdLst/>
            <a:ahLst/>
            <a:rect l="0" t="0" r="r" b="b"/>
            <a:pathLst>
              <a:path w="28" h="1404">
                <a:moveTo>
                  <a:pt x="0" y="0"/>
                </a:moveTo>
                <a:lnTo>
                  <a:pt x="28" y="0"/>
                </a:lnTo>
                <a:lnTo>
                  <a:pt x="28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380880" y="25812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380880" y="257148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000160" y="25812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009520" y="257148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5019480" y="25812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5028840" y="2571480"/>
            <a:ext cx="6782400" cy="10080"/>
          </a:xfrm>
          <a:custGeom>
            <a:avLst/>
            <a:gdLst/>
            <a:ahLst/>
            <a:rect l="0" t="0" r="r" b="b"/>
            <a:pathLst>
              <a:path w="18840" h="28">
                <a:moveTo>
                  <a:pt x="0" y="0"/>
                </a:moveTo>
                <a:lnTo>
                  <a:pt x="18840" y="0"/>
                </a:lnTo>
                <a:lnTo>
                  <a:pt x="188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1801160" y="25812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380880" y="28573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380880" y="284796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000160" y="28573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009520" y="284796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5019480" y="28573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028840" y="284796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1801160" y="28573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380880" y="31431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380880" y="313344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000160" y="31431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2009520" y="313344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5019480" y="31431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5028840" y="3133440"/>
            <a:ext cx="6782400" cy="10080"/>
          </a:xfrm>
          <a:custGeom>
            <a:avLst/>
            <a:gdLst/>
            <a:ahLst/>
            <a:rect l="0" t="0" r="r" b="b"/>
            <a:pathLst>
              <a:path w="18840" h="28">
                <a:moveTo>
                  <a:pt x="0" y="0"/>
                </a:moveTo>
                <a:lnTo>
                  <a:pt x="18840" y="0"/>
                </a:lnTo>
                <a:lnTo>
                  <a:pt x="188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1801160" y="3143160"/>
            <a:ext cx="10080" cy="285840"/>
          </a:xfrm>
          <a:custGeom>
            <a:avLst/>
            <a:gdLst/>
            <a:ahLst/>
            <a:rect l="0" t="0" r="r" b="b"/>
            <a:pathLst>
              <a:path w="28" h="794">
                <a:moveTo>
                  <a:pt x="0" y="0"/>
                </a:moveTo>
                <a:lnTo>
                  <a:pt x="28" y="0"/>
                </a:lnTo>
                <a:lnTo>
                  <a:pt x="28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380880" y="34286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380880" y="341928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000160" y="34286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2009520" y="341928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5019480" y="34286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5028840" y="341928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1801160" y="34286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380880" y="391464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2009520" y="391464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5028840" y="3914640"/>
            <a:ext cx="6782400" cy="9720"/>
          </a:xfrm>
          <a:custGeom>
            <a:avLst/>
            <a:gdLst/>
            <a:ahLst/>
            <a:rect l="0" t="0" r="r" b="b"/>
            <a:pathLst>
              <a:path w="18840" h="27">
                <a:moveTo>
                  <a:pt x="0" y="0"/>
                </a:moveTo>
                <a:lnTo>
                  <a:pt x="18840" y="0"/>
                </a:lnTo>
                <a:lnTo>
                  <a:pt x="188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3808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75492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112860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设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50264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定：核心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29980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337176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量与控制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486720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524124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102384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角色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334512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351684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807336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8245080" y="1569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度方式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76608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被解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1109880" y="18309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145332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335760" y="1855440"/>
            <a:ext cx="284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DCG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652500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669708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6868800" y="1855440"/>
            <a:ext cx="5385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“数字化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4718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7643880" y="1855440"/>
            <a:ext cx="378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型”关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8075160" y="1830960"/>
            <a:ext cx="640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键词词频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876240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91062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9277920" y="18554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平均后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979344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996516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数化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80400" y="22460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核心解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1195920" y="22215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539360" y="22460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3181320" y="2246040"/>
            <a:ext cx="4755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5244840" y="2131920"/>
            <a:ext cx="96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区域内注册且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6275880" y="210744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经营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661932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范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679140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963120" y="213192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含金融科技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7822440" y="210744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8165880" y="2131920"/>
            <a:ext cx="3169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的公司数目，构成“省份—年度”面板，取滞后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8245080" y="23508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523800" y="26366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867600" y="2612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039320" y="26366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量（微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1554840" y="2612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726560" y="26366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2711160" y="2636640"/>
            <a:ext cx="122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Asset / Lev / Conce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6441120" y="2612160"/>
            <a:ext cx="640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总资产对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7128360" y="26366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7471800" y="261216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总负债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7987320" y="26366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÷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8159400" y="261216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总资产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8674920" y="263664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、第一大股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9533880" y="2612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东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9705600" y="263664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持股占比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523800" y="291276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867600" y="2888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039320" y="29127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量（微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554840" y="2888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1726560" y="29127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2613600" y="2912760"/>
            <a:ext cx="1383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Age / Turnover / Dual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7128360" y="2912760"/>
            <a:ext cx="1121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成立年限、日均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8331120" y="2888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换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8502840" y="291276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手率、两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9190080" y="2888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9362160" y="291276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合一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523800" y="3198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867600" y="3174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1039320" y="3198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量（微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1554840" y="3174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726560" y="3198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264760" y="3198600"/>
            <a:ext cx="1882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Audit / Allocation / Roe / QFII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414840" y="31741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审计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6758280" y="3198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意见、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7273800" y="3174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445880" y="3198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7617600" y="31741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7961400" y="3198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配置、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8476920" y="317412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净资产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8992080" y="3198600"/>
            <a:ext cx="132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收益率、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QFII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持股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523800" y="35892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867600" y="3564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039320" y="35892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量（宏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1554840" y="3564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726560" y="35892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2865960" y="3484440"/>
            <a:ext cx="741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GDP / Struc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4045680" y="3484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/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2798640" y="3693960"/>
            <a:ext cx="1080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Digital_economy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6558480" y="3589200"/>
            <a:ext cx="7254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地区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GDP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7354800" y="3564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7526520" y="35892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数、二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8042040" y="3564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8213760" y="3589200"/>
            <a:ext cx="272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÷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8557560" y="3564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8729280" y="358920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、地区数字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9588600" y="35647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经济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9932040" y="35892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水平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380880" y="6210000"/>
            <a:ext cx="6591600" cy="10440"/>
          </a:xfrm>
          <a:custGeom>
            <a:avLst/>
            <a:gdLst/>
            <a:ahLst/>
            <a:rect l="0" t="0" r="r" b="b"/>
            <a:pathLst>
              <a:path w="18310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9"/>
                </a:lnTo>
                <a:lnTo>
                  <a:pt x="264" y="29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9"/>
                </a:lnTo>
                <a:lnTo>
                  <a:pt x="396" y="29"/>
                </a:lnTo>
                <a:lnTo>
                  <a:pt x="396" y="0"/>
                </a:lnTo>
                <a:moveTo>
                  <a:pt x="528" y="0"/>
                </a:moveTo>
                <a:lnTo>
                  <a:pt x="608" y="0"/>
                </a:lnTo>
                <a:lnTo>
                  <a:pt x="608" y="29"/>
                </a:lnTo>
                <a:lnTo>
                  <a:pt x="528" y="29"/>
                </a:lnTo>
                <a:lnTo>
                  <a:pt x="528" y="0"/>
                </a:lnTo>
                <a:moveTo>
                  <a:pt x="660" y="0"/>
                </a:moveTo>
                <a:lnTo>
                  <a:pt x="740" y="0"/>
                </a:lnTo>
                <a:lnTo>
                  <a:pt x="740" y="29"/>
                </a:lnTo>
                <a:lnTo>
                  <a:pt x="660" y="29"/>
                </a:lnTo>
                <a:lnTo>
                  <a:pt x="660" y="0"/>
                </a:lnTo>
                <a:moveTo>
                  <a:pt x="792" y="0"/>
                </a:moveTo>
                <a:lnTo>
                  <a:pt x="872" y="0"/>
                </a:lnTo>
                <a:lnTo>
                  <a:pt x="872" y="29"/>
                </a:lnTo>
                <a:lnTo>
                  <a:pt x="792" y="29"/>
                </a:lnTo>
                <a:lnTo>
                  <a:pt x="792" y="0"/>
                </a:lnTo>
                <a:moveTo>
                  <a:pt x="925" y="0"/>
                </a:moveTo>
                <a:lnTo>
                  <a:pt x="1004" y="0"/>
                </a:lnTo>
                <a:lnTo>
                  <a:pt x="1004" y="29"/>
                </a:lnTo>
                <a:lnTo>
                  <a:pt x="925" y="29"/>
                </a:lnTo>
                <a:lnTo>
                  <a:pt x="925" y="0"/>
                </a:lnTo>
                <a:moveTo>
                  <a:pt x="1057" y="0"/>
                </a:moveTo>
                <a:lnTo>
                  <a:pt x="1136" y="0"/>
                </a:lnTo>
                <a:lnTo>
                  <a:pt x="1136" y="29"/>
                </a:lnTo>
                <a:lnTo>
                  <a:pt x="1057" y="29"/>
                </a:lnTo>
                <a:lnTo>
                  <a:pt x="1057" y="0"/>
                </a:lnTo>
                <a:moveTo>
                  <a:pt x="1189" y="0"/>
                </a:moveTo>
                <a:lnTo>
                  <a:pt x="1268" y="0"/>
                </a:lnTo>
                <a:lnTo>
                  <a:pt x="1268" y="29"/>
                </a:lnTo>
                <a:lnTo>
                  <a:pt x="1189" y="29"/>
                </a:lnTo>
                <a:lnTo>
                  <a:pt x="1189" y="0"/>
                </a:lnTo>
                <a:moveTo>
                  <a:pt x="1321" y="0"/>
                </a:moveTo>
                <a:lnTo>
                  <a:pt x="1400" y="0"/>
                </a:lnTo>
                <a:lnTo>
                  <a:pt x="1400" y="29"/>
                </a:lnTo>
                <a:lnTo>
                  <a:pt x="1321" y="29"/>
                </a:lnTo>
                <a:lnTo>
                  <a:pt x="1321" y="0"/>
                </a:lnTo>
                <a:moveTo>
                  <a:pt x="1453" y="0"/>
                </a:moveTo>
                <a:lnTo>
                  <a:pt x="1532" y="0"/>
                </a:lnTo>
                <a:lnTo>
                  <a:pt x="1532" y="29"/>
                </a:lnTo>
                <a:lnTo>
                  <a:pt x="1453" y="29"/>
                </a:lnTo>
                <a:lnTo>
                  <a:pt x="1453" y="0"/>
                </a:lnTo>
                <a:moveTo>
                  <a:pt x="1585" y="0"/>
                </a:moveTo>
                <a:lnTo>
                  <a:pt x="1664" y="0"/>
                </a:lnTo>
                <a:lnTo>
                  <a:pt x="1664" y="29"/>
                </a:lnTo>
                <a:lnTo>
                  <a:pt x="1585" y="29"/>
                </a:lnTo>
                <a:lnTo>
                  <a:pt x="1585" y="0"/>
                </a:lnTo>
                <a:moveTo>
                  <a:pt x="1717" y="0"/>
                </a:moveTo>
                <a:lnTo>
                  <a:pt x="1797" y="0"/>
                </a:lnTo>
                <a:lnTo>
                  <a:pt x="1797" y="29"/>
                </a:lnTo>
                <a:lnTo>
                  <a:pt x="1717" y="29"/>
                </a:lnTo>
                <a:lnTo>
                  <a:pt x="1717" y="0"/>
                </a:lnTo>
                <a:moveTo>
                  <a:pt x="1849" y="0"/>
                </a:moveTo>
                <a:lnTo>
                  <a:pt x="1929" y="0"/>
                </a:lnTo>
                <a:lnTo>
                  <a:pt x="1929" y="29"/>
                </a:lnTo>
                <a:lnTo>
                  <a:pt x="1849" y="29"/>
                </a:lnTo>
                <a:lnTo>
                  <a:pt x="1849" y="0"/>
                </a:lnTo>
                <a:moveTo>
                  <a:pt x="1981" y="0"/>
                </a:moveTo>
                <a:lnTo>
                  <a:pt x="2061" y="0"/>
                </a:lnTo>
                <a:lnTo>
                  <a:pt x="2061" y="29"/>
                </a:lnTo>
                <a:lnTo>
                  <a:pt x="1981" y="29"/>
                </a:lnTo>
                <a:lnTo>
                  <a:pt x="1981" y="0"/>
                </a:lnTo>
                <a:moveTo>
                  <a:pt x="2113" y="0"/>
                </a:moveTo>
                <a:lnTo>
                  <a:pt x="2193" y="0"/>
                </a:lnTo>
                <a:lnTo>
                  <a:pt x="2193" y="29"/>
                </a:lnTo>
                <a:lnTo>
                  <a:pt x="2113" y="29"/>
                </a:lnTo>
                <a:lnTo>
                  <a:pt x="2113" y="0"/>
                </a:lnTo>
                <a:moveTo>
                  <a:pt x="2246" y="0"/>
                </a:moveTo>
                <a:lnTo>
                  <a:pt x="2325" y="0"/>
                </a:lnTo>
                <a:lnTo>
                  <a:pt x="2325" y="29"/>
                </a:lnTo>
                <a:lnTo>
                  <a:pt x="2246" y="29"/>
                </a:lnTo>
                <a:lnTo>
                  <a:pt x="2246" y="0"/>
                </a:lnTo>
                <a:moveTo>
                  <a:pt x="2378" y="0"/>
                </a:moveTo>
                <a:lnTo>
                  <a:pt x="2457" y="0"/>
                </a:lnTo>
                <a:lnTo>
                  <a:pt x="2457" y="29"/>
                </a:lnTo>
                <a:lnTo>
                  <a:pt x="2378" y="29"/>
                </a:lnTo>
                <a:lnTo>
                  <a:pt x="2378" y="0"/>
                </a:lnTo>
                <a:moveTo>
                  <a:pt x="2510" y="0"/>
                </a:moveTo>
                <a:lnTo>
                  <a:pt x="2589" y="0"/>
                </a:lnTo>
                <a:lnTo>
                  <a:pt x="2589" y="29"/>
                </a:lnTo>
                <a:lnTo>
                  <a:pt x="2510" y="29"/>
                </a:lnTo>
                <a:lnTo>
                  <a:pt x="2510" y="0"/>
                </a:lnTo>
                <a:moveTo>
                  <a:pt x="2642" y="0"/>
                </a:moveTo>
                <a:lnTo>
                  <a:pt x="2721" y="0"/>
                </a:lnTo>
                <a:lnTo>
                  <a:pt x="2721" y="29"/>
                </a:lnTo>
                <a:lnTo>
                  <a:pt x="2642" y="29"/>
                </a:lnTo>
                <a:lnTo>
                  <a:pt x="2642" y="0"/>
                </a:lnTo>
                <a:moveTo>
                  <a:pt x="2774" y="0"/>
                </a:moveTo>
                <a:lnTo>
                  <a:pt x="2853" y="0"/>
                </a:lnTo>
                <a:lnTo>
                  <a:pt x="2853" y="29"/>
                </a:lnTo>
                <a:lnTo>
                  <a:pt x="2774" y="29"/>
                </a:lnTo>
                <a:lnTo>
                  <a:pt x="2774" y="0"/>
                </a:lnTo>
                <a:moveTo>
                  <a:pt x="2906" y="0"/>
                </a:moveTo>
                <a:lnTo>
                  <a:pt x="2985" y="0"/>
                </a:lnTo>
                <a:lnTo>
                  <a:pt x="2985" y="29"/>
                </a:lnTo>
                <a:lnTo>
                  <a:pt x="2906" y="29"/>
                </a:lnTo>
                <a:lnTo>
                  <a:pt x="2906" y="0"/>
                </a:lnTo>
                <a:moveTo>
                  <a:pt x="3038" y="0"/>
                </a:moveTo>
                <a:lnTo>
                  <a:pt x="3118" y="0"/>
                </a:lnTo>
                <a:lnTo>
                  <a:pt x="3118" y="29"/>
                </a:lnTo>
                <a:lnTo>
                  <a:pt x="3038" y="29"/>
                </a:lnTo>
                <a:lnTo>
                  <a:pt x="3038" y="0"/>
                </a:lnTo>
                <a:moveTo>
                  <a:pt x="3170" y="0"/>
                </a:moveTo>
                <a:lnTo>
                  <a:pt x="3250" y="0"/>
                </a:lnTo>
                <a:lnTo>
                  <a:pt x="3250" y="29"/>
                </a:lnTo>
                <a:lnTo>
                  <a:pt x="3170" y="29"/>
                </a:lnTo>
                <a:lnTo>
                  <a:pt x="3170" y="0"/>
                </a:lnTo>
                <a:moveTo>
                  <a:pt x="3302" y="0"/>
                </a:moveTo>
                <a:lnTo>
                  <a:pt x="3382" y="0"/>
                </a:lnTo>
                <a:lnTo>
                  <a:pt x="3382" y="29"/>
                </a:lnTo>
                <a:lnTo>
                  <a:pt x="3302" y="29"/>
                </a:lnTo>
                <a:lnTo>
                  <a:pt x="3302" y="0"/>
                </a:lnTo>
                <a:moveTo>
                  <a:pt x="3434" y="0"/>
                </a:moveTo>
                <a:lnTo>
                  <a:pt x="3514" y="0"/>
                </a:lnTo>
                <a:lnTo>
                  <a:pt x="3514" y="29"/>
                </a:lnTo>
                <a:lnTo>
                  <a:pt x="3434" y="29"/>
                </a:lnTo>
                <a:lnTo>
                  <a:pt x="3434" y="0"/>
                </a:lnTo>
                <a:moveTo>
                  <a:pt x="3567" y="0"/>
                </a:moveTo>
                <a:lnTo>
                  <a:pt x="3646" y="0"/>
                </a:lnTo>
                <a:lnTo>
                  <a:pt x="3646" y="29"/>
                </a:lnTo>
                <a:lnTo>
                  <a:pt x="3567" y="29"/>
                </a:lnTo>
                <a:lnTo>
                  <a:pt x="3567" y="0"/>
                </a:lnTo>
                <a:moveTo>
                  <a:pt x="3699" y="0"/>
                </a:moveTo>
                <a:lnTo>
                  <a:pt x="3778" y="0"/>
                </a:lnTo>
                <a:lnTo>
                  <a:pt x="3778" y="29"/>
                </a:lnTo>
                <a:lnTo>
                  <a:pt x="3699" y="29"/>
                </a:lnTo>
                <a:lnTo>
                  <a:pt x="3699" y="0"/>
                </a:lnTo>
                <a:moveTo>
                  <a:pt x="3831" y="0"/>
                </a:moveTo>
                <a:lnTo>
                  <a:pt x="3910" y="0"/>
                </a:lnTo>
                <a:lnTo>
                  <a:pt x="3910" y="29"/>
                </a:lnTo>
                <a:lnTo>
                  <a:pt x="3831" y="29"/>
                </a:lnTo>
                <a:lnTo>
                  <a:pt x="3831" y="0"/>
                </a:lnTo>
                <a:moveTo>
                  <a:pt x="3963" y="0"/>
                </a:moveTo>
                <a:lnTo>
                  <a:pt x="4042" y="0"/>
                </a:lnTo>
                <a:lnTo>
                  <a:pt x="4042" y="29"/>
                </a:lnTo>
                <a:lnTo>
                  <a:pt x="3963" y="29"/>
                </a:lnTo>
                <a:lnTo>
                  <a:pt x="3963" y="0"/>
                </a:lnTo>
                <a:moveTo>
                  <a:pt x="4095" y="0"/>
                </a:moveTo>
                <a:lnTo>
                  <a:pt x="4174" y="0"/>
                </a:lnTo>
                <a:lnTo>
                  <a:pt x="4174" y="29"/>
                </a:lnTo>
                <a:lnTo>
                  <a:pt x="4095" y="29"/>
                </a:lnTo>
                <a:lnTo>
                  <a:pt x="4095" y="0"/>
                </a:lnTo>
                <a:moveTo>
                  <a:pt x="4227" y="0"/>
                </a:moveTo>
                <a:lnTo>
                  <a:pt x="4306" y="0"/>
                </a:lnTo>
                <a:lnTo>
                  <a:pt x="4306" y="29"/>
                </a:lnTo>
                <a:lnTo>
                  <a:pt x="4227" y="29"/>
                </a:lnTo>
                <a:lnTo>
                  <a:pt x="4227" y="0"/>
                </a:lnTo>
                <a:moveTo>
                  <a:pt x="4359" y="0"/>
                </a:moveTo>
                <a:lnTo>
                  <a:pt x="4439" y="0"/>
                </a:lnTo>
                <a:lnTo>
                  <a:pt x="4439" y="29"/>
                </a:lnTo>
                <a:lnTo>
                  <a:pt x="4359" y="29"/>
                </a:lnTo>
                <a:lnTo>
                  <a:pt x="4359" y="0"/>
                </a:lnTo>
                <a:moveTo>
                  <a:pt x="4491" y="0"/>
                </a:moveTo>
                <a:lnTo>
                  <a:pt x="4571" y="0"/>
                </a:lnTo>
                <a:lnTo>
                  <a:pt x="4571" y="29"/>
                </a:lnTo>
                <a:lnTo>
                  <a:pt x="4491" y="29"/>
                </a:lnTo>
                <a:lnTo>
                  <a:pt x="4491" y="0"/>
                </a:lnTo>
                <a:moveTo>
                  <a:pt x="4623" y="0"/>
                </a:moveTo>
                <a:lnTo>
                  <a:pt x="4703" y="0"/>
                </a:lnTo>
                <a:lnTo>
                  <a:pt x="4703" y="29"/>
                </a:lnTo>
                <a:lnTo>
                  <a:pt x="4623" y="29"/>
                </a:lnTo>
                <a:lnTo>
                  <a:pt x="4623" y="0"/>
                </a:lnTo>
                <a:moveTo>
                  <a:pt x="4755" y="0"/>
                </a:moveTo>
                <a:lnTo>
                  <a:pt x="4835" y="0"/>
                </a:lnTo>
                <a:lnTo>
                  <a:pt x="4835" y="29"/>
                </a:lnTo>
                <a:lnTo>
                  <a:pt x="4755" y="29"/>
                </a:lnTo>
                <a:lnTo>
                  <a:pt x="4755" y="0"/>
                </a:lnTo>
                <a:moveTo>
                  <a:pt x="4888" y="0"/>
                </a:moveTo>
                <a:lnTo>
                  <a:pt x="4967" y="0"/>
                </a:lnTo>
                <a:lnTo>
                  <a:pt x="4967" y="29"/>
                </a:lnTo>
                <a:lnTo>
                  <a:pt x="4888" y="29"/>
                </a:lnTo>
                <a:lnTo>
                  <a:pt x="4888" y="0"/>
                </a:lnTo>
                <a:moveTo>
                  <a:pt x="5020" y="0"/>
                </a:moveTo>
                <a:lnTo>
                  <a:pt x="5099" y="0"/>
                </a:lnTo>
                <a:lnTo>
                  <a:pt x="5099" y="29"/>
                </a:lnTo>
                <a:lnTo>
                  <a:pt x="5020" y="29"/>
                </a:lnTo>
                <a:lnTo>
                  <a:pt x="5020" y="0"/>
                </a:lnTo>
                <a:moveTo>
                  <a:pt x="5152" y="0"/>
                </a:moveTo>
                <a:lnTo>
                  <a:pt x="5231" y="0"/>
                </a:lnTo>
                <a:lnTo>
                  <a:pt x="5231" y="29"/>
                </a:lnTo>
                <a:lnTo>
                  <a:pt x="5152" y="29"/>
                </a:lnTo>
                <a:lnTo>
                  <a:pt x="5152" y="0"/>
                </a:lnTo>
                <a:moveTo>
                  <a:pt x="5284" y="0"/>
                </a:moveTo>
                <a:lnTo>
                  <a:pt x="5363" y="0"/>
                </a:lnTo>
                <a:lnTo>
                  <a:pt x="5363" y="29"/>
                </a:lnTo>
                <a:lnTo>
                  <a:pt x="5284" y="29"/>
                </a:lnTo>
                <a:lnTo>
                  <a:pt x="5284" y="0"/>
                </a:lnTo>
                <a:moveTo>
                  <a:pt x="5416" y="0"/>
                </a:moveTo>
                <a:lnTo>
                  <a:pt x="5495" y="0"/>
                </a:lnTo>
                <a:lnTo>
                  <a:pt x="5495" y="29"/>
                </a:lnTo>
                <a:lnTo>
                  <a:pt x="5416" y="29"/>
                </a:lnTo>
                <a:lnTo>
                  <a:pt x="5416" y="0"/>
                </a:lnTo>
                <a:moveTo>
                  <a:pt x="5548" y="0"/>
                </a:moveTo>
                <a:lnTo>
                  <a:pt x="5627" y="0"/>
                </a:lnTo>
                <a:lnTo>
                  <a:pt x="5627" y="29"/>
                </a:lnTo>
                <a:lnTo>
                  <a:pt x="5548" y="29"/>
                </a:lnTo>
                <a:lnTo>
                  <a:pt x="5548" y="0"/>
                </a:lnTo>
                <a:moveTo>
                  <a:pt x="5680" y="0"/>
                </a:moveTo>
                <a:lnTo>
                  <a:pt x="5760" y="0"/>
                </a:lnTo>
                <a:lnTo>
                  <a:pt x="5760" y="29"/>
                </a:lnTo>
                <a:lnTo>
                  <a:pt x="5680" y="29"/>
                </a:lnTo>
                <a:lnTo>
                  <a:pt x="5680" y="0"/>
                </a:lnTo>
                <a:moveTo>
                  <a:pt x="5812" y="0"/>
                </a:moveTo>
                <a:lnTo>
                  <a:pt x="5892" y="0"/>
                </a:lnTo>
                <a:lnTo>
                  <a:pt x="5892" y="29"/>
                </a:lnTo>
                <a:lnTo>
                  <a:pt x="5812" y="29"/>
                </a:lnTo>
                <a:lnTo>
                  <a:pt x="5812" y="0"/>
                </a:lnTo>
                <a:moveTo>
                  <a:pt x="5944" y="0"/>
                </a:moveTo>
                <a:lnTo>
                  <a:pt x="6024" y="0"/>
                </a:lnTo>
                <a:lnTo>
                  <a:pt x="6024" y="29"/>
                </a:lnTo>
                <a:lnTo>
                  <a:pt x="5944" y="29"/>
                </a:lnTo>
                <a:lnTo>
                  <a:pt x="5944" y="0"/>
                </a:lnTo>
                <a:moveTo>
                  <a:pt x="6076" y="0"/>
                </a:moveTo>
                <a:lnTo>
                  <a:pt x="6156" y="0"/>
                </a:lnTo>
                <a:lnTo>
                  <a:pt x="6156" y="29"/>
                </a:lnTo>
                <a:lnTo>
                  <a:pt x="6076" y="29"/>
                </a:lnTo>
                <a:lnTo>
                  <a:pt x="6076" y="0"/>
                </a:lnTo>
                <a:moveTo>
                  <a:pt x="6209" y="0"/>
                </a:moveTo>
                <a:lnTo>
                  <a:pt x="6288" y="0"/>
                </a:lnTo>
                <a:lnTo>
                  <a:pt x="6288" y="29"/>
                </a:lnTo>
                <a:lnTo>
                  <a:pt x="6209" y="29"/>
                </a:lnTo>
                <a:lnTo>
                  <a:pt x="6209" y="0"/>
                </a:lnTo>
                <a:moveTo>
                  <a:pt x="6341" y="0"/>
                </a:moveTo>
                <a:lnTo>
                  <a:pt x="6420" y="0"/>
                </a:lnTo>
                <a:lnTo>
                  <a:pt x="6420" y="29"/>
                </a:lnTo>
                <a:lnTo>
                  <a:pt x="6341" y="29"/>
                </a:lnTo>
                <a:lnTo>
                  <a:pt x="6341" y="0"/>
                </a:lnTo>
                <a:moveTo>
                  <a:pt x="6473" y="0"/>
                </a:moveTo>
                <a:lnTo>
                  <a:pt x="6552" y="0"/>
                </a:lnTo>
                <a:lnTo>
                  <a:pt x="6552" y="29"/>
                </a:lnTo>
                <a:lnTo>
                  <a:pt x="6473" y="29"/>
                </a:lnTo>
                <a:lnTo>
                  <a:pt x="6473" y="0"/>
                </a:lnTo>
                <a:moveTo>
                  <a:pt x="6605" y="0"/>
                </a:moveTo>
                <a:lnTo>
                  <a:pt x="6684" y="0"/>
                </a:lnTo>
                <a:lnTo>
                  <a:pt x="6684" y="29"/>
                </a:lnTo>
                <a:lnTo>
                  <a:pt x="6605" y="29"/>
                </a:lnTo>
                <a:lnTo>
                  <a:pt x="6605" y="0"/>
                </a:lnTo>
                <a:moveTo>
                  <a:pt x="6737" y="0"/>
                </a:moveTo>
                <a:lnTo>
                  <a:pt x="6816" y="0"/>
                </a:lnTo>
                <a:lnTo>
                  <a:pt x="6816" y="29"/>
                </a:lnTo>
                <a:lnTo>
                  <a:pt x="6737" y="29"/>
                </a:lnTo>
                <a:lnTo>
                  <a:pt x="6737" y="0"/>
                </a:lnTo>
                <a:moveTo>
                  <a:pt x="6869" y="0"/>
                </a:moveTo>
                <a:lnTo>
                  <a:pt x="6948" y="0"/>
                </a:lnTo>
                <a:lnTo>
                  <a:pt x="6948" y="29"/>
                </a:lnTo>
                <a:lnTo>
                  <a:pt x="6869" y="29"/>
                </a:lnTo>
                <a:lnTo>
                  <a:pt x="6869" y="0"/>
                </a:lnTo>
                <a:moveTo>
                  <a:pt x="7001" y="0"/>
                </a:moveTo>
                <a:lnTo>
                  <a:pt x="7081" y="0"/>
                </a:lnTo>
                <a:lnTo>
                  <a:pt x="7081" y="29"/>
                </a:lnTo>
                <a:lnTo>
                  <a:pt x="7001" y="29"/>
                </a:lnTo>
                <a:lnTo>
                  <a:pt x="7001" y="0"/>
                </a:lnTo>
                <a:moveTo>
                  <a:pt x="7133" y="0"/>
                </a:moveTo>
                <a:lnTo>
                  <a:pt x="7213" y="0"/>
                </a:lnTo>
                <a:lnTo>
                  <a:pt x="7213" y="29"/>
                </a:lnTo>
                <a:lnTo>
                  <a:pt x="7133" y="29"/>
                </a:lnTo>
                <a:lnTo>
                  <a:pt x="7133" y="0"/>
                </a:lnTo>
                <a:moveTo>
                  <a:pt x="7265" y="0"/>
                </a:moveTo>
                <a:lnTo>
                  <a:pt x="7345" y="0"/>
                </a:lnTo>
                <a:lnTo>
                  <a:pt x="7345" y="29"/>
                </a:lnTo>
                <a:lnTo>
                  <a:pt x="7265" y="29"/>
                </a:lnTo>
                <a:lnTo>
                  <a:pt x="7265" y="0"/>
                </a:lnTo>
                <a:moveTo>
                  <a:pt x="7397" y="0"/>
                </a:moveTo>
                <a:lnTo>
                  <a:pt x="7477" y="0"/>
                </a:lnTo>
                <a:lnTo>
                  <a:pt x="7477" y="29"/>
                </a:lnTo>
                <a:lnTo>
                  <a:pt x="7397" y="29"/>
                </a:lnTo>
                <a:lnTo>
                  <a:pt x="7397" y="0"/>
                </a:lnTo>
                <a:moveTo>
                  <a:pt x="7530" y="0"/>
                </a:moveTo>
                <a:lnTo>
                  <a:pt x="7609" y="0"/>
                </a:lnTo>
                <a:lnTo>
                  <a:pt x="7609" y="29"/>
                </a:lnTo>
                <a:lnTo>
                  <a:pt x="7530" y="29"/>
                </a:lnTo>
                <a:lnTo>
                  <a:pt x="7530" y="0"/>
                </a:lnTo>
                <a:moveTo>
                  <a:pt x="7662" y="0"/>
                </a:moveTo>
                <a:lnTo>
                  <a:pt x="7741" y="0"/>
                </a:lnTo>
                <a:lnTo>
                  <a:pt x="7741" y="29"/>
                </a:lnTo>
                <a:lnTo>
                  <a:pt x="7662" y="29"/>
                </a:lnTo>
                <a:lnTo>
                  <a:pt x="7662" y="0"/>
                </a:lnTo>
                <a:moveTo>
                  <a:pt x="7794" y="0"/>
                </a:moveTo>
                <a:lnTo>
                  <a:pt x="7873" y="0"/>
                </a:lnTo>
                <a:lnTo>
                  <a:pt x="7873" y="29"/>
                </a:lnTo>
                <a:lnTo>
                  <a:pt x="7794" y="29"/>
                </a:lnTo>
                <a:lnTo>
                  <a:pt x="7794" y="0"/>
                </a:lnTo>
                <a:moveTo>
                  <a:pt x="7926" y="0"/>
                </a:moveTo>
                <a:lnTo>
                  <a:pt x="8005" y="0"/>
                </a:lnTo>
                <a:lnTo>
                  <a:pt x="8005" y="29"/>
                </a:lnTo>
                <a:lnTo>
                  <a:pt x="7926" y="29"/>
                </a:lnTo>
                <a:lnTo>
                  <a:pt x="7926" y="0"/>
                </a:lnTo>
                <a:moveTo>
                  <a:pt x="8058" y="0"/>
                </a:moveTo>
                <a:lnTo>
                  <a:pt x="8138" y="0"/>
                </a:lnTo>
                <a:lnTo>
                  <a:pt x="8138" y="29"/>
                </a:lnTo>
                <a:lnTo>
                  <a:pt x="8058" y="29"/>
                </a:lnTo>
                <a:lnTo>
                  <a:pt x="8058" y="0"/>
                </a:lnTo>
                <a:moveTo>
                  <a:pt x="8191" y="0"/>
                </a:moveTo>
                <a:lnTo>
                  <a:pt x="8270" y="0"/>
                </a:lnTo>
                <a:lnTo>
                  <a:pt x="8270" y="29"/>
                </a:lnTo>
                <a:lnTo>
                  <a:pt x="8191" y="29"/>
                </a:lnTo>
                <a:lnTo>
                  <a:pt x="8191" y="0"/>
                </a:lnTo>
                <a:moveTo>
                  <a:pt x="8323" y="0"/>
                </a:moveTo>
                <a:lnTo>
                  <a:pt x="8403" y="0"/>
                </a:lnTo>
                <a:lnTo>
                  <a:pt x="8403" y="29"/>
                </a:lnTo>
                <a:lnTo>
                  <a:pt x="8323" y="29"/>
                </a:lnTo>
                <a:lnTo>
                  <a:pt x="8323" y="0"/>
                </a:lnTo>
                <a:moveTo>
                  <a:pt x="8455" y="0"/>
                </a:moveTo>
                <a:lnTo>
                  <a:pt x="8535" y="0"/>
                </a:lnTo>
                <a:lnTo>
                  <a:pt x="8535" y="29"/>
                </a:lnTo>
                <a:lnTo>
                  <a:pt x="8455" y="29"/>
                </a:lnTo>
                <a:lnTo>
                  <a:pt x="8455" y="0"/>
                </a:lnTo>
                <a:moveTo>
                  <a:pt x="8587" y="0"/>
                </a:moveTo>
                <a:lnTo>
                  <a:pt x="8667" y="0"/>
                </a:lnTo>
                <a:lnTo>
                  <a:pt x="8667" y="29"/>
                </a:lnTo>
                <a:lnTo>
                  <a:pt x="8587" y="29"/>
                </a:lnTo>
                <a:lnTo>
                  <a:pt x="8587" y="0"/>
                </a:lnTo>
                <a:moveTo>
                  <a:pt x="8719" y="0"/>
                </a:moveTo>
                <a:lnTo>
                  <a:pt x="8799" y="0"/>
                </a:lnTo>
                <a:lnTo>
                  <a:pt x="8799" y="29"/>
                </a:lnTo>
                <a:lnTo>
                  <a:pt x="8719" y="29"/>
                </a:lnTo>
                <a:lnTo>
                  <a:pt x="8719" y="0"/>
                </a:lnTo>
                <a:moveTo>
                  <a:pt x="8852" y="0"/>
                </a:moveTo>
                <a:lnTo>
                  <a:pt x="8931" y="0"/>
                </a:lnTo>
                <a:lnTo>
                  <a:pt x="8931" y="29"/>
                </a:lnTo>
                <a:lnTo>
                  <a:pt x="8852" y="29"/>
                </a:lnTo>
                <a:lnTo>
                  <a:pt x="8852" y="0"/>
                </a:lnTo>
                <a:moveTo>
                  <a:pt x="8984" y="0"/>
                </a:moveTo>
                <a:lnTo>
                  <a:pt x="9063" y="0"/>
                </a:lnTo>
                <a:lnTo>
                  <a:pt x="9063" y="29"/>
                </a:lnTo>
                <a:lnTo>
                  <a:pt x="8984" y="29"/>
                </a:lnTo>
                <a:lnTo>
                  <a:pt x="8984" y="0"/>
                </a:lnTo>
                <a:moveTo>
                  <a:pt x="9116" y="0"/>
                </a:moveTo>
                <a:lnTo>
                  <a:pt x="9195" y="0"/>
                </a:lnTo>
                <a:lnTo>
                  <a:pt x="9195" y="29"/>
                </a:lnTo>
                <a:lnTo>
                  <a:pt x="9116" y="29"/>
                </a:lnTo>
                <a:lnTo>
                  <a:pt x="9116" y="0"/>
                </a:lnTo>
                <a:moveTo>
                  <a:pt x="9248" y="0"/>
                </a:moveTo>
                <a:lnTo>
                  <a:pt x="9327" y="0"/>
                </a:lnTo>
                <a:lnTo>
                  <a:pt x="9327" y="29"/>
                </a:lnTo>
                <a:lnTo>
                  <a:pt x="9248" y="29"/>
                </a:lnTo>
                <a:lnTo>
                  <a:pt x="9248" y="0"/>
                </a:lnTo>
                <a:moveTo>
                  <a:pt x="9380" y="0"/>
                </a:moveTo>
                <a:lnTo>
                  <a:pt x="9459" y="0"/>
                </a:lnTo>
                <a:lnTo>
                  <a:pt x="9459" y="29"/>
                </a:lnTo>
                <a:lnTo>
                  <a:pt x="9380" y="29"/>
                </a:lnTo>
                <a:lnTo>
                  <a:pt x="9380" y="0"/>
                </a:lnTo>
                <a:moveTo>
                  <a:pt x="9512" y="0"/>
                </a:moveTo>
                <a:lnTo>
                  <a:pt x="9591" y="0"/>
                </a:lnTo>
                <a:lnTo>
                  <a:pt x="9591" y="29"/>
                </a:lnTo>
                <a:lnTo>
                  <a:pt x="9512" y="29"/>
                </a:lnTo>
                <a:lnTo>
                  <a:pt x="9512" y="0"/>
                </a:lnTo>
                <a:moveTo>
                  <a:pt x="9644" y="0"/>
                </a:moveTo>
                <a:lnTo>
                  <a:pt x="9724" y="0"/>
                </a:lnTo>
                <a:lnTo>
                  <a:pt x="9724" y="29"/>
                </a:lnTo>
                <a:lnTo>
                  <a:pt x="9644" y="29"/>
                </a:lnTo>
                <a:lnTo>
                  <a:pt x="9644" y="0"/>
                </a:lnTo>
                <a:moveTo>
                  <a:pt x="9776" y="0"/>
                </a:moveTo>
                <a:lnTo>
                  <a:pt x="9856" y="0"/>
                </a:lnTo>
                <a:lnTo>
                  <a:pt x="9856" y="29"/>
                </a:lnTo>
                <a:lnTo>
                  <a:pt x="9776" y="29"/>
                </a:lnTo>
                <a:lnTo>
                  <a:pt x="9776" y="0"/>
                </a:lnTo>
                <a:moveTo>
                  <a:pt x="9908" y="0"/>
                </a:moveTo>
                <a:lnTo>
                  <a:pt x="9988" y="0"/>
                </a:lnTo>
                <a:lnTo>
                  <a:pt x="9988" y="29"/>
                </a:lnTo>
                <a:lnTo>
                  <a:pt x="9908" y="29"/>
                </a:lnTo>
                <a:lnTo>
                  <a:pt x="9908" y="0"/>
                </a:lnTo>
                <a:moveTo>
                  <a:pt x="10040" y="0"/>
                </a:moveTo>
                <a:lnTo>
                  <a:pt x="10120" y="0"/>
                </a:lnTo>
                <a:lnTo>
                  <a:pt x="10120" y="29"/>
                </a:lnTo>
                <a:lnTo>
                  <a:pt x="10040" y="29"/>
                </a:lnTo>
                <a:lnTo>
                  <a:pt x="10040" y="0"/>
                </a:lnTo>
                <a:moveTo>
                  <a:pt x="10173" y="0"/>
                </a:moveTo>
                <a:lnTo>
                  <a:pt x="10252" y="0"/>
                </a:lnTo>
                <a:lnTo>
                  <a:pt x="10252" y="29"/>
                </a:lnTo>
                <a:lnTo>
                  <a:pt x="10173" y="29"/>
                </a:lnTo>
                <a:lnTo>
                  <a:pt x="10173" y="0"/>
                </a:lnTo>
                <a:moveTo>
                  <a:pt x="10305" y="0"/>
                </a:moveTo>
                <a:lnTo>
                  <a:pt x="10384" y="0"/>
                </a:lnTo>
                <a:lnTo>
                  <a:pt x="10384" y="29"/>
                </a:lnTo>
                <a:lnTo>
                  <a:pt x="10305" y="29"/>
                </a:lnTo>
                <a:lnTo>
                  <a:pt x="10305" y="0"/>
                </a:lnTo>
                <a:moveTo>
                  <a:pt x="10437" y="0"/>
                </a:moveTo>
                <a:lnTo>
                  <a:pt x="10516" y="0"/>
                </a:lnTo>
                <a:lnTo>
                  <a:pt x="10516" y="29"/>
                </a:lnTo>
                <a:lnTo>
                  <a:pt x="10437" y="29"/>
                </a:lnTo>
                <a:lnTo>
                  <a:pt x="10437" y="0"/>
                </a:lnTo>
                <a:moveTo>
                  <a:pt x="10569" y="0"/>
                </a:moveTo>
                <a:lnTo>
                  <a:pt x="10648" y="0"/>
                </a:lnTo>
                <a:lnTo>
                  <a:pt x="10648" y="29"/>
                </a:lnTo>
                <a:lnTo>
                  <a:pt x="10569" y="29"/>
                </a:lnTo>
                <a:lnTo>
                  <a:pt x="10569" y="0"/>
                </a:lnTo>
                <a:moveTo>
                  <a:pt x="10701" y="0"/>
                </a:moveTo>
                <a:lnTo>
                  <a:pt x="10780" y="0"/>
                </a:lnTo>
                <a:lnTo>
                  <a:pt x="10780" y="29"/>
                </a:lnTo>
                <a:lnTo>
                  <a:pt x="10701" y="29"/>
                </a:lnTo>
                <a:lnTo>
                  <a:pt x="10701" y="0"/>
                </a:lnTo>
                <a:moveTo>
                  <a:pt x="10833" y="0"/>
                </a:moveTo>
                <a:lnTo>
                  <a:pt x="10912" y="0"/>
                </a:lnTo>
                <a:lnTo>
                  <a:pt x="10912" y="29"/>
                </a:lnTo>
                <a:lnTo>
                  <a:pt x="10833" y="29"/>
                </a:lnTo>
                <a:lnTo>
                  <a:pt x="10833" y="0"/>
                </a:lnTo>
                <a:moveTo>
                  <a:pt x="10965" y="0"/>
                </a:moveTo>
                <a:lnTo>
                  <a:pt x="11045" y="0"/>
                </a:lnTo>
                <a:lnTo>
                  <a:pt x="11045" y="29"/>
                </a:lnTo>
                <a:lnTo>
                  <a:pt x="10965" y="29"/>
                </a:lnTo>
                <a:lnTo>
                  <a:pt x="10965" y="0"/>
                </a:lnTo>
                <a:moveTo>
                  <a:pt x="11097" y="0"/>
                </a:moveTo>
                <a:lnTo>
                  <a:pt x="11177" y="0"/>
                </a:lnTo>
                <a:lnTo>
                  <a:pt x="11177" y="29"/>
                </a:lnTo>
                <a:lnTo>
                  <a:pt x="11097" y="29"/>
                </a:lnTo>
                <a:lnTo>
                  <a:pt x="11097" y="0"/>
                </a:lnTo>
                <a:moveTo>
                  <a:pt x="11229" y="0"/>
                </a:moveTo>
                <a:lnTo>
                  <a:pt x="11309" y="0"/>
                </a:lnTo>
                <a:lnTo>
                  <a:pt x="11309" y="29"/>
                </a:lnTo>
                <a:lnTo>
                  <a:pt x="11229" y="29"/>
                </a:lnTo>
                <a:lnTo>
                  <a:pt x="11229" y="0"/>
                </a:lnTo>
                <a:moveTo>
                  <a:pt x="11361" y="0"/>
                </a:moveTo>
                <a:lnTo>
                  <a:pt x="11441" y="0"/>
                </a:lnTo>
                <a:lnTo>
                  <a:pt x="11441" y="29"/>
                </a:lnTo>
                <a:lnTo>
                  <a:pt x="11361" y="29"/>
                </a:lnTo>
                <a:lnTo>
                  <a:pt x="11361" y="0"/>
                </a:lnTo>
                <a:moveTo>
                  <a:pt x="11494" y="0"/>
                </a:moveTo>
                <a:lnTo>
                  <a:pt x="11573" y="0"/>
                </a:lnTo>
                <a:lnTo>
                  <a:pt x="11573" y="29"/>
                </a:lnTo>
                <a:lnTo>
                  <a:pt x="11494" y="29"/>
                </a:lnTo>
                <a:lnTo>
                  <a:pt x="11494" y="0"/>
                </a:lnTo>
                <a:moveTo>
                  <a:pt x="11626" y="0"/>
                </a:moveTo>
                <a:lnTo>
                  <a:pt x="11705" y="0"/>
                </a:lnTo>
                <a:lnTo>
                  <a:pt x="11705" y="29"/>
                </a:lnTo>
                <a:lnTo>
                  <a:pt x="11626" y="29"/>
                </a:lnTo>
                <a:lnTo>
                  <a:pt x="11626" y="0"/>
                </a:lnTo>
                <a:moveTo>
                  <a:pt x="11758" y="0"/>
                </a:moveTo>
                <a:lnTo>
                  <a:pt x="11837" y="0"/>
                </a:lnTo>
                <a:lnTo>
                  <a:pt x="11837" y="29"/>
                </a:lnTo>
                <a:lnTo>
                  <a:pt x="11758" y="29"/>
                </a:lnTo>
                <a:lnTo>
                  <a:pt x="11758" y="0"/>
                </a:lnTo>
                <a:moveTo>
                  <a:pt x="11890" y="0"/>
                </a:moveTo>
                <a:lnTo>
                  <a:pt x="11969" y="0"/>
                </a:lnTo>
                <a:lnTo>
                  <a:pt x="11969" y="29"/>
                </a:lnTo>
                <a:lnTo>
                  <a:pt x="11890" y="29"/>
                </a:lnTo>
                <a:lnTo>
                  <a:pt x="11890" y="0"/>
                </a:lnTo>
                <a:moveTo>
                  <a:pt x="12022" y="0"/>
                </a:moveTo>
                <a:lnTo>
                  <a:pt x="12101" y="0"/>
                </a:lnTo>
                <a:lnTo>
                  <a:pt x="12101" y="29"/>
                </a:lnTo>
                <a:lnTo>
                  <a:pt x="12022" y="29"/>
                </a:lnTo>
                <a:lnTo>
                  <a:pt x="12022" y="0"/>
                </a:lnTo>
                <a:moveTo>
                  <a:pt x="12154" y="0"/>
                </a:moveTo>
                <a:lnTo>
                  <a:pt x="12233" y="0"/>
                </a:lnTo>
                <a:lnTo>
                  <a:pt x="12233" y="29"/>
                </a:lnTo>
                <a:lnTo>
                  <a:pt x="12154" y="29"/>
                </a:lnTo>
                <a:lnTo>
                  <a:pt x="12154" y="0"/>
                </a:lnTo>
                <a:moveTo>
                  <a:pt x="12286" y="0"/>
                </a:moveTo>
                <a:lnTo>
                  <a:pt x="12366" y="0"/>
                </a:lnTo>
                <a:lnTo>
                  <a:pt x="12366" y="29"/>
                </a:lnTo>
                <a:lnTo>
                  <a:pt x="12286" y="29"/>
                </a:lnTo>
                <a:lnTo>
                  <a:pt x="12286" y="0"/>
                </a:lnTo>
                <a:moveTo>
                  <a:pt x="12418" y="0"/>
                </a:moveTo>
                <a:lnTo>
                  <a:pt x="12498" y="0"/>
                </a:lnTo>
                <a:lnTo>
                  <a:pt x="12498" y="29"/>
                </a:lnTo>
                <a:lnTo>
                  <a:pt x="12418" y="29"/>
                </a:lnTo>
                <a:lnTo>
                  <a:pt x="12418" y="0"/>
                </a:lnTo>
                <a:moveTo>
                  <a:pt x="12550" y="0"/>
                </a:moveTo>
                <a:lnTo>
                  <a:pt x="12630" y="0"/>
                </a:lnTo>
                <a:lnTo>
                  <a:pt x="12630" y="29"/>
                </a:lnTo>
                <a:lnTo>
                  <a:pt x="12550" y="29"/>
                </a:lnTo>
                <a:lnTo>
                  <a:pt x="12550" y="0"/>
                </a:lnTo>
                <a:moveTo>
                  <a:pt x="12682" y="0"/>
                </a:moveTo>
                <a:lnTo>
                  <a:pt x="12762" y="0"/>
                </a:lnTo>
                <a:lnTo>
                  <a:pt x="12762" y="29"/>
                </a:lnTo>
                <a:lnTo>
                  <a:pt x="12682" y="29"/>
                </a:lnTo>
                <a:lnTo>
                  <a:pt x="12682" y="0"/>
                </a:lnTo>
                <a:moveTo>
                  <a:pt x="12815" y="0"/>
                </a:moveTo>
                <a:lnTo>
                  <a:pt x="12894" y="0"/>
                </a:lnTo>
                <a:lnTo>
                  <a:pt x="12894" y="29"/>
                </a:lnTo>
                <a:lnTo>
                  <a:pt x="12815" y="29"/>
                </a:lnTo>
                <a:lnTo>
                  <a:pt x="12815" y="0"/>
                </a:lnTo>
                <a:moveTo>
                  <a:pt x="12947" y="0"/>
                </a:moveTo>
                <a:lnTo>
                  <a:pt x="13026" y="0"/>
                </a:lnTo>
                <a:lnTo>
                  <a:pt x="13026" y="29"/>
                </a:lnTo>
                <a:lnTo>
                  <a:pt x="12947" y="29"/>
                </a:lnTo>
                <a:lnTo>
                  <a:pt x="12947" y="0"/>
                </a:lnTo>
                <a:moveTo>
                  <a:pt x="13079" y="0"/>
                </a:moveTo>
                <a:lnTo>
                  <a:pt x="13158" y="0"/>
                </a:lnTo>
                <a:lnTo>
                  <a:pt x="13158" y="29"/>
                </a:lnTo>
                <a:lnTo>
                  <a:pt x="13079" y="29"/>
                </a:lnTo>
                <a:lnTo>
                  <a:pt x="13079" y="0"/>
                </a:lnTo>
                <a:moveTo>
                  <a:pt x="13211" y="0"/>
                </a:moveTo>
                <a:lnTo>
                  <a:pt x="13290" y="0"/>
                </a:lnTo>
                <a:lnTo>
                  <a:pt x="13290" y="29"/>
                </a:lnTo>
                <a:lnTo>
                  <a:pt x="13211" y="29"/>
                </a:lnTo>
                <a:lnTo>
                  <a:pt x="13211" y="0"/>
                </a:lnTo>
                <a:moveTo>
                  <a:pt x="13343" y="0"/>
                </a:moveTo>
                <a:lnTo>
                  <a:pt x="13422" y="0"/>
                </a:lnTo>
                <a:lnTo>
                  <a:pt x="13422" y="29"/>
                </a:lnTo>
                <a:lnTo>
                  <a:pt x="13343" y="29"/>
                </a:lnTo>
                <a:lnTo>
                  <a:pt x="13343" y="0"/>
                </a:lnTo>
                <a:moveTo>
                  <a:pt x="13475" y="0"/>
                </a:moveTo>
                <a:lnTo>
                  <a:pt x="13554" y="0"/>
                </a:lnTo>
                <a:lnTo>
                  <a:pt x="13554" y="29"/>
                </a:lnTo>
                <a:lnTo>
                  <a:pt x="13475" y="29"/>
                </a:lnTo>
                <a:lnTo>
                  <a:pt x="13475" y="0"/>
                </a:lnTo>
                <a:moveTo>
                  <a:pt x="13607" y="0"/>
                </a:moveTo>
                <a:lnTo>
                  <a:pt x="13687" y="0"/>
                </a:lnTo>
                <a:lnTo>
                  <a:pt x="13687" y="29"/>
                </a:lnTo>
                <a:lnTo>
                  <a:pt x="13607" y="29"/>
                </a:lnTo>
                <a:lnTo>
                  <a:pt x="13607" y="0"/>
                </a:lnTo>
                <a:moveTo>
                  <a:pt x="13739" y="0"/>
                </a:moveTo>
                <a:lnTo>
                  <a:pt x="13819" y="0"/>
                </a:lnTo>
                <a:lnTo>
                  <a:pt x="13819" y="29"/>
                </a:lnTo>
                <a:lnTo>
                  <a:pt x="13739" y="29"/>
                </a:lnTo>
                <a:lnTo>
                  <a:pt x="13739" y="0"/>
                </a:lnTo>
                <a:moveTo>
                  <a:pt x="13871" y="0"/>
                </a:moveTo>
                <a:lnTo>
                  <a:pt x="13951" y="0"/>
                </a:lnTo>
                <a:lnTo>
                  <a:pt x="13951" y="29"/>
                </a:lnTo>
                <a:lnTo>
                  <a:pt x="13871" y="29"/>
                </a:lnTo>
                <a:lnTo>
                  <a:pt x="13871" y="0"/>
                </a:lnTo>
                <a:moveTo>
                  <a:pt x="14003" y="0"/>
                </a:moveTo>
                <a:lnTo>
                  <a:pt x="14083" y="0"/>
                </a:lnTo>
                <a:lnTo>
                  <a:pt x="14083" y="29"/>
                </a:lnTo>
                <a:lnTo>
                  <a:pt x="14003" y="29"/>
                </a:lnTo>
                <a:lnTo>
                  <a:pt x="14003" y="0"/>
                </a:lnTo>
                <a:moveTo>
                  <a:pt x="14136" y="0"/>
                </a:moveTo>
                <a:lnTo>
                  <a:pt x="14215" y="0"/>
                </a:lnTo>
                <a:lnTo>
                  <a:pt x="14215" y="29"/>
                </a:lnTo>
                <a:lnTo>
                  <a:pt x="14136" y="29"/>
                </a:lnTo>
                <a:lnTo>
                  <a:pt x="14136" y="0"/>
                </a:lnTo>
                <a:moveTo>
                  <a:pt x="14268" y="0"/>
                </a:moveTo>
                <a:lnTo>
                  <a:pt x="14347" y="0"/>
                </a:lnTo>
                <a:lnTo>
                  <a:pt x="14347" y="29"/>
                </a:lnTo>
                <a:lnTo>
                  <a:pt x="14268" y="29"/>
                </a:lnTo>
                <a:lnTo>
                  <a:pt x="14268" y="0"/>
                </a:lnTo>
                <a:moveTo>
                  <a:pt x="14400" y="0"/>
                </a:moveTo>
                <a:lnTo>
                  <a:pt x="14479" y="0"/>
                </a:lnTo>
                <a:lnTo>
                  <a:pt x="14479" y="29"/>
                </a:lnTo>
                <a:lnTo>
                  <a:pt x="14400" y="29"/>
                </a:lnTo>
                <a:lnTo>
                  <a:pt x="14400" y="0"/>
                </a:lnTo>
                <a:moveTo>
                  <a:pt x="14532" y="0"/>
                </a:moveTo>
                <a:lnTo>
                  <a:pt x="14611" y="0"/>
                </a:lnTo>
                <a:lnTo>
                  <a:pt x="14611" y="29"/>
                </a:lnTo>
                <a:lnTo>
                  <a:pt x="14532" y="29"/>
                </a:lnTo>
                <a:lnTo>
                  <a:pt x="14532" y="0"/>
                </a:lnTo>
                <a:moveTo>
                  <a:pt x="14664" y="0"/>
                </a:moveTo>
                <a:lnTo>
                  <a:pt x="14743" y="0"/>
                </a:lnTo>
                <a:lnTo>
                  <a:pt x="14743" y="29"/>
                </a:lnTo>
                <a:lnTo>
                  <a:pt x="14664" y="29"/>
                </a:lnTo>
                <a:lnTo>
                  <a:pt x="14664" y="0"/>
                </a:lnTo>
                <a:moveTo>
                  <a:pt x="14796" y="0"/>
                </a:moveTo>
                <a:lnTo>
                  <a:pt x="14875" y="0"/>
                </a:lnTo>
                <a:lnTo>
                  <a:pt x="14875" y="29"/>
                </a:lnTo>
                <a:lnTo>
                  <a:pt x="14796" y="29"/>
                </a:lnTo>
                <a:lnTo>
                  <a:pt x="14796" y="0"/>
                </a:lnTo>
                <a:moveTo>
                  <a:pt x="14928" y="0"/>
                </a:moveTo>
                <a:lnTo>
                  <a:pt x="15008" y="0"/>
                </a:lnTo>
                <a:lnTo>
                  <a:pt x="15008" y="29"/>
                </a:lnTo>
                <a:lnTo>
                  <a:pt x="14928" y="29"/>
                </a:lnTo>
                <a:lnTo>
                  <a:pt x="14928" y="0"/>
                </a:lnTo>
                <a:moveTo>
                  <a:pt x="15060" y="0"/>
                </a:moveTo>
                <a:lnTo>
                  <a:pt x="15140" y="0"/>
                </a:lnTo>
                <a:lnTo>
                  <a:pt x="15140" y="29"/>
                </a:lnTo>
                <a:lnTo>
                  <a:pt x="15060" y="29"/>
                </a:lnTo>
                <a:lnTo>
                  <a:pt x="15060" y="0"/>
                </a:lnTo>
                <a:moveTo>
                  <a:pt x="15192" y="0"/>
                </a:moveTo>
                <a:lnTo>
                  <a:pt x="15272" y="0"/>
                </a:lnTo>
                <a:lnTo>
                  <a:pt x="15272" y="29"/>
                </a:lnTo>
                <a:lnTo>
                  <a:pt x="15192" y="29"/>
                </a:lnTo>
                <a:lnTo>
                  <a:pt x="15192" y="0"/>
                </a:lnTo>
                <a:moveTo>
                  <a:pt x="15324" y="0"/>
                </a:moveTo>
                <a:lnTo>
                  <a:pt x="15404" y="0"/>
                </a:lnTo>
                <a:lnTo>
                  <a:pt x="15404" y="29"/>
                </a:lnTo>
                <a:lnTo>
                  <a:pt x="15324" y="29"/>
                </a:lnTo>
                <a:lnTo>
                  <a:pt x="15324" y="0"/>
                </a:lnTo>
                <a:moveTo>
                  <a:pt x="15457" y="0"/>
                </a:moveTo>
                <a:lnTo>
                  <a:pt x="15536" y="0"/>
                </a:lnTo>
                <a:lnTo>
                  <a:pt x="15536" y="29"/>
                </a:lnTo>
                <a:lnTo>
                  <a:pt x="15457" y="29"/>
                </a:lnTo>
                <a:lnTo>
                  <a:pt x="15457" y="0"/>
                </a:lnTo>
                <a:moveTo>
                  <a:pt x="15589" y="0"/>
                </a:moveTo>
                <a:lnTo>
                  <a:pt x="15668" y="0"/>
                </a:lnTo>
                <a:lnTo>
                  <a:pt x="15668" y="29"/>
                </a:lnTo>
                <a:lnTo>
                  <a:pt x="15589" y="29"/>
                </a:lnTo>
                <a:lnTo>
                  <a:pt x="15589" y="0"/>
                </a:lnTo>
                <a:moveTo>
                  <a:pt x="15721" y="0"/>
                </a:moveTo>
                <a:lnTo>
                  <a:pt x="15800" y="0"/>
                </a:lnTo>
                <a:lnTo>
                  <a:pt x="15800" y="29"/>
                </a:lnTo>
                <a:lnTo>
                  <a:pt x="15721" y="29"/>
                </a:lnTo>
                <a:lnTo>
                  <a:pt x="15721" y="0"/>
                </a:lnTo>
                <a:moveTo>
                  <a:pt x="15853" y="0"/>
                </a:moveTo>
                <a:lnTo>
                  <a:pt x="15932" y="0"/>
                </a:lnTo>
                <a:lnTo>
                  <a:pt x="15932" y="29"/>
                </a:lnTo>
                <a:lnTo>
                  <a:pt x="15853" y="29"/>
                </a:lnTo>
                <a:lnTo>
                  <a:pt x="15853" y="0"/>
                </a:lnTo>
                <a:moveTo>
                  <a:pt x="15985" y="0"/>
                </a:moveTo>
                <a:lnTo>
                  <a:pt x="16064" y="0"/>
                </a:lnTo>
                <a:lnTo>
                  <a:pt x="16064" y="29"/>
                </a:lnTo>
                <a:lnTo>
                  <a:pt x="15985" y="29"/>
                </a:lnTo>
                <a:lnTo>
                  <a:pt x="15985" y="0"/>
                </a:lnTo>
                <a:moveTo>
                  <a:pt x="16117" y="0"/>
                </a:moveTo>
                <a:lnTo>
                  <a:pt x="16196" y="0"/>
                </a:lnTo>
                <a:lnTo>
                  <a:pt x="16196" y="29"/>
                </a:lnTo>
                <a:lnTo>
                  <a:pt x="16117" y="29"/>
                </a:lnTo>
                <a:lnTo>
                  <a:pt x="16117" y="0"/>
                </a:lnTo>
                <a:moveTo>
                  <a:pt x="16249" y="0"/>
                </a:moveTo>
                <a:lnTo>
                  <a:pt x="16329" y="0"/>
                </a:lnTo>
                <a:lnTo>
                  <a:pt x="16329" y="29"/>
                </a:lnTo>
                <a:lnTo>
                  <a:pt x="16249" y="29"/>
                </a:lnTo>
                <a:lnTo>
                  <a:pt x="16249" y="0"/>
                </a:lnTo>
                <a:moveTo>
                  <a:pt x="16381" y="0"/>
                </a:moveTo>
                <a:lnTo>
                  <a:pt x="16461" y="0"/>
                </a:lnTo>
                <a:lnTo>
                  <a:pt x="16461" y="29"/>
                </a:lnTo>
                <a:lnTo>
                  <a:pt x="16381" y="29"/>
                </a:lnTo>
                <a:lnTo>
                  <a:pt x="16381" y="0"/>
                </a:lnTo>
                <a:moveTo>
                  <a:pt x="16513" y="0"/>
                </a:moveTo>
                <a:lnTo>
                  <a:pt x="16593" y="0"/>
                </a:lnTo>
                <a:lnTo>
                  <a:pt x="16593" y="29"/>
                </a:lnTo>
                <a:lnTo>
                  <a:pt x="16513" y="29"/>
                </a:lnTo>
                <a:lnTo>
                  <a:pt x="16513" y="0"/>
                </a:lnTo>
                <a:moveTo>
                  <a:pt x="16645" y="0"/>
                </a:moveTo>
                <a:lnTo>
                  <a:pt x="16725" y="0"/>
                </a:lnTo>
                <a:lnTo>
                  <a:pt x="16725" y="29"/>
                </a:lnTo>
                <a:lnTo>
                  <a:pt x="16645" y="29"/>
                </a:lnTo>
                <a:lnTo>
                  <a:pt x="16645" y="0"/>
                </a:lnTo>
                <a:moveTo>
                  <a:pt x="16778" y="0"/>
                </a:moveTo>
                <a:lnTo>
                  <a:pt x="16857" y="0"/>
                </a:lnTo>
                <a:lnTo>
                  <a:pt x="16857" y="29"/>
                </a:lnTo>
                <a:lnTo>
                  <a:pt x="16778" y="29"/>
                </a:lnTo>
                <a:lnTo>
                  <a:pt x="16778" y="0"/>
                </a:lnTo>
                <a:moveTo>
                  <a:pt x="16910" y="0"/>
                </a:moveTo>
                <a:lnTo>
                  <a:pt x="16989" y="0"/>
                </a:lnTo>
                <a:lnTo>
                  <a:pt x="16989" y="29"/>
                </a:lnTo>
                <a:lnTo>
                  <a:pt x="16910" y="29"/>
                </a:lnTo>
                <a:lnTo>
                  <a:pt x="16910" y="0"/>
                </a:lnTo>
                <a:moveTo>
                  <a:pt x="17042" y="0"/>
                </a:moveTo>
                <a:lnTo>
                  <a:pt x="17121" y="0"/>
                </a:lnTo>
                <a:lnTo>
                  <a:pt x="17121" y="29"/>
                </a:lnTo>
                <a:lnTo>
                  <a:pt x="17042" y="29"/>
                </a:lnTo>
                <a:lnTo>
                  <a:pt x="17042" y="0"/>
                </a:lnTo>
                <a:moveTo>
                  <a:pt x="17174" y="0"/>
                </a:moveTo>
                <a:lnTo>
                  <a:pt x="17253" y="0"/>
                </a:lnTo>
                <a:lnTo>
                  <a:pt x="17253" y="29"/>
                </a:lnTo>
                <a:lnTo>
                  <a:pt x="17174" y="29"/>
                </a:lnTo>
                <a:lnTo>
                  <a:pt x="17174" y="0"/>
                </a:lnTo>
                <a:moveTo>
                  <a:pt x="17306" y="0"/>
                </a:moveTo>
                <a:lnTo>
                  <a:pt x="17385" y="0"/>
                </a:lnTo>
                <a:lnTo>
                  <a:pt x="17385" y="29"/>
                </a:lnTo>
                <a:lnTo>
                  <a:pt x="17306" y="29"/>
                </a:lnTo>
                <a:lnTo>
                  <a:pt x="17306" y="0"/>
                </a:lnTo>
                <a:moveTo>
                  <a:pt x="17438" y="0"/>
                </a:moveTo>
                <a:lnTo>
                  <a:pt x="17517" y="0"/>
                </a:lnTo>
                <a:lnTo>
                  <a:pt x="17517" y="29"/>
                </a:lnTo>
                <a:lnTo>
                  <a:pt x="17438" y="29"/>
                </a:lnTo>
                <a:lnTo>
                  <a:pt x="17438" y="0"/>
                </a:lnTo>
                <a:moveTo>
                  <a:pt x="17570" y="0"/>
                </a:moveTo>
                <a:lnTo>
                  <a:pt x="17650" y="0"/>
                </a:lnTo>
                <a:lnTo>
                  <a:pt x="17650" y="29"/>
                </a:lnTo>
                <a:lnTo>
                  <a:pt x="17570" y="29"/>
                </a:lnTo>
                <a:lnTo>
                  <a:pt x="17570" y="0"/>
                </a:lnTo>
                <a:moveTo>
                  <a:pt x="17702" y="0"/>
                </a:moveTo>
                <a:lnTo>
                  <a:pt x="17782" y="0"/>
                </a:lnTo>
                <a:lnTo>
                  <a:pt x="17782" y="29"/>
                </a:lnTo>
                <a:lnTo>
                  <a:pt x="17702" y="29"/>
                </a:lnTo>
                <a:lnTo>
                  <a:pt x="17702" y="0"/>
                </a:lnTo>
                <a:moveTo>
                  <a:pt x="17834" y="0"/>
                </a:moveTo>
                <a:lnTo>
                  <a:pt x="17914" y="0"/>
                </a:lnTo>
                <a:lnTo>
                  <a:pt x="17914" y="29"/>
                </a:lnTo>
                <a:lnTo>
                  <a:pt x="17834" y="29"/>
                </a:lnTo>
                <a:lnTo>
                  <a:pt x="17834" y="0"/>
                </a:lnTo>
                <a:moveTo>
                  <a:pt x="17966" y="0"/>
                </a:moveTo>
                <a:lnTo>
                  <a:pt x="18046" y="0"/>
                </a:lnTo>
                <a:lnTo>
                  <a:pt x="18046" y="29"/>
                </a:lnTo>
                <a:lnTo>
                  <a:pt x="17966" y="29"/>
                </a:lnTo>
                <a:lnTo>
                  <a:pt x="17966" y="0"/>
                </a:lnTo>
                <a:moveTo>
                  <a:pt x="18099" y="0"/>
                </a:moveTo>
                <a:lnTo>
                  <a:pt x="18178" y="0"/>
                </a:lnTo>
                <a:lnTo>
                  <a:pt x="18178" y="29"/>
                </a:lnTo>
                <a:lnTo>
                  <a:pt x="18099" y="29"/>
                </a:lnTo>
                <a:lnTo>
                  <a:pt x="18099" y="0"/>
                </a:lnTo>
                <a:moveTo>
                  <a:pt x="18231" y="0"/>
                </a:moveTo>
                <a:lnTo>
                  <a:pt x="18310" y="0"/>
                </a:lnTo>
                <a:lnTo>
                  <a:pt x="18310" y="29"/>
                </a:lnTo>
                <a:lnTo>
                  <a:pt x="18231" y="29"/>
                </a:lnTo>
                <a:lnTo>
                  <a:pt x="18231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514440" y="6242040"/>
            <a:ext cx="6894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DCG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采用滚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2916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437120" y="6242040"/>
            <a:ext cx="796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算法：本年度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30868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词频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599200" y="6242040"/>
            <a:ext cx="12592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取本年度及前后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393048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词频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422100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45115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656960" y="6242040"/>
            <a:ext cx="9288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平均数，降低年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56736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5819040" y="6242040"/>
            <a:ext cx="9288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披露的异常偏差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895400" y="3876480"/>
            <a:ext cx="810000" cy="286200"/>
          </a:xfrm>
          <a:custGeom>
            <a:avLst/>
            <a:gdLst/>
            <a:ahLst/>
            <a:rect l="0" t="0" r="r" b="b"/>
            <a:pathLst>
              <a:path w="2250" h="795">
                <a:moveTo>
                  <a:pt x="0" y="0"/>
                </a:moveTo>
                <a:lnTo>
                  <a:pt x="2250" y="0"/>
                </a:lnTo>
                <a:lnTo>
                  <a:pt x="225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2705040" y="3876480"/>
            <a:ext cx="1648080" cy="286200"/>
          </a:xfrm>
          <a:custGeom>
            <a:avLst/>
            <a:gdLst/>
            <a:ahLst/>
            <a:rect l="0" t="0" r="r" b="b"/>
            <a:pathLst>
              <a:path w="4578" h="795">
                <a:moveTo>
                  <a:pt x="0" y="0"/>
                </a:moveTo>
                <a:lnTo>
                  <a:pt x="4578" y="0"/>
                </a:lnTo>
                <a:lnTo>
                  <a:pt x="457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4352760" y="3876480"/>
            <a:ext cx="5943960" cy="286200"/>
          </a:xfrm>
          <a:custGeom>
            <a:avLst/>
            <a:gdLst/>
            <a:ahLst/>
            <a:rect l="0" t="0" r="r" b="b"/>
            <a:pathLst>
              <a:path w="16511" h="795">
                <a:moveTo>
                  <a:pt x="0" y="0"/>
                </a:moveTo>
                <a:lnTo>
                  <a:pt x="16511" y="0"/>
                </a:lnTo>
                <a:lnTo>
                  <a:pt x="1651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895400" y="4162320"/>
            <a:ext cx="810000" cy="304920"/>
          </a:xfrm>
          <a:custGeom>
            <a:avLst/>
            <a:gdLst/>
            <a:ahLst/>
            <a:rect l="0" t="0" r="r" b="b"/>
            <a:pathLst>
              <a:path w="2250" h="847">
                <a:moveTo>
                  <a:pt x="0" y="0"/>
                </a:moveTo>
                <a:lnTo>
                  <a:pt x="2250" y="0"/>
                </a:lnTo>
                <a:lnTo>
                  <a:pt x="225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705040" y="4162320"/>
            <a:ext cx="1648080" cy="304920"/>
          </a:xfrm>
          <a:custGeom>
            <a:avLst/>
            <a:gdLst/>
            <a:ahLst/>
            <a:rect l="0" t="0" r="r" b="b"/>
            <a:pathLst>
              <a:path w="4578" h="847">
                <a:moveTo>
                  <a:pt x="0" y="0"/>
                </a:moveTo>
                <a:lnTo>
                  <a:pt x="4578" y="0"/>
                </a:lnTo>
                <a:lnTo>
                  <a:pt x="457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4352760" y="4162320"/>
            <a:ext cx="5943960" cy="304920"/>
          </a:xfrm>
          <a:custGeom>
            <a:avLst/>
            <a:gdLst/>
            <a:ahLst/>
            <a:rect l="0" t="0" r="r" b="b"/>
            <a:pathLst>
              <a:path w="16511" h="847">
                <a:moveTo>
                  <a:pt x="0" y="0"/>
                </a:moveTo>
                <a:lnTo>
                  <a:pt x="16511" y="0"/>
                </a:lnTo>
                <a:lnTo>
                  <a:pt x="1651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895400" y="4781520"/>
            <a:ext cx="810000" cy="304920"/>
          </a:xfrm>
          <a:custGeom>
            <a:avLst/>
            <a:gdLst/>
            <a:ahLst/>
            <a:rect l="0" t="0" r="r" b="b"/>
            <a:pathLst>
              <a:path w="2250" h="847">
                <a:moveTo>
                  <a:pt x="0" y="0"/>
                </a:moveTo>
                <a:lnTo>
                  <a:pt x="2250" y="0"/>
                </a:lnTo>
                <a:lnTo>
                  <a:pt x="225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2705040" y="4781520"/>
            <a:ext cx="1648080" cy="304920"/>
          </a:xfrm>
          <a:custGeom>
            <a:avLst/>
            <a:gdLst/>
            <a:ahLst/>
            <a:rect l="0" t="0" r="r" b="b"/>
            <a:pathLst>
              <a:path w="4578" h="847">
                <a:moveTo>
                  <a:pt x="0" y="0"/>
                </a:moveTo>
                <a:lnTo>
                  <a:pt x="4578" y="0"/>
                </a:lnTo>
                <a:lnTo>
                  <a:pt x="457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4352760" y="4781520"/>
            <a:ext cx="5943960" cy="304920"/>
          </a:xfrm>
          <a:custGeom>
            <a:avLst/>
            <a:gdLst/>
            <a:ahLst/>
            <a:rect l="0" t="0" r="r" b="b"/>
            <a:pathLst>
              <a:path w="16511" h="847">
                <a:moveTo>
                  <a:pt x="0" y="0"/>
                </a:moveTo>
                <a:lnTo>
                  <a:pt x="16511" y="0"/>
                </a:lnTo>
                <a:lnTo>
                  <a:pt x="1651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895400" y="387648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895400" y="387648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695320" y="387648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2705040" y="387648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4352760" y="387648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4362120" y="387648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0286640" y="387648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895400" y="415260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705040" y="415260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4362120" y="415260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895400" y="41623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695320" y="41623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4352760" y="41623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286640" y="41623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895400" y="447660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895400" y="446688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2695320" y="447660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2705040" y="446688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4352760" y="447660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4362120" y="446688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0286640" y="447660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895400" y="47815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895400" y="477180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2695320" y="47815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2705040" y="477180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4352760" y="47815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4362120" y="477180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0286640" y="47815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895400" y="509580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895400" y="508608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2695320" y="509580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2705040" y="5086080"/>
            <a:ext cx="1657440" cy="10080"/>
          </a:xfrm>
          <a:custGeom>
            <a:avLst/>
            <a:gdLst/>
            <a:ahLst/>
            <a:rect l="0" t="0" r="r" b="b"/>
            <a:pathLst>
              <a:path w="4604" h="28">
                <a:moveTo>
                  <a:pt x="0" y="0"/>
                </a:moveTo>
                <a:lnTo>
                  <a:pt x="4604" y="0"/>
                </a:lnTo>
                <a:lnTo>
                  <a:pt x="46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4352760" y="509580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4362120" y="508608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0286640" y="509580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895400" y="539100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2705040" y="5391000"/>
            <a:ext cx="1657440" cy="9720"/>
          </a:xfrm>
          <a:custGeom>
            <a:avLst/>
            <a:gdLst/>
            <a:ahLst/>
            <a:rect l="0" t="0" r="r" b="b"/>
            <a:pathLst>
              <a:path w="4604" h="27">
                <a:moveTo>
                  <a:pt x="0" y="0"/>
                </a:moveTo>
                <a:lnTo>
                  <a:pt x="4604" y="0"/>
                </a:lnTo>
                <a:lnTo>
                  <a:pt x="46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4362120" y="539100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38088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公式推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15026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导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1876320" y="929880"/>
            <a:ext cx="32515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一：基准双向固定效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52412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561492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模型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380880" y="1654200"/>
            <a:ext cx="2401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第一步：一般面板回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288828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316692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形式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4375080" y="228060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461772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467316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4484880" y="2350800"/>
            <a:ext cx="15300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 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4896360" y="228060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α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508140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5293080" y="2280600"/>
            <a:ext cx="2016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βx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568800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573228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5555160" y="2350800"/>
            <a:ext cx="15300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 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5944320" y="2280600"/>
            <a:ext cx="3276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γ Z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641268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45696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6070680" y="2203560"/>
            <a:ext cx="139680" cy="185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6279840" y="2350800"/>
            <a:ext cx="15300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 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6669000" y="228060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u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686556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690984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795360" y="235080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7121880" y="228060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λ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732276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7367040" y="223380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7250400" y="235080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7579080" y="228060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ε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7817040" y="241056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7684200" y="2350800"/>
            <a:ext cx="15300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 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380880" y="280656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第二步：代入本文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2610000" y="2765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2888280" y="2806560"/>
            <a:ext cx="2393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定，得到方程（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2413080" y="3461760"/>
            <a:ext cx="40752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DCG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3246840" y="359172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3302280" y="341496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293472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299484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304596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j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312336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317448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352548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3760200" y="359172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3804480" y="341496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366804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401652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251240" y="359172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251240" y="3461760"/>
            <a:ext cx="72216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5434200" y="359172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5478480" y="341496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415908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504756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510804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515880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5221440" y="3499200"/>
            <a:ext cx="207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6024600" y="3461760"/>
            <a:ext cx="47376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φC V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6509520" y="346212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6659640" y="341532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5690520" y="341496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7205760" y="3461760"/>
            <a:ext cx="2214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λY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7506720" y="3462120"/>
            <a:ext cx="20664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ea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772956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7881840" y="341532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871680" y="341496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8427960" y="346212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μ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856044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8728920" y="346212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880956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8917560" y="346212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m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9149400" y="341532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8093880" y="341496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9361440" y="346176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ε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9778680" y="359172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946656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952704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957780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j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655200" y="349920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9706320" y="353196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2214720" y="3917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3356640" y="39416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含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3528360" y="3917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808320" y="3917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6980040" y="39416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什么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323480" y="3917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495560" y="39416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667280" y="39171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3012840" y="4236840"/>
            <a:ext cx="96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核心待估系数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4492080" y="4217760"/>
            <a:ext cx="123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每增加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5889240" y="4193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单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6060960" y="4217760"/>
            <a:ext cx="971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位，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log(DCG)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7205040" y="419328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7548840" y="4217760"/>
            <a:ext cx="15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7824600" y="42177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7996320" y="41932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约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8168400" y="4217760"/>
            <a:ext cx="569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合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DCG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8787960" y="419328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131760" y="4217760"/>
            <a:ext cx="15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2841120" y="4541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3012840" y="45169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3356640" y="454140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量滞后一期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5605200" y="4516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5777280" y="4541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5949000" y="4516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6120720" y="454140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型好的企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6807960" y="4516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6980040" y="4541400"/>
            <a:ext cx="192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更吸引金融科技的反向因果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3012840" y="48315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3356640" y="48560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固定效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3872160" y="48315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6035040" y="48560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吸收宏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6550560" y="483156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观经济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7066080" y="485604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周期等共同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7925040" y="48315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8268840" y="48560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8440560" y="48315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击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3012840" y="5160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3184560" y="5136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3356640" y="5160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固定效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3872160" y="5136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5862960" y="5160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吸收企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6378480" y="5136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6550560" y="516060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固有、不随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7409520" y="513612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时间变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7925040" y="5160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化的异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8440560" y="5136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8612280" y="5160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2186640" y="4228200"/>
            <a:ext cx="19332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2414520" y="435348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2325240" y="426528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7596720" y="4228200"/>
            <a:ext cx="19332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7824600" y="435348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7735320" y="426528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9179640" y="4228200"/>
            <a:ext cx="19332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9407520" y="435348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9450720" y="4182840"/>
            <a:ext cx="193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×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9318240" y="426528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7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9656280" y="4182840"/>
            <a:ext cx="554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100%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2081160" y="4542480"/>
            <a:ext cx="19332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2206080" y="4497120"/>
            <a:ext cx="347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− 1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2056320" y="4847400"/>
            <a:ext cx="47232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Y ear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2036520" y="5161680"/>
            <a:ext cx="477000" cy="19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3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irm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38088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公式推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15026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导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187632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二：溢出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33717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374580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同与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449352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524124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效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56149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380880" y="1654200"/>
            <a:ext cx="4001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引入外省金融科技强度，构造交互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456012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4838760" y="1654200"/>
            <a:ext cx="21268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，得到方程（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384840" y="2299320"/>
            <a:ext cx="349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DCG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109944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114696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83196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88344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92700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j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99360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103716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133812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53936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157716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146052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175896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196020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1960200" y="2299320"/>
            <a:ext cx="618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297396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301212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188136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264276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269460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273816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2791800" y="2331000"/>
            <a:ext cx="1782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319356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339480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3500280" y="2299320"/>
            <a:ext cx="618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451440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455220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4734000" y="2299320"/>
            <a:ext cx="1029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intechP 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615960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627480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331596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342360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418320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423468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427824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4331880" y="2331000"/>
            <a:ext cx="1782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582840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588024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592380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5977440" y="2331000"/>
            <a:ext cx="1782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615960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645624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665748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6657480" y="2299320"/>
            <a:ext cx="1029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intechP 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808344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8121240" y="225900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657864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3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775224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780372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784728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7900920" y="2331000"/>
            <a:ext cx="1782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8589240" y="2299320"/>
            <a:ext cx="405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φC 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9005040" y="2299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9133560" y="225936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8303040" y="2259000"/>
            <a:ext cx="17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9601560" y="2299320"/>
            <a:ext cx="189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λY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9859680" y="2299680"/>
            <a:ext cx="17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ea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1005084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10181160" y="225936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9315360" y="2259000"/>
            <a:ext cx="17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10649160" y="2299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1076292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10906920" y="2299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1097640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11068920" y="2299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11267640" y="225936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0362960" y="2259000"/>
            <a:ext cx="17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KaTeX_Size2"/>
                <a:ea typeface="KaTeX_Size2"/>
              </a:rPr>
              <a:t>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11449440" y="22993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11806920" y="2410560"/>
            <a:ext cx="792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1153944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1159128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1163484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j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11701080" y="2331000"/>
            <a:ext cx="119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11745000" y="2359440"/>
            <a:ext cx="11952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39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380880" y="2784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659520" y="2825640"/>
            <a:ext cx="3727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方程（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）就本地金融科技求偏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4450680" y="2784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4729320" y="282564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5286600" y="27849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5843880" y="28256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6122520" y="2784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5366160" y="367740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5436000" y="349884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4011120" y="363384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4173480" y="3681000"/>
            <a:ext cx="72216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5356800" y="381060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4970160" y="375120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5030280" y="37180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5081400" y="375120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4009680" y="3628800"/>
            <a:ext cx="1343520" cy="10080"/>
          </a:xfrm>
          <a:custGeom>
            <a:avLst/>
            <a:gdLst/>
            <a:ahLst/>
            <a:rect l="0" t="0" r="r" b="b"/>
            <a:pathLst>
              <a:path w="3732" h="28">
                <a:moveTo>
                  <a:pt x="0" y="0"/>
                </a:moveTo>
                <a:lnTo>
                  <a:pt x="3732" y="0"/>
                </a:lnTo>
                <a:lnTo>
                  <a:pt x="3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5143680" y="3718080"/>
            <a:ext cx="207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4185720" y="336708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4348440" y="3414240"/>
            <a:ext cx="40752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DCG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5181840" y="353448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4869720" y="348444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4930200" y="3451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4980960" y="348444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j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5058360" y="345132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5109480" y="348444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5659200" y="354744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5893920" y="367740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5938200" y="3500640"/>
            <a:ext cx="1998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5801760" y="3584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6150240" y="3547440"/>
            <a:ext cx="19980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6384960" y="367740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6429240" y="3500640"/>
            <a:ext cx="19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⋅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6292800" y="3584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6541200" y="3547440"/>
            <a:ext cx="1203120" cy="19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F intechP eer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8204760" y="367740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7818120" y="361764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7878600" y="3584880"/>
            <a:ext cx="13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7929360" y="3617640"/>
            <a:ext cx="139680" cy="13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495000" y="4286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7992000" y="3584880"/>
            <a:ext cx="207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−1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762120" y="41565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1319040" y="4197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1597680" y="41565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1876320" y="4197240"/>
            <a:ext cx="453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不再是常数，而是随外省金融科技强度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6612840" y="41565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6891480" y="419724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化的一条直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95000" y="4733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8284320" y="41565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线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762120" y="4645080"/>
            <a:ext cx="346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若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2091960" y="4645080"/>
            <a:ext cx="42678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：外省金融科技越强，本地金融科技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6549480" y="4604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6828120" y="46450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7106760" y="4604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7385400" y="46450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8221320" y="4604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8499960" y="46450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9057240" y="4604040"/>
            <a:ext cx="10674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边际驱动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95000" y="5219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10171440" y="46450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力越大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762120" y="5090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1040760" y="51307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正是溢出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2154960" y="5090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2433600" y="513072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同而非相互拮抗的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4662360" y="50900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4941000" y="513072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量表达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1112400" y="4662720"/>
            <a:ext cx="3222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4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φ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1566000" y="4586760"/>
            <a:ext cx="32220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4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&gt;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1335600" y="4724280"/>
            <a:ext cx="22536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7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380880" y="6210000"/>
            <a:ext cx="6277320" cy="10440"/>
          </a:xfrm>
          <a:custGeom>
            <a:avLst/>
            <a:gdLst/>
            <a:ahLst/>
            <a:rect l="0" t="0" r="r" b="b"/>
            <a:pathLst>
              <a:path w="17437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9"/>
                </a:lnTo>
                <a:lnTo>
                  <a:pt x="132" y="29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9"/>
                </a:lnTo>
                <a:lnTo>
                  <a:pt x="397" y="29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9"/>
                </a:lnTo>
                <a:lnTo>
                  <a:pt x="530" y="29"/>
                </a:lnTo>
                <a:lnTo>
                  <a:pt x="530" y="0"/>
                </a:lnTo>
                <a:moveTo>
                  <a:pt x="662" y="0"/>
                </a:moveTo>
                <a:lnTo>
                  <a:pt x="742" y="0"/>
                </a:lnTo>
                <a:lnTo>
                  <a:pt x="742" y="29"/>
                </a:lnTo>
                <a:lnTo>
                  <a:pt x="662" y="29"/>
                </a:lnTo>
                <a:lnTo>
                  <a:pt x="662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9"/>
                </a:lnTo>
                <a:lnTo>
                  <a:pt x="795" y="29"/>
                </a:lnTo>
                <a:lnTo>
                  <a:pt x="795" y="0"/>
                </a:lnTo>
                <a:moveTo>
                  <a:pt x="927" y="0"/>
                </a:moveTo>
                <a:lnTo>
                  <a:pt x="1007" y="0"/>
                </a:lnTo>
                <a:lnTo>
                  <a:pt x="1007" y="29"/>
                </a:lnTo>
                <a:lnTo>
                  <a:pt x="927" y="29"/>
                </a:lnTo>
                <a:lnTo>
                  <a:pt x="927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9"/>
                </a:lnTo>
                <a:lnTo>
                  <a:pt x="1060" y="29"/>
                </a:lnTo>
                <a:lnTo>
                  <a:pt x="1060" y="0"/>
                </a:lnTo>
                <a:moveTo>
                  <a:pt x="1192" y="0"/>
                </a:moveTo>
                <a:lnTo>
                  <a:pt x="1272" y="0"/>
                </a:lnTo>
                <a:lnTo>
                  <a:pt x="1272" y="29"/>
                </a:lnTo>
                <a:lnTo>
                  <a:pt x="1192" y="29"/>
                </a:lnTo>
                <a:lnTo>
                  <a:pt x="1192" y="0"/>
                </a:lnTo>
                <a:moveTo>
                  <a:pt x="1325" y="0"/>
                </a:moveTo>
                <a:lnTo>
                  <a:pt x="1404" y="0"/>
                </a:lnTo>
                <a:lnTo>
                  <a:pt x="1404" y="29"/>
                </a:lnTo>
                <a:lnTo>
                  <a:pt x="1325" y="29"/>
                </a:lnTo>
                <a:lnTo>
                  <a:pt x="1325" y="0"/>
                </a:lnTo>
                <a:moveTo>
                  <a:pt x="1457" y="0"/>
                </a:moveTo>
                <a:lnTo>
                  <a:pt x="1537" y="0"/>
                </a:lnTo>
                <a:lnTo>
                  <a:pt x="1537" y="29"/>
                </a:lnTo>
                <a:lnTo>
                  <a:pt x="1457" y="29"/>
                </a:lnTo>
                <a:lnTo>
                  <a:pt x="1457" y="0"/>
                </a:lnTo>
                <a:moveTo>
                  <a:pt x="1590" y="0"/>
                </a:moveTo>
                <a:lnTo>
                  <a:pt x="1669" y="0"/>
                </a:lnTo>
                <a:lnTo>
                  <a:pt x="1669" y="29"/>
                </a:lnTo>
                <a:lnTo>
                  <a:pt x="1590" y="29"/>
                </a:lnTo>
                <a:lnTo>
                  <a:pt x="1590" y="0"/>
                </a:lnTo>
                <a:moveTo>
                  <a:pt x="1722" y="0"/>
                </a:moveTo>
                <a:lnTo>
                  <a:pt x="1802" y="0"/>
                </a:lnTo>
                <a:lnTo>
                  <a:pt x="1802" y="29"/>
                </a:lnTo>
                <a:lnTo>
                  <a:pt x="1722" y="29"/>
                </a:lnTo>
                <a:lnTo>
                  <a:pt x="1722" y="0"/>
                </a:lnTo>
                <a:moveTo>
                  <a:pt x="1855" y="0"/>
                </a:moveTo>
                <a:lnTo>
                  <a:pt x="1934" y="0"/>
                </a:lnTo>
                <a:lnTo>
                  <a:pt x="1934" y="29"/>
                </a:lnTo>
                <a:lnTo>
                  <a:pt x="1855" y="29"/>
                </a:lnTo>
                <a:lnTo>
                  <a:pt x="1855" y="0"/>
                </a:lnTo>
                <a:moveTo>
                  <a:pt x="1987" y="0"/>
                </a:moveTo>
                <a:lnTo>
                  <a:pt x="2067" y="0"/>
                </a:lnTo>
                <a:lnTo>
                  <a:pt x="2067" y="29"/>
                </a:lnTo>
                <a:lnTo>
                  <a:pt x="1987" y="29"/>
                </a:lnTo>
                <a:lnTo>
                  <a:pt x="1987" y="0"/>
                </a:lnTo>
                <a:moveTo>
                  <a:pt x="2120" y="0"/>
                </a:moveTo>
                <a:lnTo>
                  <a:pt x="2199" y="0"/>
                </a:lnTo>
                <a:lnTo>
                  <a:pt x="2199" y="29"/>
                </a:lnTo>
                <a:lnTo>
                  <a:pt x="2120" y="29"/>
                </a:lnTo>
                <a:lnTo>
                  <a:pt x="2120" y="0"/>
                </a:lnTo>
                <a:moveTo>
                  <a:pt x="2252" y="0"/>
                </a:moveTo>
                <a:lnTo>
                  <a:pt x="2332" y="0"/>
                </a:lnTo>
                <a:lnTo>
                  <a:pt x="2332" y="29"/>
                </a:lnTo>
                <a:lnTo>
                  <a:pt x="2252" y="29"/>
                </a:lnTo>
                <a:lnTo>
                  <a:pt x="2252" y="0"/>
                </a:lnTo>
                <a:moveTo>
                  <a:pt x="2385" y="0"/>
                </a:moveTo>
                <a:lnTo>
                  <a:pt x="2464" y="0"/>
                </a:lnTo>
                <a:lnTo>
                  <a:pt x="2464" y="29"/>
                </a:lnTo>
                <a:lnTo>
                  <a:pt x="2385" y="29"/>
                </a:lnTo>
                <a:lnTo>
                  <a:pt x="2385" y="0"/>
                </a:lnTo>
                <a:moveTo>
                  <a:pt x="2517" y="0"/>
                </a:moveTo>
                <a:lnTo>
                  <a:pt x="2597" y="0"/>
                </a:lnTo>
                <a:lnTo>
                  <a:pt x="2597" y="29"/>
                </a:lnTo>
                <a:lnTo>
                  <a:pt x="2517" y="29"/>
                </a:lnTo>
                <a:lnTo>
                  <a:pt x="2517" y="0"/>
                </a:lnTo>
                <a:moveTo>
                  <a:pt x="2650" y="0"/>
                </a:moveTo>
                <a:lnTo>
                  <a:pt x="2729" y="0"/>
                </a:lnTo>
                <a:lnTo>
                  <a:pt x="2729" y="29"/>
                </a:lnTo>
                <a:lnTo>
                  <a:pt x="2650" y="29"/>
                </a:lnTo>
                <a:lnTo>
                  <a:pt x="2650" y="0"/>
                </a:lnTo>
                <a:moveTo>
                  <a:pt x="2782" y="0"/>
                </a:moveTo>
                <a:lnTo>
                  <a:pt x="2862" y="0"/>
                </a:lnTo>
                <a:lnTo>
                  <a:pt x="2862" y="29"/>
                </a:lnTo>
                <a:lnTo>
                  <a:pt x="2782" y="29"/>
                </a:lnTo>
                <a:lnTo>
                  <a:pt x="2782" y="0"/>
                </a:lnTo>
                <a:moveTo>
                  <a:pt x="2915" y="0"/>
                </a:moveTo>
                <a:lnTo>
                  <a:pt x="2994" y="0"/>
                </a:lnTo>
                <a:lnTo>
                  <a:pt x="2994" y="29"/>
                </a:lnTo>
                <a:lnTo>
                  <a:pt x="2915" y="29"/>
                </a:lnTo>
                <a:lnTo>
                  <a:pt x="2915" y="0"/>
                </a:lnTo>
                <a:moveTo>
                  <a:pt x="3047" y="0"/>
                </a:moveTo>
                <a:lnTo>
                  <a:pt x="3127" y="0"/>
                </a:lnTo>
                <a:lnTo>
                  <a:pt x="3127" y="29"/>
                </a:lnTo>
                <a:lnTo>
                  <a:pt x="3047" y="29"/>
                </a:lnTo>
                <a:lnTo>
                  <a:pt x="3047" y="0"/>
                </a:lnTo>
                <a:moveTo>
                  <a:pt x="3180" y="0"/>
                </a:moveTo>
                <a:lnTo>
                  <a:pt x="3259" y="0"/>
                </a:lnTo>
                <a:lnTo>
                  <a:pt x="3259" y="29"/>
                </a:lnTo>
                <a:lnTo>
                  <a:pt x="3180" y="29"/>
                </a:lnTo>
                <a:lnTo>
                  <a:pt x="3180" y="0"/>
                </a:lnTo>
                <a:moveTo>
                  <a:pt x="3312" y="0"/>
                </a:moveTo>
                <a:lnTo>
                  <a:pt x="3392" y="0"/>
                </a:lnTo>
                <a:lnTo>
                  <a:pt x="3392" y="29"/>
                </a:lnTo>
                <a:lnTo>
                  <a:pt x="3312" y="29"/>
                </a:lnTo>
                <a:lnTo>
                  <a:pt x="3312" y="0"/>
                </a:lnTo>
                <a:moveTo>
                  <a:pt x="3445" y="0"/>
                </a:moveTo>
                <a:lnTo>
                  <a:pt x="3524" y="0"/>
                </a:lnTo>
                <a:lnTo>
                  <a:pt x="3524" y="29"/>
                </a:lnTo>
                <a:lnTo>
                  <a:pt x="3445" y="29"/>
                </a:lnTo>
                <a:lnTo>
                  <a:pt x="3445" y="0"/>
                </a:lnTo>
                <a:moveTo>
                  <a:pt x="3577" y="0"/>
                </a:moveTo>
                <a:lnTo>
                  <a:pt x="3657" y="0"/>
                </a:lnTo>
                <a:lnTo>
                  <a:pt x="3657" y="29"/>
                </a:lnTo>
                <a:lnTo>
                  <a:pt x="3577" y="29"/>
                </a:lnTo>
                <a:lnTo>
                  <a:pt x="3577" y="0"/>
                </a:lnTo>
                <a:moveTo>
                  <a:pt x="3710" y="0"/>
                </a:moveTo>
                <a:lnTo>
                  <a:pt x="3789" y="0"/>
                </a:lnTo>
                <a:lnTo>
                  <a:pt x="3789" y="29"/>
                </a:lnTo>
                <a:lnTo>
                  <a:pt x="3710" y="29"/>
                </a:lnTo>
                <a:lnTo>
                  <a:pt x="3710" y="0"/>
                </a:lnTo>
                <a:moveTo>
                  <a:pt x="3842" y="0"/>
                </a:moveTo>
                <a:lnTo>
                  <a:pt x="3922" y="0"/>
                </a:lnTo>
                <a:lnTo>
                  <a:pt x="3922" y="29"/>
                </a:lnTo>
                <a:lnTo>
                  <a:pt x="3842" y="29"/>
                </a:lnTo>
                <a:lnTo>
                  <a:pt x="3842" y="0"/>
                </a:lnTo>
                <a:moveTo>
                  <a:pt x="3975" y="0"/>
                </a:moveTo>
                <a:lnTo>
                  <a:pt x="4054" y="0"/>
                </a:lnTo>
                <a:lnTo>
                  <a:pt x="4054" y="29"/>
                </a:lnTo>
                <a:lnTo>
                  <a:pt x="3975" y="29"/>
                </a:lnTo>
                <a:lnTo>
                  <a:pt x="3975" y="0"/>
                </a:lnTo>
                <a:moveTo>
                  <a:pt x="4107" y="0"/>
                </a:moveTo>
                <a:lnTo>
                  <a:pt x="4187" y="0"/>
                </a:lnTo>
                <a:lnTo>
                  <a:pt x="4187" y="29"/>
                </a:lnTo>
                <a:lnTo>
                  <a:pt x="4107" y="29"/>
                </a:lnTo>
                <a:lnTo>
                  <a:pt x="4107" y="0"/>
                </a:lnTo>
                <a:moveTo>
                  <a:pt x="4240" y="0"/>
                </a:moveTo>
                <a:lnTo>
                  <a:pt x="4319" y="0"/>
                </a:lnTo>
                <a:lnTo>
                  <a:pt x="4319" y="29"/>
                </a:lnTo>
                <a:lnTo>
                  <a:pt x="4240" y="29"/>
                </a:lnTo>
                <a:lnTo>
                  <a:pt x="4240" y="0"/>
                </a:lnTo>
                <a:moveTo>
                  <a:pt x="4372" y="0"/>
                </a:moveTo>
                <a:lnTo>
                  <a:pt x="4451" y="0"/>
                </a:lnTo>
                <a:lnTo>
                  <a:pt x="4451" y="29"/>
                </a:lnTo>
                <a:lnTo>
                  <a:pt x="4372" y="29"/>
                </a:lnTo>
                <a:lnTo>
                  <a:pt x="4372" y="0"/>
                </a:lnTo>
                <a:moveTo>
                  <a:pt x="4505" y="0"/>
                </a:moveTo>
                <a:lnTo>
                  <a:pt x="4584" y="0"/>
                </a:lnTo>
                <a:lnTo>
                  <a:pt x="4584" y="29"/>
                </a:lnTo>
                <a:lnTo>
                  <a:pt x="4505" y="29"/>
                </a:lnTo>
                <a:lnTo>
                  <a:pt x="4505" y="0"/>
                </a:lnTo>
                <a:moveTo>
                  <a:pt x="4637" y="0"/>
                </a:moveTo>
                <a:lnTo>
                  <a:pt x="4716" y="0"/>
                </a:lnTo>
                <a:lnTo>
                  <a:pt x="4716" y="29"/>
                </a:lnTo>
                <a:lnTo>
                  <a:pt x="4637" y="29"/>
                </a:lnTo>
                <a:lnTo>
                  <a:pt x="4637" y="0"/>
                </a:lnTo>
                <a:moveTo>
                  <a:pt x="4770" y="0"/>
                </a:moveTo>
                <a:lnTo>
                  <a:pt x="4849" y="0"/>
                </a:lnTo>
                <a:lnTo>
                  <a:pt x="4849" y="29"/>
                </a:lnTo>
                <a:lnTo>
                  <a:pt x="4770" y="29"/>
                </a:lnTo>
                <a:lnTo>
                  <a:pt x="4770" y="0"/>
                </a:lnTo>
                <a:moveTo>
                  <a:pt x="4902" y="0"/>
                </a:moveTo>
                <a:lnTo>
                  <a:pt x="4981" y="0"/>
                </a:lnTo>
                <a:lnTo>
                  <a:pt x="4981" y="29"/>
                </a:lnTo>
                <a:lnTo>
                  <a:pt x="4902" y="29"/>
                </a:lnTo>
                <a:lnTo>
                  <a:pt x="4902" y="0"/>
                </a:lnTo>
                <a:moveTo>
                  <a:pt x="5035" y="0"/>
                </a:moveTo>
                <a:lnTo>
                  <a:pt x="5114" y="0"/>
                </a:lnTo>
                <a:lnTo>
                  <a:pt x="5114" y="29"/>
                </a:lnTo>
                <a:lnTo>
                  <a:pt x="5035" y="29"/>
                </a:lnTo>
                <a:lnTo>
                  <a:pt x="5035" y="0"/>
                </a:lnTo>
                <a:moveTo>
                  <a:pt x="5167" y="0"/>
                </a:moveTo>
                <a:lnTo>
                  <a:pt x="5246" y="0"/>
                </a:lnTo>
                <a:lnTo>
                  <a:pt x="5246" y="29"/>
                </a:lnTo>
                <a:lnTo>
                  <a:pt x="5167" y="29"/>
                </a:lnTo>
                <a:lnTo>
                  <a:pt x="5167" y="0"/>
                </a:lnTo>
                <a:moveTo>
                  <a:pt x="5300" y="0"/>
                </a:moveTo>
                <a:lnTo>
                  <a:pt x="5379" y="0"/>
                </a:lnTo>
                <a:lnTo>
                  <a:pt x="5379" y="29"/>
                </a:lnTo>
                <a:lnTo>
                  <a:pt x="5300" y="29"/>
                </a:lnTo>
                <a:lnTo>
                  <a:pt x="5300" y="0"/>
                </a:lnTo>
                <a:moveTo>
                  <a:pt x="5432" y="0"/>
                </a:moveTo>
                <a:lnTo>
                  <a:pt x="5511" y="0"/>
                </a:lnTo>
                <a:lnTo>
                  <a:pt x="5511" y="29"/>
                </a:lnTo>
                <a:lnTo>
                  <a:pt x="5432" y="29"/>
                </a:lnTo>
                <a:lnTo>
                  <a:pt x="5432" y="0"/>
                </a:lnTo>
                <a:moveTo>
                  <a:pt x="5565" y="0"/>
                </a:moveTo>
                <a:lnTo>
                  <a:pt x="5644" y="0"/>
                </a:lnTo>
                <a:lnTo>
                  <a:pt x="5644" y="29"/>
                </a:lnTo>
                <a:lnTo>
                  <a:pt x="5565" y="29"/>
                </a:lnTo>
                <a:lnTo>
                  <a:pt x="5565" y="0"/>
                </a:lnTo>
                <a:moveTo>
                  <a:pt x="5697" y="0"/>
                </a:moveTo>
                <a:lnTo>
                  <a:pt x="5776" y="0"/>
                </a:lnTo>
                <a:lnTo>
                  <a:pt x="5776" y="29"/>
                </a:lnTo>
                <a:lnTo>
                  <a:pt x="5697" y="29"/>
                </a:lnTo>
                <a:lnTo>
                  <a:pt x="5697" y="0"/>
                </a:lnTo>
                <a:moveTo>
                  <a:pt x="5830" y="0"/>
                </a:moveTo>
                <a:lnTo>
                  <a:pt x="5909" y="0"/>
                </a:lnTo>
                <a:lnTo>
                  <a:pt x="5909" y="29"/>
                </a:lnTo>
                <a:lnTo>
                  <a:pt x="5830" y="29"/>
                </a:lnTo>
                <a:lnTo>
                  <a:pt x="5830" y="0"/>
                </a:lnTo>
                <a:moveTo>
                  <a:pt x="5962" y="0"/>
                </a:moveTo>
                <a:lnTo>
                  <a:pt x="6041" y="0"/>
                </a:lnTo>
                <a:lnTo>
                  <a:pt x="6041" y="29"/>
                </a:lnTo>
                <a:lnTo>
                  <a:pt x="5962" y="29"/>
                </a:lnTo>
                <a:lnTo>
                  <a:pt x="5962" y="0"/>
                </a:lnTo>
                <a:moveTo>
                  <a:pt x="6095" y="0"/>
                </a:moveTo>
                <a:lnTo>
                  <a:pt x="6174" y="0"/>
                </a:lnTo>
                <a:lnTo>
                  <a:pt x="6174" y="29"/>
                </a:lnTo>
                <a:lnTo>
                  <a:pt x="6095" y="29"/>
                </a:lnTo>
                <a:lnTo>
                  <a:pt x="6095" y="0"/>
                </a:lnTo>
                <a:moveTo>
                  <a:pt x="6227" y="0"/>
                </a:moveTo>
                <a:lnTo>
                  <a:pt x="6306" y="0"/>
                </a:lnTo>
                <a:lnTo>
                  <a:pt x="6306" y="29"/>
                </a:lnTo>
                <a:lnTo>
                  <a:pt x="6227" y="29"/>
                </a:lnTo>
                <a:lnTo>
                  <a:pt x="6227" y="0"/>
                </a:lnTo>
                <a:moveTo>
                  <a:pt x="6360" y="0"/>
                </a:moveTo>
                <a:lnTo>
                  <a:pt x="6439" y="0"/>
                </a:lnTo>
                <a:lnTo>
                  <a:pt x="6439" y="29"/>
                </a:lnTo>
                <a:lnTo>
                  <a:pt x="6360" y="29"/>
                </a:lnTo>
                <a:lnTo>
                  <a:pt x="6360" y="0"/>
                </a:lnTo>
                <a:moveTo>
                  <a:pt x="6492" y="0"/>
                </a:moveTo>
                <a:lnTo>
                  <a:pt x="6571" y="0"/>
                </a:lnTo>
                <a:lnTo>
                  <a:pt x="6571" y="29"/>
                </a:lnTo>
                <a:lnTo>
                  <a:pt x="6492" y="29"/>
                </a:lnTo>
                <a:lnTo>
                  <a:pt x="6492" y="0"/>
                </a:lnTo>
                <a:moveTo>
                  <a:pt x="6625" y="0"/>
                </a:moveTo>
                <a:lnTo>
                  <a:pt x="6704" y="0"/>
                </a:lnTo>
                <a:lnTo>
                  <a:pt x="6704" y="29"/>
                </a:lnTo>
                <a:lnTo>
                  <a:pt x="6625" y="29"/>
                </a:lnTo>
                <a:lnTo>
                  <a:pt x="6625" y="0"/>
                </a:lnTo>
                <a:moveTo>
                  <a:pt x="6757" y="0"/>
                </a:moveTo>
                <a:lnTo>
                  <a:pt x="6836" y="0"/>
                </a:lnTo>
                <a:lnTo>
                  <a:pt x="6836" y="29"/>
                </a:lnTo>
                <a:lnTo>
                  <a:pt x="6757" y="29"/>
                </a:lnTo>
                <a:lnTo>
                  <a:pt x="6757" y="0"/>
                </a:lnTo>
                <a:moveTo>
                  <a:pt x="6890" y="0"/>
                </a:moveTo>
                <a:lnTo>
                  <a:pt x="6969" y="0"/>
                </a:lnTo>
                <a:lnTo>
                  <a:pt x="6969" y="29"/>
                </a:lnTo>
                <a:lnTo>
                  <a:pt x="6890" y="29"/>
                </a:lnTo>
                <a:lnTo>
                  <a:pt x="6890" y="0"/>
                </a:lnTo>
                <a:moveTo>
                  <a:pt x="7022" y="0"/>
                </a:moveTo>
                <a:lnTo>
                  <a:pt x="7101" y="0"/>
                </a:lnTo>
                <a:lnTo>
                  <a:pt x="7101" y="29"/>
                </a:lnTo>
                <a:lnTo>
                  <a:pt x="7022" y="29"/>
                </a:lnTo>
                <a:lnTo>
                  <a:pt x="7022" y="0"/>
                </a:lnTo>
                <a:moveTo>
                  <a:pt x="7154" y="0"/>
                </a:moveTo>
                <a:lnTo>
                  <a:pt x="7234" y="0"/>
                </a:lnTo>
                <a:lnTo>
                  <a:pt x="7234" y="29"/>
                </a:lnTo>
                <a:lnTo>
                  <a:pt x="7154" y="29"/>
                </a:lnTo>
                <a:lnTo>
                  <a:pt x="7154" y="0"/>
                </a:lnTo>
                <a:moveTo>
                  <a:pt x="7287" y="0"/>
                </a:moveTo>
                <a:lnTo>
                  <a:pt x="7366" y="0"/>
                </a:lnTo>
                <a:lnTo>
                  <a:pt x="7366" y="29"/>
                </a:lnTo>
                <a:lnTo>
                  <a:pt x="7287" y="29"/>
                </a:lnTo>
                <a:lnTo>
                  <a:pt x="7287" y="0"/>
                </a:lnTo>
                <a:moveTo>
                  <a:pt x="7419" y="0"/>
                </a:moveTo>
                <a:lnTo>
                  <a:pt x="7499" y="0"/>
                </a:lnTo>
                <a:lnTo>
                  <a:pt x="7499" y="29"/>
                </a:lnTo>
                <a:lnTo>
                  <a:pt x="7419" y="29"/>
                </a:lnTo>
                <a:lnTo>
                  <a:pt x="7419" y="0"/>
                </a:lnTo>
                <a:moveTo>
                  <a:pt x="7552" y="0"/>
                </a:moveTo>
                <a:lnTo>
                  <a:pt x="7631" y="0"/>
                </a:lnTo>
                <a:lnTo>
                  <a:pt x="7631" y="29"/>
                </a:lnTo>
                <a:lnTo>
                  <a:pt x="7552" y="29"/>
                </a:lnTo>
                <a:lnTo>
                  <a:pt x="7552" y="0"/>
                </a:lnTo>
                <a:moveTo>
                  <a:pt x="7685" y="0"/>
                </a:moveTo>
                <a:lnTo>
                  <a:pt x="7765" y="0"/>
                </a:lnTo>
                <a:lnTo>
                  <a:pt x="7765" y="29"/>
                </a:lnTo>
                <a:lnTo>
                  <a:pt x="7685" y="29"/>
                </a:lnTo>
                <a:lnTo>
                  <a:pt x="7685" y="0"/>
                </a:lnTo>
                <a:moveTo>
                  <a:pt x="7818" y="0"/>
                </a:moveTo>
                <a:lnTo>
                  <a:pt x="7897" y="0"/>
                </a:lnTo>
                <a:lnTo>
                  <a:pt x="7897" y="29"/>
                </a:lnTo>
                <a:lnTo>
                  <a:pt x="7818" y="29"/>
                </a:lnTo>
                <a:lnTo>
                  <a:pt x="7818" y="0"/>
                </a:lnTo>
                <a:moveTo>
                  <a:pt x="7950" y="0"/>
                </a:moveTo>
                <a:lnTo>
                  <a:pt x="8030" y="0"/>
                </a:lnTo>
                <a:lnTo>
                  <a:pt x="8030" y="29"/>
                </a:lnTo>
                <a:lnTo>
                  <a:pt x="7950" y="29"/>
                </a:lnTo>
                <a:lnTo>
                  <a:pt x="7950" y="0"/>
                </a:lnTo>
                <a:moveTo>
                  <a:pt x="8083" y="0"/>
                </a:moveTo>
                <a:lnTo>
                  <a:pt x="8162" y="0"/>
                </a:lnTo>
                <a:lnTo>
                  <a:pt x="8162" y="29"/>
                </a:lnTo>
                <a:lnTo>
                  <a:pt x="8083" y="29"/>
                </a:lnTo>
                <a:lnTo>
                  <a:pt x="8083" y="0"/>
                </a:lnTo>
                <a:moveTo>
                  <a:pt x="8215" y="0"/>
                </a:moveTo>
                <a:lnTo>
                  <a:pt x="8295" y="0"/>
                </a:lnTo>
                <a:lnTo>
                  <a:pt x="8295" y="29"/>
                </a:lnTo>
                <a:lnTo>
                  <a:pt x="8215" y="29"/>
                </a:lnTo>
                <a:lnTo>
                  <a:pt x="8215" y="0"/>
                </a:lnTo>
                <a:moveTo>
                  <a:pt x="8348" y="0"/>
                </a:moveTo>
                <a:lnTo>
                  <a:pt x="8427" y="0"/>
                </a:lnTo>
                <a:lnTo>
                  <a:pt x="8427" y="29"/>
                </a:lnTo>
                <a:lnTo>
                  <a:pt x="8348" y="29"/>
                </a:lnTo>
                <a:lnTo>
                  <a:pt x="8348" y="0"/>
                </a:lnTo>
                <a:moveTo>
                  <a:pt x="8480" y="0"/>
                </a:moveTo>
                <a:lnTo>
                  <a:pt x="8560" y="0"/>
                </a:lnTo>
                <a:lnTo>
                  <a:pt x="8560" y="29"/>
                </a:lnTo>
                <a:lnTo>
                  <a:pt x="8480" y="29"/>
                </a:lnTo>
                <a:lnTo>
                  <a:pt x="8480" y="0"/>
                </a:lnTo>
                <a:moveTo>
                  <a:pt x="8613" y="0"/>
                </a:moveTo>
                <a:lnTo>
                  <a:pt x="8692" y="0"/>
                </a:lnTo>
                <a:lnTo>
                  <a:pt x="8692" y="29"/>
                </a:lnTo>
                <a:lnTo>
                  <a:pt x="8613" y="29"/>
                </a:lnTo>
                <a:lnTo>
                  <a:pt x="8613" y="0"/>
                </a:lnTo>
                <a:moveTo>
                  <a:pt x="8745" y="0"/>
                </a:moveTo>
                <a:lnTo>
                  <a:pt x="8825" y="0"/>
                </a:lnTo>
                <a:lnTo>
                  <a:pt x="8825" y="29"/>
                </a:lnTo>
                <a:lnTo>
                  <a:pt x="8745" y="29"/>
                </a:lnTo>
                <a:lnTo>
                  <a:pt x="8745" y="0"/>
                </a:lnTo>
                <a:moveTo>
                  <a:pt x="8878" y="0"/>
                </a:moveTo>
                <a:lnTo>
                  <a:pt x="8957" y="0"/>
                </a:lnTo>
                <a:lnTo>
                  <a:pt x="8957" y="29"/>
                </a:lnTo>
                <a:lnTo>
                  <a:pt x="8878" y="29"/>
                </a:lnTo>
                <a:lnTo>
                  <a:pt x="8878" y="0"/>
                </a:lnTo>
                <a:moveTo>
                  <a:pt x="9010" y="0"/>
                </a:moveTo>
                <a:lnTo>
                  <a:pt x="9090" y="0"/>
                </a:lnTo>
                <a:lnTo>
                  <a:pt x="9090" y="29"/>
                </a:lnTo>
                <a:lnTo>
                  <a:pt x="9010" y="29"/>
                </a:lnTo>
                <a:lnTo>
                  <a:pt x="9010" y="0"/>
                </a:lnTo>
                <a:moveTo>
                  <a:pt x="9143" y="0"/>
                </a:moveTo>
                <a:lnTo>
                  <a:pt x="9222" y="0"/>
                </a:lnTo>
                <a:lnTo>
                  <a:pt x="9222" y="29"/>
                </a:lnTo>
                <a:lnTo>
                  <a:pt x="9143" y="29"/>
                </a:lnTo>
                <a:lnTo>
                  <a:pt x="9143" y="0"/>
                </a:lnTo>
                <a:moveTo>
                  <a:pt x="9275" y="0"/>
                </a:moveTo>
                <a:lnTo>
                  <a:pt x="9355" y="0"/>
                </a:lnTo>
                <a:lnTo>
                  <a:pt x="9355" y="29"/>
                </a:lnTo>
                <a:lnTo>
                  <a:pt x="9275" y="29"/>
                </a:lnTo>
                <a:lnTo>
                  <a:pt x="9275" y="0"/>
                </a:lnTo>
                <a:moveTo>
                  <a:pt x="9408" y="0"/>
                </a:moveTo>
                <a:lnTo>
                  <a:pt x="9487" y="0"/>
                </a:lnTo>
                <a:lnTo>
                  <a:pt x="9487" y="29"/>
                </a:lnTo>
                <a:lnTo>
                  <a:pt x="9408" y="29"/>
                </a:lnTo>
                <a:lnTo>
                  <a:pt x="9408" y="0"/>
                </a:lnTo>
                <a:moveTo>
                  <a:pt x="9540" y="0"/>
                </a:moveTo>
                <a:lnTo>
                  <a:pt x="9620" y="0"/>
                </a:lnTo>
                <a:lnTo>
                  <a:pt x="9620" y="29"/>
                </a:lnTo>
                <a:lnTo>
                  <a:pt x="9540" y="29"/>
                </a:lnTo>
                <a:lnTo>
                  <a:pt x="9540" y="0"/>
                </a:lnTo>
                <a:moveTo>
                  <a:pt x="9673" y="0"/>
                </a:moveTo>
                <a:lnTo>
                  <a:pt x="9752" y="0"/>
                </a:lnTo>
                <a:lnTo>
                  <a:pt x="9752" y="29"/>
                </a:lnTo>
                <a:lnTo>
                  <a:pt x="9673" y="29"/>
                </a:lnTo>
                <a:lnTo>
                  <a:pt x="9673" y="0"/>
                </a:lnTo>
                <a:moveTo>
                  <a:pt x="9805" y="0"/>
                </a:moveTo>
                <a:lnTo>
                  <a:pt x="9885" y="0"/>
                </a:lnTo>
                <a:lnTo>
                  <a:pt x="9885" y="29"/>
                </a:lnTo>
                <a:lnTo>
                  <a:pt x="9805" y="29"/>
                </a:lnTo>
                <a:lnTo>
                  <a:pt x="9805" y="0"/>
                </a:lnTo>
                <a:moveTo>
                  <a:pt x="9938" y="0"/>
                </a:moveTo>
                <a:lnTo>
                  <a:pt x="10017" y="0"/>
                </a:lnTo>
                <a:lnTo>
                  <a:pt x="10017" y="29"/>
                </a:lnTo>
                <a:lnTo>
                  <a:pt x="9938" y="29"/>
                </a:lnTo>
                <a:lnTo>
                  <a:pt x="9938" y="0"/>
                </a:lnTo>
                <a:moveTo>
                  <a:pt x="10070" y="0"/>
                </a:moveTo>
                <a:lnTo>
                  <a:pt x="10150" y="0"/>
                </a:lnTo>
                <a:lnTo>
                  <a:pt x="10150" y="29"/>
                </a:lnTo>
                <a:lnTo>
                  <a:pt x="10070" y="29"/>
                </a:lnTo>
                <a:lnTo>
                  <a:pt x="10070" y="0"/>
                </a:lnTo>
                <a:moveTo>
                  <a:pt x="10203" y="0"/>
                </a:moveTo>
                <a:lnTo>
                  <a:pt x="10282" y="0"/>
                </a:lnTo>
                <a:lnTo>
                  <a:pt x="10282" y="29"/>
                </a:lnTo>
                <a:lnTo>
                  <a:pt x="10203" y="29"/>
                </a:lnTo>
                <a:lnTo>
                  <a:pt x="10203" y="0"/>
                </a:lnTo>
                <a:moveTo>
                  <a:pt x="10335" y="0"/>
                </a:moveTo>
                <a:lnTo>
                  <a:pt x="10415" y="0"/>
                </a:lnTo>
                <a:lnTo>
                  <a:pt x="10415" y="29"/>
                </a:lnTo>
                <a:lnTo>
                  <a:pt x="10335" y="29"/>
                </a:lnTo>
                <a:lnTo>
                  <a:pt x="10335" y="0"/>
                </a:lnTo>
                <a:moveTo>
                  <a:pt x="10468" y="0"/>
                </a:moveTo>
                <a:lnTo>
                  <a:pt x="10547" y="0"/>
                </a:lnTo>
                <a:lnTo>
                  <a:pt x="10547" y="29"/>
                </a:lnTo>
                <a:lnTo>
                  <a:pt x="10468" y="29"/>
                </a:lnTo>
                <a:lnTo>
                  <a:pt x="10468" y="0"/>
                </a:lnTo>
                <a:moveTo>
                  <a:pt x="10600" y="0"/>
                </a:moveTo>
                <a:lnTo>
                  <a:pt x="10680" y="0"/>
                </a:lnTo>
                <a:lnTo>
                  <a:pt x="10680" y="29"/>
                </a:lnTo>
                <a:lnTo>
                  <a:pt x="10600" y="29"/>
                </a:lnTo>
                <a:lnTo>
                  <a:pt x="10600" y="0"/>
                </a:lnTo>
                <a:moveTo>
                  <a:pt x="10733" y="0"/>
                </a:moveTo>
                <a:lnTo>
                  <a:pt x="10812" y="0"/>
                </a:lnTo>
                <a:lnTo>
                  <a:pt x="10812" y="29"/>
                </a:lnTo>
                <a:lnTo>
                  <a:pt x="10733" y="29"/>
                </a:lnTo>
                <a:lnTo>
                  <a:pt x="10733" y="0"/>
                </a:lnTo>
                <a:moveTo>
                  <a:pt x="10865" y="0"/>
                </a:moveTo>
                <a:lnTo>
                  <a:pt x="10945" y="0"/>
                </a:lnTo>
                <a:lnTo>
                  <a:pt x="10945" y="29"/>
                </a:lnTo>
                <a:lnTo>
                  <a:pt x="10865" y="29"/>
                </a:lnTo>
                <a:lnTo>
                  <a:pt x="10865" y="0"/>
                </a:lnTo>
                <a:moveTo>
                  <a:pt x="10998" y="0"/>
                </a:moveTo>
                <a:lnTo>
                  <a:pt x="11077" y="0"/>
                </a:lnTo>
                <a:lnTo>
                  <a:pt x="11077" y="29"/>
                </a:lnTo>
                <a:lnTo>
                  <a:pt x="10998" y="29"/>
                </a:lnTo>
                <a:lnTo>
                  <a:pt x="10998" y="0"/>
                </a:lnTo>
                <a:moveTo>
                  <a:pt x="11130" y="0"/>
                </a:moveTo>
                <a:lnTo>
                  <a:pt x="11210" y="0"/>
                </a:lnTo>
                <a:lnTo>
                  <a:pt x="11210" y="29"/>
                </a:lnTo>
                <a:lnTo>
                  <a:pt x="11130" y="29"/>
                </a:lnTo>
                <a:lnTo>
                  <a:pt x="11130" y="0"/>
                </a:lnTo>
                <a:moveTo>
                  <a:pt x="11263" y="0"/>
                </a:moveTo>
                <a:lnTo>
                  <a:pt x="11342" y="0"/>
                </a:lnTo>
                <a:lnTo>
                  <a:pt x="11342" y="29"/>
                </a:lnTo>
                <a:lnTo>
                  <a:pt x="11263" y="29"/>
                </a:lnTo>
                <a:lnTo>
                  <a:pt x="11263" y="0"/>
                </a:lnTo>
                <a:moveTo>
                  <a:pt x="11395" y="0"/>
                </a:moveTo>
                <a:lnTo>
                  <a:pt x="11475" y="0"/>
                </a:lnTo>
                <a:lnTo>
                  <a:pt x="11475" y="29"/>
                </a:lnTo>
                <a:lnTo>
                  <a:pt x="11395" y="29"/>
                </a:lnTo>
                <a:lnTo>
                  <a:pt x="11395" y="0"/>
                </a:lnTo>
                <a:moveTo>
                  <a:pt x="11528" y="0"/>
                </a:moveTo>
                <a:lnTo>
                  <a:pt x="11607" y="0"/>
                </a:lnTo>
                <a:lnTo>
                  <a:pt x="11607" y="29"/>
                </a:lnTo>
                <a:lnTo>
                  <a:pt x="11528" y="29"/>
                </a:lnTo>
                <a:lnTo>
                  <a:pt x="11528" y="0"/>
                </a:lnTo>
                <a:moveTo>
                  <a:pt x="11660" y="0"/>
                </a:moveTo>
                <a:lnTo>
                  <a:pt x="11740" y="0"/>
                </a:lnTo>
                <a:lnTo>
                  <a:pt x="11740" y="29"/>
                </a:lnTo>
                <a:lnTo>
                  <a:pt x="11660" y="29"/>
                </a:lnTo>
                <a:lnTo>
                  <a:pt x="11660" y="0"/>
                </a:lnTo>
                <a:moveTo>
                  <a:pt x="11793" y="0"/>
                </a:moveTo>
                <a:lnTo>
                  <a:pt x="11872" y="0"/>
                </a:lnTo>
                <a:lnTo>
                  <a:pt x="11872" y="29"/>
                </a:lnTo>
                <a:lnTo>
                  <a:pt x="11793" y="29"/>
                </a:lnTo>
                <a:lnTo>
                  <a:pt x="11793" y="0"/>
                </a:lnTo>
                <a:moveTo>
                  <a:pt x="11925" y="0"/>
                </a:moveTo>
                <a:lnTo>
                  <a:pt x="12005" y="0"/>
                </a:lnTo>
                <a:lnTo>
                  <a:pt x="12005" y="29"/>
                </a:lnTo>
                <a:lnTo>
                  <a:pt x="11925" y="29"/>
                </a:lnTo>
                <a:lnTo>
                  <a:pt x="11925" y="0"/>
                </a:lnTo>
                <a:moveTo>
                  <a:pt x="12058" y="0"/>
                </a:moveTo>
                <a:lnTo>
                  <a:pt x="12137" y="0"/>
                </a:lnTo>
                <a:lnTo>
                  <a:pt x="12137" y="29"/>
                </a:lnTo>
                <a:lnTo>
                  <a:pt x="12058" y="29"/>
                </a:lnTo>
                <a:lnTo>
                  <a:pt x="12058" y="0"/>
                </a:lnTo>
                <a:moveTo>
                  <a:pt x="12190" y="0"/>
                </a:moveTo>
                <a:lnTo>
                  <a:pt x="12270" y="0"/>
                </a:lnTo>
                <a:lnTo>
                  <a:pt x="12270" y="29"/>
                </a:lnTo>
                <a:lnTo>
                  <a:pt x="12190" y="29"/>
                </a:lnTo>
                <a:lnTo>
                  <a:pt x="12190" y="0"/>
                </a:lnTo>
                <a:moveTo>
                  <a:pt x="12323" y="0"/>
                </a:moveTo>
                <a:lnTo>
                  <a:pt x="12402" y="0"/>
                </a:lnTo>
                <a:lnTo>
                  <a:pt x="12402" y="29"/>
                </a:lnTo>
                <a:lnTo>
                  <a:pt x="12323" y="29"/>
                </a:lnTo>
                <a:lnTo>
                  <a:pt x="12323" y="0"/>
                </a:lnTo>
                <a:moveTo>
                  <a:pt x="12455" y="0"/>
                </a:moveTo>
                <a:lnTo>
                  <a:pt x="12535" y="0"/>
                </a:lnTo>
                <a:lnTo>
                  <a:pt x="12535" y="29"/>
                </a:lnTo>
                <a:lnTo>
                  <a:pt x="12455" y="29"/>
                </a:lnTo>
                <a:lnTo>
                  <a:pt x="12455" y="0"/>
                </a:lnTo>
                <a:moveTo>
                  <a:pt x="12588" y="0"/>
                </a:moveTo>
                <a:lnTo>
                  <a:pt x="12667" y="0"/>
                </a:lnTo>
                <a:lnTo>
                  <a:pt x="12667" y="29"/>
                </a:lnTo>
                <a:lnTo>
                  <a:pt x="12588" y="29"/>
                </a:lnTo>
                <a:lnTo>
                  <a:pt x="12588" y="0"/>
                </a:lnTo>
                <a:moveTo>
                  <a:pt x="12720" y="0"/>
                </a:moveTo>
                <a:lnTo>
                  <a:pt x="12800" y="0"/>
                </a:lnTo>
                <a:lnTo>
                  <a:pt x="12800" y="29"/>
                </a:lnTo>
                <a:lnTo>
                  <a:pt x="12720" y="29"/>
                </a:lnTo>
                <a:lnTo>
                  <a:pt x="12720" y="0"/>
                </a:lnTo>
                <a:moveTo>
                  <a:pt x="12853" y="0"/>
                </a:moveTo>
                <a:lnTo>
                  <a:pt x="12932" y="0"/>
                </a:lnTo>
                <a:lnTo>
                  <a:pt x="12932" y="29"/>
                </a:lnTo>
                <a:lnTo>
                  <a:pt x="12853" y="29"/>
                </a:lnTo>
                <a:lnTo>
                  <a:pt x="12853" y="0"/>
                </a:lnTo>
                <a:moveTo>
                  <a:pt x="12985" y="0"/>
                </a:moveTo>
                <a:lnTo>
                  <a:pt x="13065" y="0"/>
                </a:lnTo>
                <a:lnTo>
                  <a:pt x="13065" y="29"/>
                </a:lnTo>
                <a:lnTo>
                  <a:pt x="12985" y="29"/>
                </a:lnTo>
                <a:lnTo>
                  <a:pt x="12985" y="0"/>
                </a:lnTo>
                <a:moveTo>
                  <a:pt x="13118" y="0"/>
                </a:moveTo>
                <a:lnTo>
                  <a:pt x="13197" y="0"/>
                </a:lnTo>
                <a:lnTo>
                  <a:pt x="13197" y="29"/>
                </a:lnTo>
                <a:lnTo>
                  <a:pt x="13118" y="29"/>
                </a:lnTo>
                <a:lnTo>
                  <a:pt x="13118" y="0"/>
                </a:lnTo>
                <a:moveTo>
                  <a:pt x="13250" y="0"/>
                </a:moveTo>
                <a:lnTo>
                  <a:pt x="13330" y="0"/>
                </a:lnTo>
                <a:lnTo>
                  <a:pt x="13330" y="29"/>
                </a:lnTo>
                <a:lnTo>
                  <a:pt x="13250" y="29"/>
                </a:lnTo>
                <a:lnTo>
                  <a:pt x="13250" y="0"/>
                </a:lnTo>
                <a:moveTo>
                  <a:pt x="13383" y="0"/>
                </a:moveTo>
                <a:lnTo>
                  <a:pt x="13462" y="0"/>
                </a:lnTo>
                <a:lnTo>
                  <a:pt x="13462" y="29"/>
                </a:lnTo>
                <a:lnTo>
                  <a:pt x="13383" y="29"/>
                </a:lnTo>
                <a:lnTo>
                  <a:pt x="13383" y="0"/>
                </a:lnTo>
                <a:moveTo>
                  <a:pt x="13515" y="0"/>
                </a:moveTo>
                <a:lnTo>
                  <a:pt x="13595" y="0"/>
                </a:lnTo>
                <a:lnTo>
                  <a:pt x="13595" y="29"/>
                </a:lnTo>
                <a:lnTo>
                  <a:pt x="13515" y="29"/>
                </a:lnTo>
                <a:lnTo>
                  <a:pt x="13515" y="0"/>
                </a:lnTo>
                <a:moveTo>
                  <a:pt x="13648" y="0"/>
                </a:moveTo>
                <a:lnTo>
                  <a:pt x="13727" y="0"/>
                </a:lnTo>
                <a:lnTo>
                  <a:pt x="13727" y="29"/>
                </a:lnTo>
                <a:lnTo>
                  <a:pt x="13648" y="29"/>
                </a:lnTo>
                <a:lnTo>
                  <a:pt x="13648" y="0"/>
                </a:lnTo>
                <a:moveTo>
                  <a:pt x="13780" y="0"/>
                </a:moveTo>
                <a:lnTo>
                  <a:pt x="13860" y="0"/>
                </a:lnTo>
                <a:lnTo>
                  <a:pt x="13860" y="29"/>
                </a:lnTo>
                <a:lnTo>
                  <a:pt x="13780" y="29"/>
                </a:lnTo>
                <a:lnTo>
                  <a:pt x="13780" y="0"/>
                </a:lnTo>
                <a:moveTo>
                  <a:pt x="13913" y="0"/>
                </a:moveTo>
                <a:lnTo>
                  <a:pt x="13992" y="0"/>
                </a:lnTo>
                <a:lnTo>
                  <a:pt x="13992" y="29"/>
                </a:lnTo>
                <a:lnTo>
                  <a:pt x="13913" y="29"/>
                </a:lnTo>
                <a:lnTo>
                  <a:pt x="13913" y="0"/>
                </a:lnTo>
                <a:moveTo>
                  <a:pt x="14045" y="0"/>
                </a:moveTo>
                <a:lnTo>
                  <a:pt x="14125" y="0"/>
                </a:lnTo>
                <a:lnTo>
                  <a:pt x="14125" y="29"/>
                </a:lnTo>
                <a:lnTo>
                  <a:pt x="14045" y="29"/>
                </a:lnTo>
                <a:lnTo>
                  <a:pt x="14045" y="0"/>
                </a:lnTo>
                <a:moveTo>
                  <a:pt x="14178" y="0"/>
                </a:moveTo>
                <a:lnTo>
                  <a:pt x="14257" y="0"/>
                </a:lnTo>
                <a:lnTo>
                  <a:pt x="14257" y="29"/>
                </a:lnTo>
                <a:lnTo>
                  <a:pt x="14178" y="29"/>
                </a:lnTo>
                <a:lnTo>
                  <a:pt x="14178" y="0"/>
                </a:lnTo>
                <a:moveTo>
                  <a:pt x="14310" y="0"/>
                </a:moveTo>
                <a:lnTo>
                  <a:pt x="14390" y="0"/>
                </a:lnTo>
                <a:lnTo>
                  <a:pt x="14390" y="29"/>
                </a:lnTo>
                <a:lnTo>
                  <a:pt x="14310" y="29"/>
                </a:lnTo>
                <a:lnTo>
                  <a:pt x="14310" y="0"/>
                </a:lnTo>
                <a:moveTo>
                  <a:pt x="14443" y="0"/>
                </a:moveTo>
                <a:lnTo>
                  <a:pt x="14522" y="0"/>
                </a:lnTo>
                <a:lnTo>
                  <a:pt x="14522" y="29"/>
                </a:lnTo>
                <a:lnTo>
                  <a:pt x="14443" y="29"/>
                </a:lnTo>
                <a:lnTo>
                  <a:pt x="14443" y="0"/>
                </a:lnTo>
                <a:moveTo>
                  <a:pt x="14575" y="0"/>
                </a:moveTo>
                <a:lnTo>
                  <a:pt x="14655" y="0"/>
                </a:lnTo>
                <a:lnTo>
                  <a:pt x="14655" y="29"/>
                </a:lnTo>
                <a:lnTo>
                  <a:pt x="14575" y="29"/>
                </a:lnTo>
                <a:lnTo>
                  <a:pt x="14575" y="0"/>
                </a:lnTo>
                <a:moveTo>
                  <a:pt x="14708" y="0"/>
                </a:moveTo>
                <a:lnTo>
                  <a:pt x="14787" y="0"/>
                </a:lnTo>
                <a:lnTo>
                  <a:pt x="14787" y="29"/>
                </a:lnTo>
                <a:lnTo>
                  <a:pt x="14708" y="29"/>
                </a:lnTo>
                <a:lnTo>
                  <a:pt x="14708" y="0"/>
                </a:lnTo>
                <a:moveTo>
                  <a:pt x="14840" y="0"/>
                </a:moveTo>
                <a:lnTo>
                  <a:pt x="14919" y="0"/>
                </a:lnTo>
                <a:lnTo>
                  <a:pt x="14919" y="29"/>
                </a:lnTo>
                <a:lnTo>
                  <a:pt x="14840" y="29"/>
                </a:lnTo>
                <a:lnTo>
                  <a:pt x="14840" y="0"/>
                </a:lnTo>
                <a:moveTo>
                  <a:pt x="14973" y="0"/>
                </a:moveTo>
                <a:lnTo>
                  <a:pt x="15052" y="0"/>
                </a:lnTo>
                <a:lnTo>
                  <a:pt x="15052" y="29"/>
                </a:lnTo>
                <a:lnTo>
                  <a:pt x="14973" y="29"/>
                </a:lnTo>
                <a:lnTo>
                  <a:pt x="14973" y="0"/>
                </a:lnTo>
                <a:moveTo>
                  <a:pt x="15105" y="0"/>
                </a:moveTo>
                <a:lnTo>
                  <a:pt x="15184" y="0"/>
                </a:lnTo>
                <a:lnTo>
                  <a:pt x="15184" y="29"/>
                </a:lnTo>
                <a:lnTo>
                  <a:pt x="15105" y="29"/>
                </a:lnTo>
                <a:lnTo>
                  <a:pt x="15105" y="0"/>
                </a:lnTo>
                <a:moveTo>
                  <a:pt x="15238" y="0"/>
                </a:moveTo>
                <a:lnTo>
                  <a:pt x="15317" y="0"/>
                </a:lnTo>
                <a:lnTo>
                  <a:pt x="15317" y="29"/>
                </a:lnTo>
                <a:lnTo>
                  <a:pt x="15238" y="29"/>
                </a:lnTo>
                <a:lnTo>
                  <a:pt x="15238" y="0"/>
                </a:lnTo>
                <a:moveTo>
                  <a:pt x="15370" y="0"/>
                </a:moveTo>
                <a:lnTo>
                  <a:pt x="15449" y="0"/>
                </a:lnTo>
                <a:lnTo>
                  <a:pt x="15449" y="29"/>
                </a:lnTo>
                <a:lnTo>
                  <a:pt x="15370" y="29"/>
                </a:lnTo>
                <a:lnTo>
                  <a:pt x="15370" y="0"/>
                </a:lnTo>
                <a:moveTo>
                  <a:pt x="15503" y="0"/>
                </a:moveTo>
                <a:lnTo>
                  <a:pt x="15582" y="0"/>
                </a:lnTo>
                <a:lnTo>
                  <a:pt x="15582" y="29"/>
                </a:lnTo>
                <a:lnTo>
                  <a:pt x="15503" y="29"/>
                </a:lnTo>
                <a:lnTo>
                  <a:pt x="15503" y="0"/>
                </a:lnTo>
                <a:moveTo>
                  <a:pt x="15635" y="0"/>
                </a:moveTo>
                <a:lnTo>
                  <a:pt x="15714" y="0"/>
                </a:lnTo>
                <a:lnTo>
                  <a:pt x="15714" y="29"/>
                </a:lnTo>
                <a:lnTo>
                  <a:pt x="15635" y="29"/>
                </a:lnTo>
                <a:lnTo>
                  <a:pt x="15635" y="0"/>
                </a:lnTo>
                <a:moveTo>
                  <a:pt x="15768" y="0"/>
                </a:moveTo>
                <a:lnTo>
                  <a:pt x="15847" y="0"/>
                </a:lnTo>
                <a:lnTo>
                  <a:pt x="15847" y="29"/>
                </a:lnTo>
                <a:lnTo>
                  <a:pt x="15768" y="29"/>
                </a:lnTo>
                <a:lnTo>
                  <a:pt x="15768" y="0"/>
                </a:lnTo>
                <a:moveTo>
                  <a:pt x="15900" y="0"/>
                </a:moveTo>
                <a:lnTo>
                  <a:pt x="15979" y="0"/>
                </a:lnTo>
                <a:lnTo>
                  <a:pt x="15979" y="29"/>
                </a:lnTo>
                <a:lnTo>
                  <a:pt x="15900" y="29"/>
                </a:lnTo>
                <a:lnTo>
                  <a:pt x="15900" y="0"/>
                </a:lnTo>
                <a:moveTo>
                  <a:pt x="16033" y="0"/>
                </a:moveTo>
                <a:lnTo>
                  <a:pt x="16112" y="0"/>
                </a:lnTo>
                <a:lnTo>
                  <a:pt x="16112" y="29"/>
                </a:lnTo>
                <a:lnTo>
                  <a:pt x="16033" y="29"/>
                </a:lnTo>
                <a:lnTo>
                  <a:pt x="16033" y="0"/>
                </a:lnTo>
                <a:moveTo>
                  <a:pt x="16165" y="0"/>
                </a:moveTo>
                <a:lnTo>
                  <a:pt x="16244" y="0"/>
                </a:lnTo>
                <a:lnTo>
                  <a:pt x="16244" y="29"/>
                </a:lnTo>
                <a:lnTo>
                  <a:pt x="16165" y="29"/>
                </a:lnTo>
                <a:lnTo>
                  <a:pt x="16165" y="0"/>
                </a:lnTo>
                <a:moveTo>
                  <a:pt x="16298" y="0"/>
                </a:moveTo>
                <a:lnTo>
                  <a:pt x="16377" y="0"/>
                </a:lnTo>
                <a:lnTo>
                  <a:pt x="16377" y="29"/>
                </a:lnTo>
                <a:lnTo>
                  <a:pt x="16298" y="29"/>
                </a:lnTo>
                <a:lnTo>
                  <a:pt x="16298" y="0"/>
                </a:lnTo>
                <a:moveTo>
                  <a:pt x="16430" y="0"/>
                </a:moveTo>
                <a:lnTo>
                  <a:pt x="16509" y="0"/>
                </a:lnTo>
                <a:lnTo>
                  <a:pt x="16509" y="29"/>
                </a:lnTo>
                <a:lnTo>
                  <a:pt x="16430" y="29"/>
                </a:lnTo>
                <a:lnTo>
                  <a:pt x="16430" y="0"/>
                </a:lnTo>
                <a:moveTo>
                  <a:pt x="16563" y="0"/>
                </a:moveTo>
                <a:lnTo>
                  <a:pt x="16642" y="0"/>
                </a:lnTo>
                <a:lnTo>
                  <a:pt x="16642" y="29"/>
                </a:lnTo>
                <a:lnTo>
                  <a:pt x="16563" y="29"/>
                </a:lnTo>
                <a:lnTo>
                  <a:pt x="16563" y="0"/>
                </a:lnTo>
                <a:moveTo>
                  <a:pt x="16695" y="0"/>
                </a:moveTo>
                <a:lnTo>
                  <a:pt x="16774" y="0"/>
                </a:lnTo>
                <a:lnTo>
                  <a:pt x="16774" y="29"/>
                </a:lnTo>
                <a:lnTo>
                  <a:pt x="16695" y="29"/>
                </a:lnTo>
                <a:lnTo>
                  <a:pt x="16695" y="0"/>
                </a:lnTo>
                <a:moveTo>
                  <a:pt x="16828" y="0"/>
                </a:moveTo>
                <a:lnTo>
                  <a:pt x="16907" y="0"/>
                </a:lnTo>
                <a:lnTo>
                  <a:pt x="16907" y="29"/>
                </a:lnTo>
                <a:lnTo>
                  <a:pt x="16828" y="29"/>
                </a:lnTo>
                <a:lnTo>
                  <a:pt x="16828" y="0"/>
                </a:lnTo>
                <a:moveTo>
                  <a:pt x="16960" y="0"/>
                </a:moveTo>
                <a:lnTo>
                  <a:pt x="17039" y="0"/>
                </a:lnTo>
                <a:lnTo>
                  <a:pt x="17039" y="29"/>
                </a:lnTo>
                <a:lnTo>
                  <a:pt x="16960" y="29"/>
                </a:lnTo>
                <a:lnTo>
                  <a:pt x="16960" y="0"/>
                </a:lnTo>
                <a:moveTo>
                  <a:pt x="17093" y="0"/>
                </a:moveTo>
                <a:lnTo>
                  <a:pt x="17172" y="0"/>
                </a:lnTo>
                <a:lnTo>
                  <a:pt x="17172" y="29"/>
                </a:lnTo>
                <a:lnTo>
                  <a:pt x="17093" y="29"/>
                </a:lnTo>
                <a:lnTo>
                  <a:pt x="17093" y="0"/>
                </a:lnTo>
                <a:moveTo>
                  <a:pt x="17225" y="0"/>
                </a:moveTo>
                <a:lnTo>
                  <a:pt x="17304" y="0"/>
                </a:lnTo>
                <a:lnTo>
                  <a:pt x="17304" y="29"/>
                </a:lnTo>
                <a:lnTo>
                  <a:pt x="17225" y="29"/>
                </a:lnTo>
                <a:lnTo>
                  <a:pt x="17225" y="0"/>
                </a:lnTo>
                <a:moveTo>
                  <a:pt x="17357" y="0"/>
                </a:moveTo>
                <a:lnTo>
                  <a:pt x="17437" y="0"/>
                </a:lnTo>
                <a:lnTo>
                  <a:pt x="17437" y="29"/>
                </a:lnTo>
                <a:lnTo>
                  <a:pt x="17357" y="29"/>
                </a:lnTo>
                <a:lnTo>
                  <a:pt x="17357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1918440" y="4586760"/>
            <a:ext cx="32220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4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0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514440" y="6242040"/>
            <a:ext cx="1194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两个口径：同地区（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18216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1967040" y="6242040"/>
            <a:ext cx="3850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中西部）其他省份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Fintech_Peer_S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、全国其他省份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Fintech_Peer_O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380880" y="1485720"/>
            <a:ext cx="11430360" cy="2953080"/>
          </a:xfrm>
          <a:custGeom>
            <a:avLst/>
            <a:gdLst/>
            <a:ahLst/>
            <a:rect l="0" t="0" r="r" b="b"/>
            <a:pathLst>
              <a:path w="31751" h="8203">
                <a:moveTo>
                  <a:pt x="0" y="0"/>
                </a:moveTo>
                <a:lnTo>
                  <a:pt x="31751" y="0"/>
                </a:lnTo>
                <a:lnTo>
                  <a:pt x="31751" y="8203"/>
                </a:lnTo>
                <a:lnTo>
                  <a:pt x="0" y="820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38088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代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7549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1128600" y="929880"/>
            <a:ext cx="52664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示例一：用 </a:t>
            </a:r>
            <a:r>
              <a:rPr lang="en-US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Python </a:t>
            </a:r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构建 </a:t>
            </a:r>
            <a:r>
              <a:rPr lang="en-US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DCG </a:t>
            </a:r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指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66340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标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430920" y="1523160"/>
            <a:ext cx="193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import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jieba, numpy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as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np, pandas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as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pd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459720" y="182808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551160" y="1857240"/>
            <a:ext cx="178380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演示用精简词典；论文实际采用吴非等（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2379960" y="1828080"/>
            <a:ext cx="21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2021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2591280" y="1857240"/>
            <a:ext cx="109044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）的完整数字化转型词库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430920" y="1980360"/>
            <a:ext cx="756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KEYWORDS = 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1211040" y="2009520"/>
            <a:ext cx="397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人工智能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1611360" y="198036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1851480" y="2009520"/>
            <a:ext cx="298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区块链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2151360" y="198036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2391840" y="2009520"/>
            <a:ext cx="298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云计算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2691720" y="198036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2931840" y="2009520"/>
            <a:ext cx="298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大数据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3232080" y="1980360"/>
            <a:ext cx="99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430920" y="2123280"/>
            <a:ext cx="342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       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1211040" y="2152440"/>
            <a:ext cx="496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数字化转型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1711080" y="212328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1951560" y="2152440"/>
            <a:ext cx="397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智能制造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2351520" y="212328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2591640" y="2152440"/>
            <a:ext cx="298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物联网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2891880" y="2123280"/>
            <a:ext cx="1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3132000" y="2152440"/>
            <a:ext cx="496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工业互联网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3632040" y="2123280"/>
            <a:ext cx="99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430920" y="2428200"/>
            <a:ext cx="1436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def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</a:t>
            </a:r>
            <a:r>
              <a:rPr lang="en-US" sz="790" b="0" u="none" strike="noStrike">
                <a:solidFill>
                  <a:srgbClr val="89BDFF"/>
                </a:solidFill>
                <a:effectLst/>
                <a:uFillTx/>
                <a:latin typeface="SourceCodeProExtraLight"/>
                <a:ea typeface="SourceCodeProExtraLight"/>
              </a:rPr>
              <a:t>count_freq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(</a:t>
            </a:r>
            <a:r>
              <a:rPr lang="en-US" sz="790" b="0" u="none" strike="noStrike">
                <a:solidFill>
                  <a:srgbClr val="3E87E3"/>
                </a:solidFill>
                <a:effectLst/>
                <a:uFillTx/>
                <a:latin typeface="SourceCodeProExtraLight"/>
                <a:ea typeface="SourceCodeProExtraLight"/>
              </a:rPr>
              <a:t>text: str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 -&gt; int: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430920" y="2580480"/>
            <a:ext cx="206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"""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851040" y="2609640"/>
            <a:ext cx="188280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65B042"/>
                </a:solidFill>
                <a:effectLst/>
                <a:uFillTx/>
                <a:latin typeface="NSimSun"/>
                <a:ea typeface="NSimSun"/>
              </a:rPr>
              <a:t>统计单份年报中数字化转型关键词的总词频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2751480" y="2580480"/>
            <a:ext cx="1036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"""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430920" y="2723400"/>
            <a:ext cx="2633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return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sum(w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in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KEYWORDS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for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w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in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jieba.lcut(text))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430920" y="3027960"/>
            <a:ext cx="2118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raw = pd.read_csv(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"annual_reports.csv"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     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3280320" y="302796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3371400" y="3057480"/>
            <a:ext cx="19872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列：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3600360" y="3027960"/>
            <a:ext cx="73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firm, year, text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430920" y="3180600"/>
            <a:ext cx="2114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raw = raw.drop_duplicates([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"firm"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"year"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]) 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3280680" y="318060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3371760" y="3209760"/>
            <a:ext cx="19872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防止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3600720" y="3180600"/>
            <a:ext cx="306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 pivot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3992040" y="3209760"/>
            <a:ext cx="19872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报错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430920" y="3323520"/>
            <a:ext cx="1944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raw[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"freq"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 = raw[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"text"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].map(count_freq)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459720" y="362808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551160" y="3657240"/>
            <a:ext cx="694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滚动算法：本年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1279800" y="3628080"/>
            <a:ext cx="11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 +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1431000" y="3657240"/>
            <a:ext cx="298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前后各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1760040" y="3628080"/>
            <a:ext cx="103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 1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1911240" y="3657240"/>
            <a:ext cx="118944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年取算术平均，再做对数化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430920" y="3780720"/>
            <a:ext cx="2970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panel = raw.pivot(index=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"firm"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columns=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"year"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values=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"freq"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459720" y="392364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551160" y="3952800"/>
            <a:ext cx="19872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注意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779760" y="3923640"/>
            <a:ext cx="33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 axis=1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1171080" y="3952800"/>
            <a:ext cx="218016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：年份在列方向，必须按年份平移，否则会错位成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3400200" y="392364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3431520" y="3952800"/>
            <a:ext cx="595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前后一家企业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4060080" y="392364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"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430920" y="4075920"/>
            <a:ext cx="3002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roll  = (panel.shift(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1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axis=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1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 + panel + panel.shift(-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1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axis=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1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)) / 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3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430920" y="4228200"/>
            <a:ext cx="2780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DCG   = np.log1p(roll.stack()).rename(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"DCG"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).reset_index()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380880" y="6210000"/>
            <a:ext cx="7286760" cy="10440"/>
          </a:xfrm>
          <a:custGeom>
            <a:avLst/>
            <a:gdLst/>
            <a:ahLst/>
            <a:rect l="0" t="0" r="r" b="b"/>
            <a:pathLst>
              <a:path w="20241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9"/>
                </a:lnTo>
                <a:lnTo>
                  <a:pt x="132" y="29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8" y="0"/>
                </a:moveTo>
                <a:lnTo>
                  <a:pt x="477" y="0"/>
                </a:lnTo>
                <a:lnTo>
                  <a:pt x="477" y="29"/>
                </a:lnTo>
                <a:lnTo>
                  <a:pt x="398" y="29"/>
                </a:lnTo>
                <a:lnTo>
                  <a:pt x="398" y="0"/>
                </a:lnTo>
                <a:moveTo>
                  <a:pt x="530" y="0"/>
                </a:moveTo>
                <a:lnTo>
                  <a:pt x="610" y="0"/>
                </a:lnTo>
                <a:lnTo>
                  <a:pt x="610" y="29"/>
                </a:lnTo>
                <a:lnTo>
                  <a:pt x="530" y="29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9"/>
                </a:lnTo>
                <a:lnTo>
                  <a:pt x="663" y="29"/>
                </a:lnTo>
                <a:lnTo>
                  <a:pt x="663" y="0"/>
                </a:lnTo>
                <a:moveTo>
                  <a:pt x="796" y="0"/>
                </a:moveTo>
                <a:lnTo>
                  <a:pt x="875" y="0"/>
                </a:lnTo>
                <a:lnTo>
                  <a:pt x="875" y="29"/>
                </a:lnTo>
                <a:lnTo>
                  <a:pt x="796" y="29"/>
                </a:lnTo>
                <a:lnTo>
                  <a:pt x="796" y="0"/>
                </a:lnTo>
                <a:moveTo>
                  <a:pt x="928" y="0"/>
                </a:moveTo>
                <a:lnTo>
                  <a:pt x="1008" y="0"/>
                </a:lnTo>
                <a:lnTo>
                  <a:pt x="1008" y="29"/>
                </a:lnTo>
                <a:lnTo>
                  <a:pt x="928" y="29"/>
                </a:lnTo>
                <a:lnTo>
                  <a:pt x="928" y="0"/>
                </a:lnTo>
                <a:moveTo>
                  <a:pt x="1061" y="0"/>
                </a:moveTo>
                <a:lnTo>
                  <a:pt x="1140" y="0"/>
                </a:lnTo>
                <a:lnTo>
                  <a:pt x="1140" y="29"/>
                </a:lnTo>
                <a:lnTo>
                  <a:pt x="1061" y="29"/>
                </a:lnTo>
                <a:lnTo>
                  <a:pt x="1061" y="0"/>
                </a:lnTo>
                <a:moveTo>
                  <a:pt x="1194" y="0"/>
                </a:moveTo>
                <a:lnTo>
                  <a:pt x="1273" y="0"/>
                </a:lnTo>
                <a:lnTo>
                  <a:pt x="1273" y="29"/>
                </a:lnTo>
                <a:lnTo>
                  <a:pt x="1194" y="29"/>
                </a:lnTo>
                <a:lnTo>
                  <a:pt x="1194" y="0"/>
                </a:lnTo>
                <a:moveTo>
                  <a:pt x="1326" y="0"/>
                </a:moveTo>
                <a:lnTo>
                  <a:pt x="1406" y="0"/>
                </a:lnTo>
                <a:lnTo>
                  <a:pt x="1406" y="29"/>
                </a:lnTo>
                <a:lnTo>
                  <a:pt x="1326" y="29"/>
                </a:lnTo>
                <a:lnTo>
                  <a:pt x="1326" y="0"/>
                </a:lnTo>
                <a:moveTo>
                  <a:pt x="1459" y="0"/>
                </a:moveTo>
                <a:lnTo>
                  <a:pt x="1538" y="0"/>
                </a:lnTo>
                <a:lnTo>
                  <a:pt x="1538" y="29"/>
                </a:lnTo>
                <a:lnTo>
                  <a:pt x="1459" y="29"/>
                </a:lnTo>
                <a:lnTo>
                  <a:pt x="1459" y="0"/>
                </a:lnTo>
                <a:moveTo>
                  <a:pt x="1592" y="0"/>
                </a:moveTo>
                <a:lnTo>
                  <a:pt x="1671" y="0"/>
                </a:lnTo>
                <a:lnTo>
                  <a:pt x="1671" y="29"/>
                </a:lnTo>
                <a:lnTo>
                  <a:pt x="1592" y="29"/>
                </a:lnTo>
                <a:lnTo>
                  <a:pt x="1592" y="0"/>
                </a:lnTo>
                <a:moveTo>
                  <a:pt x="1724" y="0"/>
                </a:moveTo>
                <a:lnTo>
                  <a:pt x="1804" y="0"/>
                </a:lnTo>
                <a:lnTo>
                  <a:pt x="1804" y="29"/>
                </a:lnTo>
                <a:lnTo>
                  <a:pt x="1724" y="29"/>
                </a:lnTo>
                <a:lnTo>
                  <a:pt x="1724" y="0"/>
                </a:lnTo>
                <a:moveTo>
                  <a:pt x="1857" y="0"/>
                </a:moveTo>
                <a:lnTo>
                  <a:pt x="1936" y="0"/>
                </a:lnTo>
                <a:lnTo>
                  <a:pt x="1936" y="29"/>
                </a:lnTo>
                <a:lnTo>
                  <a:pt x="1857" y="29"/>
                </a:lnTo>
                <a:lnTo>
                  <a:pt x="1857" y="0"/>
                </a:lnTo>
                <a:moveTo>
                  <a:pt x="1989" y="0"/>
                </a:moveTo>
                <a:lnTo>
                  <a:pt x="2069" y="0"/>
                </a:lnTo>
                <a:lnTo>
                  <a:pt x="2069" y="29"/>
                </a:lnTo>
                <a:lnTo>
                  <a:pt x="1989" y="29"/>
                </a:lnTo>
                <a:lnTo>
                  <a:pt x="1989" y="0"/>
                </a:lnTo>
                <a:moveTo>
                  <a:pt x="2122" y="0"/>
                </a:moveTo>
                <a:lnTo>
                  <a:pt x="2201" y="0"/>
                </a:lnTo>
                <a:lnTo>
                  <a:pt x="2201" y="29"/>
                </a:lnTo>
                <a:lnTo>
                  <a:pt x="2122" y="29"/>
                </a:lnTo>
                <a:lnTo>
                  <a:pt x="2122" y="0"/>
                </a:lnTo>
                <a:moveTo>
                  <a:pt x="2255" y="0"/>
                </a:moveTo>
                <a:lnTo>
                  <a:pt x="2334" y="0"/>
                </a:lnTo>
                <a:lnTo>
                  <a:pt x="2334" y="29"/>
                </a:lnTo>
                <a:lnTo>
                  <a:pt x="2255" y="29"/>
                </a:lnTo>
                <a:lnTo>
                  <a:pt x="2255" y="0"/>
                </a:lnTo>
                <a:moveTo>
                  <a:pt x="2387" y="0"/>
                </a:moveTo>
                <a:lnTo>
                  <a:pt x="2467" y="0"/>
                </a:lnTo>
                <a:lnTo>
                  <a:pt x="2467" y="29"/>
                </a:lnTo>
                <a:lnTo>
                  <a:pt x="2387" y="29"/>
                </a:lnTo>
                <a:lnTo>
                  <a:pt x="2387" y="0"/>
                </a:lnTo>
                <a:moveTo>
                  <a:pt x="2520" y="0"/>
                </a:moveTo>
                <a:lnTo>
                  <a:pt x="2599" y="0"/>
                </a:lnTo>
                <a:lnTo>
                  <a:pt x="2599" y="29"/>
                </a:lnTo>
                <a:lnTo>
                  <a:pt x="2520" y="29"/>
                </a:lnTo>
                <a:lnTo>
                  <a:pt x="2520" y="0"/>
                </a:lnTo>
                <a:moveTo>
                  <a:pt x="2653" y="0"/>
                </a:moveTo>
                <a:lnTo>
                  <a:pt x="2732" y="0"/>
                </a:lnTo>
                <a:lnTo>
                  <a:pt x="2732" y="29"/>
                </a:lnTo>
                <a:lnTo>
                  <a:pt x="2653" y="29"/>
                </a:lnTo>
                <a:lnTo>
                  <a:pt x="2653" y="0"/>
                </a:lnTo>
                <a:moveTo>
                  <a:pt x="2785" y="0"/>
                </a:moveTo>
                <a:lnTo>
                  <a:pt x="2865" y="0"/>
                </a:lnTo>
                <a:lnTo>
                  <a:pt x="2865" y="29"/>
                </a:lnTo>
                <a:lnTo>
                  <a:pt x="2785" y="29"/>
                </a:lnTo>
                <a:lnTo>
                  <a:pt x="2785" y="0"/>
                </a:lnTo>
                <a:moveTo>
                  <a:pt x="2918" y="0"/>
                </a:moveTo>
                <a:lnTo>
                  <a:pt x="2997" y="0"/>
                </a:lnTo>
                <a:lnTo>
                  <a:pt x="2997" y="29"/>
                </a:lnTo>
                <a:lnTo>
                  <a:pt x="2918" y="29"/>
                </a:lnTo>
                <a:lnTo>
                  <a:pt x="2918" y="0"/>
                </a:lnTo>
                <a:moveTo>
                  <a:pt x="3051" y="0"/>
                </a:moveTo>
                <a:lnTo>
                  <a:pt x="3130" y="0"/>
                </a:lnTo>
                <a:lnTo>
                  <a:pt x="3130" y="29"/>
                </a:lnTo>
                <a:lnTo>
                  <a:pt x="3051" y="29"/>
                </a:lnTo>
                <a:lnTo>
                  <a:pt x="3051" y="0"/>
                </a:lnTo>
                <a:moveTo>
                  <a:pt x="3183" y="0"/>
                </a:moveTo>
                <a:lnTo>
                  <a:pt x="3263" y="0"/>
                </a:lnTo>
                <a:lnTo>
                  <a:pt x="3263" y="29"/>
                </a:lnTo>
                <a:lnTo>
                  <a:pt x="3183" y="29"/>
                </a:lnTo>
                <a:lnTo>
                  <a:pt x="3183" y="0"/>
                </a:lnTo>
                <a:moveTo>
                  <a:pt x="3316" y="0"/>
                </a:moveTo>
                <a:lnTo>
                  <a:pt x="3395" y="0"/>
                </a:lnTo>
                <a:lnTo>
                  <a:pt x="3395" y="29"/>
                </a:lnTo>
                <a:lnTo>
                  <a:pt x="3316" y="29"/>
                </a:lnTo>
                <a:lnTo>
                  <a:pt x="3316" y="0"/>
                </a:lnTo>
                <a:moveTo>
                  <a:pt x="3448" y="0"/>
                </a:moveTo>
                <a:lnTo>
                  <a:pt x="3528" y="0"/>
                </a:lnTo>
                <a:lnTo>
                  <a:pt x="3528" y="29"/>
                </a:lnTo>
                <a:lnTo>
                  <a:pt x="3448" y="29"/>
                </a:lnTo>
                <a:lnTo>
                  <a:pt x="3448" y="0"/>
                </a:lnTo>
                <a:moveTo>
                  <a:pt x="3581" y="0"/>
                </a:moveTo>
                <a:lnTo>
                  <a:pt x="3660" y="0"/>
                </a:lnTo>
                <a:lnTo>
                  <a:pt x="3660" y="29"/>
                </a:lnTo>
                <a:lnTo>
                  <a:pt x="3581" y="29"/>
                </a:lnTo>
                <a:lnTo>
                  <a:pt x="3581" y="0"/>
                </a:lnTo>
                <a:moveTo>
                  <a:pt x="3714" y="0"/>
                </a:moveTo>
                <a:lnTo>
                  <a:pt x="3793" y="0"/>
                </a:lnTo>
                <a:lnTo>
                  <a:pt x="3793" y="29"/>
                </a:lnTo>
                <a:lnTo>
                  <a:pt x="3714" y="29"/>
                </a:lnTo>
                <a:lnTo>
                  <a:pt x="3714" y="0"/>
                </a:lnTo>
                <a:moveTo>
                  <a:pt x="3846" y="0"/>
                </a:moveTo>
                <a:lnTo>
                  <a:pt x="3926" y="0"/>
                </a:lnTo>
                <a:lnTo>
                  <a:pt x="3926" y="29"/>
                </a:lnTo>
                <a:lnTo>
                  <a:pt x="3846" y="29"/>
                </a:lnTo>
                <a:lnTo>
                  <a:pt x="3846" y="0"/>
                </a:lnTo>
                <a:moveTo>
                  <a:pt x="3979" y="0"/>
                </a:moveTo>
                <a:lnTo>
                  <a:pt x="4058" y="0"/>
                </a:lnTo>
                <a:lnTo>
                  <a:pt x="4058" y="29"/>
                </a:lnTo>
                <a:lnTo>
                  <a:pt x="3979" y="29"/>
                </a:lnTo>
                <a:lnTo>
                  <a:pt x="3979" y="0"/>
                </a:lnTo>
                <a:moveTo>
                  <a:pt x="4112" y="0"/>
                </a:moveTo>
                <a:lnTo>
                  <a:pt x="4191" y="0"/>
                </a:lnTo>
                <a:lnTo>
                  <a:pt x="4191" y="29"/>
                </a:lnTo>
                <a:lnTo>
                  <a:pt x="4112" y="29"/>
                </a:lnTo>
                <a:lnTo>
                  <a:pt x="4112" y="0"/>
                </a:lnTo>
                <a:moveTo>
                  <a:pt x="4244" y="0"/>
                </a:moveTo>
                <a:lnTo>
                  <a:pt x="4324" y="0"/>
                </a:lnTo>
                <a:lnTo>
                  <a:pt x="4324" y="29"/>
                </a:lnTo>
                <a:lnTo>
                  <a:pt x="4244" y="29"/>
                </a:lnTo>
                <a:lnTo>
                  <a:pt x="4244" y="0"/>
                </a:lnTo>
                <a:moveTo>
                  <a:pt x="4377" y="0"/>
                </a:moveTo>
                <a:lnTo>
                  <a:pt x="4456" y="0"/>
                </a:lnTo>
                <a:lnTo>
                  <a:pt x="4456" y="29"/>
                </a:lnTo>
                <a:lnTo>
                  <a:pt x="4377" y="29"/>
                </a:lnTo>
                <a:lnTo>
                  <a:pt x="4377" y="0"/>
                </a:lnTo>
                <a:moveTo>
                  <a:pt x="4510" y="0"/>
                </a:moveTo>
                <a:lnTo>
                  <a:pt x="4589" y="0"/>
                </a:lnTo>
                <a:lnTo>
                  <a:pt x="4589" y="29"/>
                </a:lnTo>
                <a:lnTo>
                  <a:pt x="4510" y="29"/>
                </a:lnTo>
                <a:lnTo>
                  <a:pt x="4510" y="0"/>
                </a:lnTo>
                <a:moveTo>
                  <a:pt x="4642" y="0"/>
                </a:moveTo>
                <a:lnTo>
                  <a:pt x="4722" y="0"/>
                </a:lnTo>
                <a:lnTo>
                  <a:pt x="4722" y="29"/>
                </a:lnTo>
                <a:lnTo>
                  <a:pt x="4642" y="29"/>
                </a:lnTo>
                <a:lnTo>
                  <a:pt x="4642" y="0"/>
                </a:lnTo>
                <a:moveTo>
                  <a:pt x="4775" y="0"/>
                </a:moveTo>
                <a:lnTo>
                  <a:pt x="4854" y="0"/>
                </a:lnTo>
                <a:lnTo>
                  <a:pt x="4854" y="29"/>
                </a:lnTo>
                <a:lnTo>
                  <a:pt x="4775" y="29"/>
                </a:lnTo>
                <a:lnTo>
                  <a:pt x="4775" y="0"/>
                </a:lnTo>
                <a:moveTo>
                  <a:pt x="4908" y="0"/>
                </a:moveTo>
                <a:lnTo>
                  <a:pt x="4987" y="0"/>
                </a:lnTo>
                <a:lnTo>
                  <a:pt x="4987" y="29"/>
                </a:lnTo>
                <a:lnTo>
                  <a:pt x="4908" y="29"/>
                </a:lnTo>
                <a:lnTo>
                  <a:pt x="4908" y="0"/>
                </a:lnTo>
                <a:moveTo>
                  <a:pt x="5040" y="0"/>
                </a:moveTo>
                <a:lnTo>
                  <a:pt x="5120" y="0"/>
                </a:lnTo>
                <a:lnTo>
                  <a:pt x="5120" y="29"/>
                </a:lnTo>
                <a:lnTo>
                  <a:pt x="5040" y="29"/>
                </a:lnTo>
                <a:lnTo>
                  <a:pt x="5040" y="0"/>
                </a:lnTo>
                <a:moveTo>
                  <a:pt x="5173" y="0"/>
                </a:moveTo>
                <a:lnTo>
                  <a:pt x="5252" y="0"/>
                </a:lnTo>
                <a:lnTo>
                  <a:pt x="5252" y="29"/>
                </a:lnTo>
                <a:lnTo>
                  <a:pt x="5173" y="29"/>
                </a:lnTo>
                <a:lnTo>
                  <a:pt x="5173" y="0"/>
                </a:lnTo>
                <a:moveTo>
                  <a:pt x="5305" y="0"/>
                </a:moveTo>
                <a:lnTo>
                  <a:pt x="5385" y="0"/>
                </a:lnTo>
                <a:lnTo>
                  <a:pt x="5385" y="29"/>
                </a:lnTo>
                <a:lnTo>
                  <a:pt x="5305" y="29"/>
                </a:lnTo>
                <a:lnTo>
                  <a:pt x="5305" y="0"/>
                </a:lnTo>
                <a:moveTo>
                  <a:pt x="5438" y="0"/>
                </a:moveTo>
                <a:lnTo>
                  <a:pt x="5517" y="0"/>
                </a:lnTo>
                <a:lnTo>
                  <a:pt x="5517" y="29"/>
                </a:lnTo>
                <a:lnTo>
                  <a:pt x="5438" y="29"/>
                </a:lnTo>
                <a:lnTo>
                  <a:pt x="5438" y="0"/>
                </a:lnTo>
                <a:moveTo>
                  <a:pt x="5571" y="0"/>
                </a:moveTo>
                <a:lnTo>
                  <a:pt x="5650" y="0"/>
                </a:lnTo>
                <a:lnTo>
                  <a:pt x="5650" y="29"/>
                </a:lnTo>
                <a:lnTo>
                  <a:pt x="5571" y="29"/>
                </a:lnTo>
                <a:lnTo>
                  <a:pt x="5571" y="0"/>
                </a:lnTo>
                <a:moveTo>
                  <a:pt x="5703" y="0"/>
                </a:moveTo>
                <a:lnTo>
                  <a:pt x="5783" y="0"/>
                </a:lnTo>
                <a:lnTo>
                  <a:pt x="5783" y="29"/>
                </a:lnTo>
                <a:lnTo>
                  <a:pt x="5703" y="29"/>
                </a:lnTo>
                <a:lnTo>
                  <a:pt x="5703" y="0"/>
                </a:lnTo>
                <a:moveTo>
                  <a:pt x="5836" y="0"/>
                </a:moveTo>
                <a:lnTo>
                  <a:pt x="5915" y="0"/>
                </a:lnTo>
                <a:lnTo>
                  <a:pt x="5915" y="29"/>
                </a:lnTo>
                <a:lnTo>
                  <a:pt x="5836" y="29"/>
                </a:lnTo>
                <a:lnTo>
                  <a:pt x="5836" y="0"/>
                </a:lnTo>
                <a:moveTo>
                  <a:pt x="5969" y="0"/>
                </a:moveTo>
                <a:lnTo>
                  <a:pt x="6048" y="0"/>
                </a:lnTo>
                <a:lnTo>
                  <a:pt x="6048" y="29"/>
                </a:lnTo>
                <a:lnTo>
                  <a:pt x="5969" y="29"/>
                </a:lnTo>
                <a:lnTo>
                  <a:pt x="5969" y="0"/>
                </a:lnTo>
                <a:moveTo>
                  <a:pt x="6101" y="0"/>
                </a:moveTo>
                <a:lnTo>
                  <a:pt x="6181" y="0"/>
                </a:lnTo>
                <a:lnTo>
                  <a:pt x="6181" y="29"/>
                </a:lnTo>
                <a:lnTo>
                  <a:pt x="6101" y="29"/>
                </a:lnTo>
                <a:lnTo>
                  <a:pt x="6101" y="0"/>
                </a:lnTo>
                <a:moveTo>
                  <a:pt x="6234" y="0"/>
                </a:moveTo>
                <a:lnTo>
                  <a:pt x="6313" y="0"/>
                </a:lnTo>
                <a:lnTo>
                  <a:pt x="6313" y="29"/>
                </a:lnTo>
                <a:lnTo>
                  <a:pt x="6234" y="29"/>
                </a:lnTo>
                <a:lnTo>
                  <a:pt x="6234" y="0"/>
                </a:lnTo>
                <a:moveTo>
                  <a:pt x="6367" y="0"/>
                </a:moveTo>
                <a:lnTo>
                  <a:pt x="6446" y="0"/>
                </a:lnTo>
                <a:lnTo>
                  <a:pt x="6446" y="29"/>
                </a:lnTo>
                <a:lnTo>
                  <a:pt x="6367" y="29"/>
                </a:lnTo>
                <a:lnTo>
                  <a:pt x="6367" y="0"/>
                </a:lnTo>
                <a:moveTo>
                  <a:pt x="6499" y="0"/>
                </a:moveTo>
                <a:lnTo>
                  <a:pt x="6579" y="0"/>
                </a:lnTo>
                <a:lnTo>
                  <a:pt x="6579" y="29"/>
                </a:lnTo>
                <a:lnTo>
                  <a:pt x="6499" y="29"/>
                </a:lnTo>
                <a:lnTo>
                  <a:pt x="6499" y="0"/>
                </a:lnTo>
                <a:moveTo>
                  <a:pt x="6632" y="0"/>
                </a:moveTo>
                <a:lnTo>
                  <a:pt x="6711" y="0"/>
                </a:lnTo>
                <a:lnTo>
                  <a:pt x="6711" y="29"/>
                </a:lnTo>
                <a:lnTo>
                  <a:pt x="6632" y="29"/>
                </a:lnTo>
                <a:lnTo>
                  <a:pt x="6632" y="0"/>
                </a:lnTo>
                <a:moveTo>
                  <a:pt x="6764" y="0"/>
                </a:moveTo>
                <a:lnTo>
                  <a:pt x="6844" y="0"/>
                </a:lnTo>
                <a:lnTo>
                  <a:pt x="6844" y="29"/>
                </a:lnTo>
                <a:lnTo>
                  <a:pt x="6764" y="29"/>
                </a:lnTo>
                <a:lnTo>
                  <a:pt x="6764" y="0"/>
                </a:lnTo>
                <a:moveTo>
                  <a:pt x="6897" y="0"/>
                </a:moveTo>
                <a:lnTo>
                  <a:pt x="6976" y="0"/>
                </a:lnTo>
                <a:lnTo>
                  <a:pt x="6976" y="29"/>
                </a:lnTo>
                <a:lnTo>
                  <a:pt x="6897" y="29"/>
                </a:lnTo>
                <a:lnTo>
                  <a:pt x="6897" y="0"/>
                </a:lnTo>
                <a:moveTo>
                  <a:pt x="7030" y="0"/>
                </a:moveTo>
                <a:lnTo>
                  <a:pt x="7109" y="0"/>
                </a:lnTo>
                <a:lnTo>
                  <a:pt x="7109" y="29"/>
                </a:lnTo>
                <a:lnTo>
                  <a:pt x="7030" y="29"/>
                </a:lnTo>
                <a:lnTo>
                  <a:pt x="7030" y="0"/>
                </a:lnTo>
                <a:moveTo>
                  <a:pt x="7162" y="0"/>
                </a:moveTo>
                <a:lnTo>
                  <a:pt x="7242" y="0"/>
                </a:lnTo>
                <a:lnTo>
                  <a:pt x="7242" y="29"/>
                </a:lnTo>
                <a:lnTo>
                  <a:pt x="7162" y="29"/>
                </a:lnTo>
                <a:lnTo>
                  <a:pt x="7162" y="0"/>
                </a:lnTo>
                <a:moveTo>
                  <a:pt x="7295" y="0"/>
                </a:moveTo>
                <a:lnTo>
                  <a:pt x="7374" y="0"/>
                </a:lnTo>
                <a:lnTo>
                  <a:pt x="7374" y="29"/>
                </a:lnTo>
                <a:lnTo>
                  <a:pt x="7295" y="29"/>
                </a:lnTo>
                <a:lnTo>
                  <a:pt x="7295" y="0"/>
                </a:lnTo>
                <a:moveTo>
                  <a:pt x="7428" y="0"/>
                </a:moveTo>
                <a:lnTo>
                  <a:pt x="7507" y="0"/>
                </a:lnTo>
                <a:lnTo>
                  <a:pt x="7507" y="29"/>
                </a:lnTo>
                <a:lnTo>
                  <a:pt x="7428" y="29"/>
                </a:lnTo>
                <a:lnTo>
                  <a:pt x="7428" y="0"/>
                </a:lnTo>
                <a:moveTo>
                  <a:pt x="7560" y="0"/>
                </a:moveTo>
                <a:lnTo>
                  <a:pt x="7640" y="0"/>
                </a:lnTo>
                <a:lnTo>
                  <a:pt x="7640" y="29"/>
                </a:lnTo>
                <a:lnTo>
                  <a:pt x="7560" y="29"/>
                </a:lnTo>
                <a:lnTo>
                  <a:pt x="7560" y="0"/>
                </a:lnTo>
                <a:moveTo>
                  <a:pt x="7693" y="0"/>
                </a:moveTo>
                <a:lnTo>
                  <a:pt x="7772" y="0"/>
                </a:lnTo>
                <a:lnTo>
                  <a:pt x="7772" y="29"/>
                </a:lnTo>
                <a:lnTo>
                  <a:pt x="7693" y="29"/>
                </a:lnTo>
                <a:lnTo>
                  <a:pt x="7693" y="0"/>
                </a:lnTo>
                <a:moveTo>
                  <a:pt x="7826" y="0"/>
                </a:moveTo>
                <a:lnTo>
                  <a:pt x="7905" y="0"/>
                </a:lnTo>
                <a:lnTo>
                  <a:pt x="7905" y="29"/>
                </a:lnTo>
                <a:lnTo>
                  <a:pt x="7826" y="29"/>
                </a:lnTo>
                <a:lnTo>
                  <a:pt x="7826" y="0"/>
                </a:lnTo>
                <a:moveTo>
                  <a:pt x="7958" y="0"/>
                </a:moveTo>
                <a:lnTo>
                  <a:pt x="8038" y="0"/>
                </a:lnTo>
                <a:lnTo>
                  <a:pt x="8038" y="29"/>
                </a:lnTo>
                <a:lnTo>
                  <a:pt x="7958" y="29"/>
                </a:lnTo>
                <a:lnTo>
                  <a:pt x="7958" y="0"/>
                </a:lnTo>
                <a:moveTo>
                  <a:pt x="8091" y="0"/>
                </a:moveTo>
                <a:lnTo>
                  <a:pt x="8170" y="0"/>
                </a:lnTo>
                <a:lnTo>
                  <a:pt x="8170" y="29"/>
                </a:lnTo>
                <a:lnTo>
                  <a:pt x="8091" y="29"/>
                </a:lnTo>
                <a:lnTo>
                  <a:pt x="8091" y="0"/>
                </a:lnTo>
                <a:moveTo>
                  <a:pt x="8224" y="0"/>
                </a:moveTo>
                <a:lnTo>
                  <a:pt x="8303" y="0"/>
                </a:lnTo>
                <a:lnTo>
                  <a:pt x="8303" y="29"/>
                </a:lnTo>
                <a:lnTo>
                  <a:pt x="8224" y="29"/>
                </a:lnTo>
                <a:lnTo>
                  <a:pt x="8224" y="0"/>
                </a:lnTo>
                <a:moveTo>
                  <a:pt x="8356" y="0"/>
                </a:moveTo>
                <a:lnTo>
                  <a:pt x="8436" y="0"/>
                </a:lnTo>
                <a:lnTo>
                  <a:pt x="8436" y="29"/>
                </a:lnTo>
                <a:lnTo>
                  <a:pt x="8356" y="29"/>
                </a:lnTo>
                <a:lnTo>
                  <a:pt x="8356" y="0"/>
                </a:lnTo>
                <a:moveTo>
                  <a:pt x="8489" y="0"/>
                </a:moveTo>
                <a:lnTo>
                  <a:pt x="8568" y="0"/>
                </a:lnTo>
                <a:lnTo>
                  <a:pt x="8568" y="29"/>
                </a:lnTo>
                <a:lnTo>
                  <a:pt x="8489" y="29"/>
                </a:lnTo>
                <a:lnTo>
                  <a:pt x="8489" y="0"/>
                </a:lnTo>
                <a:moveTo>
                  <a:pt x="8621" y="0"/>
                </a:moveTo>
                <a:lnTo>
                  <a:pt x="8701" y="0"/>
                </a:lnTo>
                <a:lnTo>
                  <a:pt x="8701" y="29"/>
                </a:lnTo>
                <a:lnTo>
                  <a:pt x="8621" y="29"/>
                </a:lnTo>
                <a:lnTo>
                  <a:pt x="8621" y="0"/>
                </a:lnTo>
                <a:moveTo>
                  <a:pt x="8754" y="0"/>
                </a:moveTo>
                <a:lnTo>
                  <a:pt x="8833" y="0"/>
                </a:lnTo>
                <a:lnTo>
                  <a:pt x="8833" y="29"/>
                </a:lnTo>
                <a:lnTo>
                  <a:pt x="8754" y="29"/>
                </a:lnTo>
                <a:lnTo>
                  <a:pt x="8754" y="0"/>
                </a:lnTo>
                <a:moveTo>
                  <a:pt x="8887" y="0"/>
                </a:moveTo>
                <a:lnTo>
                  <a:pt x="8966" y="0"/>
                </a:lnTo>
                <a:lnTo>
                  <a:pt x="8966" y="29"/>
                </a:lnTo>
                <a:lnTo>
                  <a:pt x="8887" y="29"/>
                </a:lnTo>
                <a:lnTo>
                  <a:pt x="8887" y="0"/>
                </a:lnTo>
                <a:moveTo>
                  <a:pt x="9019" y="0"/>
                </a:moveTo>
                <a:lnTo>
                  <a:pt x="9100" y="0"/>
                </a:lnTo>
                <a:lnTo>
                  <a:pt x="9100" y="29"/>
                </a:lnTo>
                <a:lnTo>
                  <a:pt x="9019" y="29"/>
                </a:lnTo>
                <a:lnTo>
                  <a:pt x="9019" y="0"/>
                </a:lnTo>
                <a:moveTo>
                  <a:pt x="9153" y="0"/>
                </a:moveTo>
                <a:lnTo>
                  <a:pt x="9232" y="0"/>
                </a:lnTo>
                <a:lnTo>
                  <a:pt x="9232" y="29"/>
                </a:lnTo>
                <a:lnTo>
                  <a:pt x="9153" y="29"/>
                </a:lnTo>
                <a:lnTo>
                  <a:pt x="9153" y="0"/>
                </a:lnTo>
                <a:moveTo>
                  <a:pt x="9286" y="0"/>
                </a:moveTo>
                <a:lnTo>
                  <a:pt x="9365" y="0"/>
                </a:lnTo>
                <a:lnTo>
                  <a:pt x="9365" y="29"/>
                </a:lnTo>
                <a:lnTo>
                  <a:pt x="9286" y="29"/>
                </a:lnTo>
                <a:lnTo>
                  <a:pt x="9286" y="0"/>
                </a:lnTo>
                <a:moveTo>
                  <a:pt x="9418" y="0"/>
                </a:moveTo>
                <a:lnTo>
                  <a:pt x="9498" y="0"/>
                </a:lnTo>
                <a:lnTo>
                  <a:pt x="9498" y="29"/>
                </a:lnTo>
                <a:lnTo>
                  <a:pt x="9418" y="29"/>
                </a:lnTo>
                <a:lnTo>
                  <a:pt x="9418" y="0"/>
                </a:lnTo>
                <a:moveTo>
                  <a:pt x="9551" y="0"/>
                </a:moveTo>
                <a:lnTo>
                  <a:pt x="9630" y="0"/>
                </a:lnTo>
                <a:lnTo>
                  <a:pt x="9630" y="29"/>
                </a:lnTo>
                <a:lnTo>
                  <a:pt x="9551" y="29"/>
                </a:lnTo>
                <a:lnTo>
                  <a:pt x="9551" y="0"/>
                </a:lnTo>
                <a:moveTo>
                  <a:pt x="9684" y="0"/>
                </a:moveTo>
                <a:lnTo>
                  <a:pt x="9763" y="0"/>
                </a:lnTo>
                <a:lnTo>
                  <a:pt x="9763" y="29"/>
                </a:lnTo>
                <a:lnTo>
                  <a:pt x="9684" y="29"/>
                </a:lnTo>
                <a:lnTo>
                  <a:pt x="9684" y="0"/>
                </a:lnTo>
                <a:moveTo>
                  <a:pt x="9816" y="0"/>
                </a:moveTo>
                <a:lnTo>
                  <a:pt x="9896" y="0"/>
                </a:lnTo>
                <a:lnTo>
                  <a:pt x="9896" y="29"/>
                </a:lnTo>
                <a:lnTo>
                  <a:pt x="9816" y="29"/>
                </a:lnTo>
                <a:lnTo>
                  <a:pt x="9816" y="0"/>
                </a:lnTo>
                <a:moveTo>
                  <a:pt x="9949" y="0"/>
                </a:moveTo>
                <a:lnTo>
                  <a:pt x="10028" y="0"/>
                </a:lnTo>
                <a:lnTo>
                  <a:pt x="10028" y="29"/>
                </a:lnTo>
                <a:lnTo>
                  <a:pt x="9949" y="29"/>
                </a:lnTo>
                <a:lnTo>
                  <a:pt x="9949" y="0"/>
                </a:lnTo>
                <a:moveTo>
                  <a:pt x="10081" y="0"/>
                </a:moveTo>
                <a:lnTo>
                  <a:pt x="10161" y="0"/>
                </a:lnTo>
                <a:lnTo>
                  <a:pt x="10161" y="29"/>
                </a:lnTo>
                <a:lnTo>
                  <a:pt x="10081" y="29"/>
                </a:lnTo>
                <a:lnTo>
                  <a:pt x="10081" y="0"/>
                </a:lnTo>
                <a:moveTo>
                  <a:pt x="10214" y="0"/>
                </a:moveTo>
                <a:lnTo>
                  <a:pt x="10293" y="0"/>
                </a:lnTo>
                <a:lnTo>
                  <a:pt x="10293" y="29"/>
                </a:lnTo>
                <a:lnTo>
                  <a:pt x="10214" y="29"/>
                </a:lnTo>
                <a:lnTo>
                  <a:pt x="10214" y="0"/>
                </a:lnTo>
                <a:moveTo>
                  <a:pt x="10347" y="0"/>
                </a:moveTo>
                <a:lnTo>
                  <a:pt x="10426" y="0"/>
                </a:lnTo>
                <a:lnTo>
                  <a:pt x="10426" y="29"/>
                </a:lnTo>
                <a:lnTo>
                  <a:pt x="10347" y="29"/>
                </a:lnTo>
                <a:lnTo>
                  <a:pt x="10347" y="0"/>
                </a:lnTo>
                <a:moveTo>
                  <a:pt x="10479" y="0"/>
                </a:moveTo>
                <a:lnTo>
                  <a:pt x="10559" y="0"/>
                </a:lnTo>
                <a:lnTo>
                  <a:pt x="10559" y="29"/>
                </a:lnTo>
                <a:lnTo>
                  <a:pt x="10479" y="29"/>
                </a:lnTo>
                <a:lnTo>
                  <a:pt x="10479" y="0"/>
                </a:lnTo>
                <a:moveTo>
                  <a:pt x="10612" y="0"/>
                </a:moveTo>
                <a:lnTo>
                  <a:pt x="10691" y="0"/>
                </a:lnTo>
                <a:lnTo>
                  <a:pt x="10691" y="29"/>
                </a:lnTo>
                <a:lnTo>
                  <a:pt x="10612" y="29"/>
                </a:lnTo>
                <a:lnTo>
                  <a:pt x="10612" y="0"/>
                </a:lnTo>
                <a:moveTo>
                  <a:pt x="10745" y="0"/>
                </a:moveTo>
                <a:lnTo>
                  <a:pt x="10824" y="0"/>
                </a:lnTo>
                <a:lnTo>
                  <a:pt x="10824" y="29"/>
                </a:lnTo>
                <a:lnTo>
                  <a:pt x="10745" y="29"/>
                </a:lnTo>
                <a:lnTo>
                  <a:pt x="10745" y="0"/>
                </a:lnTo>
                <a:moveTo>
                  <a:pt x="10877" y="0"/>
                </a:moveTo>
                <a:lnTo>
                  <a:pt x="10957" y="0"/>
                </a:lnTo>
                <a:lnTo>
                  <a:pt x="10957" y="29"/>
                </a:lnTo>
                <a:lnTo>
                  <a:pt x="10877" y="29"/>
                </a:lnTo>
                <a:lnTo>
                  <a:pt x="10877" y="0"/>
                </a:lnTo>
                <a:moveTo>
                  <a:pt x="11010" y="0"/>
                </a:moveTo>
                <a:lnTo>
                  <a:pt x="11089" y="0"/>
                </a:lnTo>
                <a:lnTo>
                  <a:pt x="11089" y="29"/>
                </a:lnTo>
                <a:lnTo>
                  <a:pt x="11010" y="29"/>
                </a:lnTo>
                <a:lnTo>
                  <a:pt x="11010" y="0"/>
                </a:lnTo>
                <a:moveTo>
                  <a:pt x="11143" y="0"/>
                </a:moveTo>
                <a:lnTo>
                  <a:pt x="11222" y="0"/>
                </a:lnTo>
                <a:lnTo>
                  <a:pt x="11222" y="29"/>
                </a:lnTo>
                <a:lnTo>
                  <a:pt x="11143" y="29"/>
                </a:lnTo>
                <a:lnTo>
                  <a:pt x="11143" y="0"/>
                </a:lnTo>
                <a:moveTo>
                  <a:pt x="11275" y="0"/>
                </a:moveTo>
                <a:lnTo>
                  <a:pt x="11355" y="0"/>
                </a:lnTo>
                <a:lnTo>
                  <a:pt x="11355" y="29"/>
                </a:lnTo>
                <a:lnTo>
                  <a:pt x="11275" y="29"/>
                </a:lnTo>
                <a:lnTo>
                  <a:pt x="11275" y="0"/>
                </a:lnTo>
                <a:moveTo>
                  <a:pt x="11408" y="0"/>
                </a:moveTo>
                <a:lnTo>
                  <a:pt x="11487" y="0"/>
                </a:lnTo>
                <a:lnTo>
                  <a:pt x="11487" y="29"/>
                </a:lnTo>
                <a:lnTo>
                  <a:pt x="11408" y="29"/>
                </a:lnTo>
                <a:lnTo>
                  <a:pt x="11408" y="0"/>
                </a:lnTo>
                <a:moveTo>
                  <a:pt x="11540" y="0"/>
                </a:moveTo>
                <a:lnTo>
                  <a:pt x="11620" y="0"/>
                </a:lnTo>
                <a:lnTo>
                  <a:pt x="11620" y="29"/>
                </a:lnTo>
                <a:lnTo>
                  <a:pt x="11540" y="29"/>
                </a:lnTo>
                <a:lnTo>
                  <a:pt x="11540" y="0"/>
                </a:lnTo>
                <a:moveTo>
                  <a:pt x="11673" y="0"/>
                </a:moveTo>
                <a:lnTo>
                  <a:pt x="11753" y="0"/>
                </a:lnTo>
                <a:lnTo>
                  <a:pt x="11753" y="29"/>
                </a:lnTo>
                <a:lnTo>
                  <a:pt x="11673" y="29"/>
                </a:lnTo>
                <a:lnTo>
                  <a:pt x="11673" y="0"/>
                </a:lnTo>
                <a:moveTo>
                  <a:pt x="11806" y="0"/>
                </a:moveTo>
                <a:lnTo>
                  <a:pt x="11885" y="0"/>
                </a:lnTo>
                <a:lnTo>
                  <a:pt x="11885" y="29"/>
                </a:lnTo>
                <a:lnTo>
                  <a:pt x="11806" y="29"/>
                </a:lnTo>
                <a:lnTo>
                  <a:pt x="11806" y="0"/>
                </a:lnTo>
                <a:moveTo>
                  <a:pt x="11938" y="0"/>
                </a:moveTo>
                <a:lnTo>
                  <a:pt x="12018" y="0"/>
                </a:lnTo>
                <a:lnTo>
                  <a:pt x="12018" y="29"/>
                </a:lnTo>
                <a:lnTo>
                  <a:pt x="11938" y="29"/>
                </a:lnTo>
                <a:lnTo>
                  <a:pt x="11938" y="0"/>
                </a:lnTo>
                <a:moveTo>
                  <a:pt x="12071" y="0"/>
                </a:moveTo>
                <a:lnTo>
                  <a:pt x="12150" y="0"/>
                </a:lnTo>
                <a:lnTo>
                  <a:pt x="12150" y="29"/>
                </a:lnTo>
                <a:lnTo>
                  <a:pt x="12071" y="29"/>
                </a:lnTo>
                <a:lnTo>
                  <a:pt x="12071" y="0"/>
                </a:lnTo>
                <a:moveTo>
                  <a:pt x="12204" y="0"/>
                </a:moveTo>
                <a:lnTo>
                  <a:pt x="12283" y="0"/>
                </a:lnTo>
                <a:lnTo>
                  <a:pt x="12283" y="29"/>
                </a:lnTo>
                <a:lnTo>
                  <a:pt x="12204" y="29"/>
                </a:lnTo>
                <a:lnTo>
                  <a:pt x="12204" y="0"/>
                </a:lnTo>
                <a:moveTo>
                  <a:pt x="12336" y="0"/>
                </a:moveTo>
                <a:lnTo>
                  <a:pt x="12416" y="0"/>
                </a:lnTo>
                <a:lnTo>
                  <a:pt x="12416" y="29"/>
                </a:lnTo>
                <a:lnTo>
                  <a:pt x="12336" y="29"/>
                </a:lnTo>
                <a:lnTo>
                  <a:pt x="12336" y="0"/>
                </a:lnTo>
                <a:moveTo>
                  <a:pt x="12469" y="0"/>
                </a:moveTo>
                <a:lnTo>
                  <a:pt x="12548" y="0"/>
                </a:lnTo>
                <a:lnTo>
                  <a:pt x="12548" y="29"/>
                </a:lnTo>
                <a:lnTo>
                  <a:pt x="12469" y="29"/>
                </a:lnTo>
                <a:lnTo>
                  <a:pt x="12469" y="0"/>
                </a:lnTo>
                <a:moveTo>
                  <a:pt x="12602" y="0"/>
                </a:moveTo>
                <a:lnTo>
                  <a:pt x="12681" y="0"/>
                </a:lnTo>
                <a:lnTo>
                  <a:pt x="12681" y="29"/>
                </a:lnTo>
                <a:lnTo>
                  <a:pt x="12602" y="29"/>
                </a:lnTo>
                <a:lnTo>
                  <a:pt x="12602" y="0"/>
                </a:lnTo>
                <a:moveTo>
                  <a:pt x="12734" y="0"/>
                </a:moveTo>
                <a:lnTo>
                  <a:pt x="12814" y="0"/>
                </a:lnTo>
                <a:lnTo>
                  <a:pt x="12814" y="29"/>
                </a:lnTo>
                <a:lnTo>
                  <a:pt x="12734" y="29"/>
                </a:lnTo>
                <a:lnTo>
                  <a:pt x="12734" y="0"/>
                </a:lnTo>
                <a:moveTo>
                  <a:pt x="12867" y="0"/>
                </a:moveTo>
                <a:lnTo>
                  <a:pt x="12946" y="0"/>
                </a:lnTo>
                <a:lnTo>
                  <a:pt x="12946" y="29"/>
                </a:lnTo>
                <a:lnTo>
                  <a:pt x="12867" y="29"/>
                </a:lnTo>
                <a:lnTo>
                  <a:pt x="12867" y="0"/>
                </a:lnTo>
                <a:moveTo>
                  <a:pt x="13000" y="0"/>
                </a:moveTo>
                <a:lnTo>
                  <a:pt x="13079" y="0"/>
                </a:lnTo>
                <a:lnTo>
                  <a:pt x="13079" y="29"/>
                </a:lnTo>
                <a:lnTo>
                  <a:pt x="13000" y="29"/>
                </a:lnTo>
                <a:lnTo>
                  <a:pt x="13000" y="0"/>
                </a:lnTo>
                <a:moveTo>
                  <a:pt x="13132" y="0"/>
                </a:moveTo>
                <a:lnTo>
                  <a:pt x="13212" y="0"/>
                </a:lnTo>
                <a:lnTo>
                  <a:pt x="13212" y="29"/>
                </a:lnTo>
                <a:lnTo>
                  <a:pt x="13132" y="29"/>
                </a:lnTo>
                <a:lnTo>
                  <a:pt x="13132" y="0"/>
                </a:lnTo>
                <a:moveTo>
                  <a:pt x="13265" y="0"/>
                </a:moveTo>
                <a:lnTo>
                  <a:pt x="13344" y="0"/>
                </a:lnTo>
                <a:lnTo>
                  <a:pt x="13344" y="29"/>
                </a:lnTo>
                <a:lnTo>
                  <a:pt x="13265" y="29"/>
                </a:lnTo>
                <a:lnTo>
                  <a:pt x="13265" y="0"/>
                </a:lnTo>
                <a:moveTo>
                  <a:pt x="13397" y="0"/>
                </a:moveTo>
                <a:lnTo>
                  <a:pt x="13477" y="0"/>
                </a:lnTo>
                <a:lnTo>
                  <a:pt x="13477" y="29"/>
                </a:lnTo>
                <a:lnTo>
                  <a:pt x="13397" y="29"/>
                </a:lnTo>
                <a:lnTo>
                  <a:pt x="13397" y="0"/>
                </a:lnTo>
                <a:moveTo>
                  <a:pt x="13530" y="0"/>
                </a:moveTo>
                <a:lnTo>
                  <a:pt x="13609" y="0"/>
                </a:lnTo>
                <a:lnTo>
                  <a:pt x="13609" y="29"/>
                </a:lnTo>
                <a:lnTo>
                  <a:pt x="13530" y="29"/>
                </a:lnTo>
                <a:lnTo>
                  <a:pt x="13530" y="0"/>
                </a:lnTo>
                <a:moveTo>
                  <a:pt x="13663" y="0"/>
                </a:moveTo>
                <a:lnTo>
                  <a:pt x="13742" y="0"/>
                </a:lnTo>
                <a:lnTo>
                  <a:pt x="13742" y="29"/>
                </a:lnTo>
                <a:lnTo>
                  <a:pt x="13663" y="29"/>
                </a:lnTo>
                <a:lnTo>
                  <a:pt x="13663" y="0"/>
                </a:lnTo>
                <a:moveTo>
                  <a:pt x="13795" y="0"/>
                </a:moveTo>
                <a:lnTo>
                  <a:pt x="13875" y="0"/>
                </a:lnTo>
                <a:lnTo>
                  <a:pt x="13875" y="29"/>
                </a:lnTo>
                <a:lnTo>
                  <a:pt x="13795" y="29"/>
                </a:lnTo>
                <a:lnTo>
                  <a:pt x="13795" y="0"/>
                </a:lnTo>
                <a:moveTo>
                  <a:pt x="13928" y="0"/>
                </a:moveTo>
                <a:lnTo>
                  <a:pt x="14007" y="0"/>
                </a:lnTo>
                <a:lnTo>
                  <a:pt x="14007" y="29"/>
                </a:lnTo>
                <a:lnTo>
                  <a:pt x="13928" y="29"/>
                </a:lnTo>
                <a:lnTo>
                  <a:pt x="13928" y="0"/>
                </a:lnTo>
                <a:moveTo>
                  <a:pt x="14061" y="0"/>
                </a:moveTo>
                <a:lnTo>
                  <a:pt x="14140" y="0"/>
                </a:lnTo>
                <a:lnTo>
                  <a:pt x="14140" y="29"/>
                </a:lnTo>
                <a:lnTo>
                  <a:pt x="14061" y="29"/>
                </a:lnTo>
                <a:lnTo>
                  <a:pt x="14061" y="0"/>
                </a:lnTo>
                <a:moveTo>
                  <a:pt x="14193" y="0"/>
                </a:moveTo>
                <a:lnTo>
                  <a:pt x="14273" y="0"/>
                </a:lnTo>
                <a:lnTo>
                  <a:pt x="14273" y="29"/>
                </a:lnTo>
                <a:lnTo>
                  <a:pt x="14193" y="29"/>
                </a:lnTo>
                <a:lnTo>
                  <a:pt x="14193" y="0"/>
                </a:lnTo>
                <a:moveTo>
                  <a:pt x="14326" y="0"/>
                </a:moveTo>
                <a:lnTo>
                  <a:pt x="14405" y="0"/>
                </a:lnTo>
                <a:lnTo>
                  <a:pt x="14405" y="29"/>
                </a:lnTo>
                <a:lnTo>
                  <a:pt x="14326" y="29"/>
                </a:lnTo>
                <a:lnTo>
                  <a:pt x="14326" y="0"/>
                </a:lnTo>
                <a:moveTo>
                  <a:pt x="14459" y="0"/>
                </a:moveTo>
                <a:lnTo>
                  <a:pt x="14538" y="0"/>
                </a:lnTo>
                <a:lnTo>
                  <a:pt x="14538" y="29"/>
                </a:lnTo>
                <a:lnTo>
                  <a:pt x="14459" y="29"/>
                </a:lnTo>
                <a:lnTo>
                  <a:pt x="14459" y="0"/>
                </a:lnTo>
                <a:moveTo>
                  <a:pt x="14591" y="0"/>
                </a:moveTo>
                <a:lnTo>
                  <a:pt x="14671" y="0"/>
                </a:lnTo>
                <a:lnTo>
                  <a:pt x="14671" y="29"/>
                </a:lnTo>
                <a:lnTo>
                  <a:pt x="14591" y="29"/>
                </a:lnTo>
                <a:lnTo>
                  <a:pt x="14591" y="0"/>
                </a:lnTo>
                <a:moveTo>
                  <a:pt x="14724" y="0"/>
                </a:moveTo>
                <a:lnTo>
                  <a:pt x="14803" y="0"/>
                </a:lnTo>
                <a:lnTo>
                  <a:pt x="14803" y="29"/>
                </a:lnTo>
                <a:lnTo>
                  <a:pt x="14724" y="29"/>
                </a:lnTo>
                <a:lnTo>
                  <a:pt x="14724" y="0"/>
                </a:lnTo>
                <a:moveTo>
                  <a:pt x="14856" y="0"/>
                </a:moveTo>
                <a:lnTo>
                  <a:pt x="14936" y="0"/>
                </a:lnTo>
                <a:lnTo>
                  <a:pt x="14936" y="29"/>
                </a:lnTo>
                <a:lnTo>
                  <a:pt x="14856" y="29"/>
                </a:lnTo>
                <a:lnTo>
                  <a:pt x="14856" y="0"/>
                </a:lnTo>
                <a:moveTo>
                  <a:pt x="14989" y="0"/>
                </a:moveTo>
                <a:lnTo>
                  <a:pt x="15069" y="0"/>
                </a:lnTo>
                <a:lnTo>
                  <a:pt x="15069" y="29"/>
                </a:lnTo>
                <a:lnTo>
                  <a:pt x="14989" y="29"/>
                </a:lnTo>
                <a:lnTo>
                  <a:pt x="14989" y="0"/>
                </a:lnTo>
                <a:moveTo>
                  <a:pt x="15122" y="0"/>
                </a:moveTo>
                <a:lnTo>
                  <a:pt x="15201" y="0"/>
                </a:lnTo>
                <a:lnTo>
                  <a:pt x="15201" y="29"/>
                </a:lnTo>
                <a:lnTo>
                  <a:pt x="15122" y="29"/>
                </a:lnTo>
                <a:lnTo>
                  <a:pt x="15122" y="0"/>
                </a:lnTo>
                <a:moveTo>
                  <a:pt x="15254" y="0"/>
                </a:moveTo>
                <a:lnTo>
                  <a:pt x="15334" y="0"/>
                </a:lnTo>
                <a:lnTo>
                  <a:pt x="15334" y="29"/>
                </a:lnTo>
                <a:lnTo>
                  <a:pt x="15254" y="29"/>
                </a:lnTo>
                <a:lnTo>
                  <a:pt x="15254" y="0"/>
                </a:lnTo>
                <a:moveTo>
                  <a:pt x="15387" y="0"/>
                </a:moveTo>
                <a:lnTo>
                  <a:pt x="15466" y="0"/>
                </a:lnTo>
                <a:lnTo>
                  <a:pt x="15466" y="29"/>
                </a:lnTo>
                <a:lnTo>
                  <a:pt x="15387" y="29"/>
                </a:lnTo>
                <a:lnTo>
                  <a:pt x="15387" y="0"/>
                </a:lnTo>
                <a:moveTo>
                  <a:pt x="15520" y="0"/>
                </a:moveTo>
                <a:lnTo>
                  <a:pt x="15599" y="0"/>
                </a:lnTo>
                <a:lnTo>
                  <a:pt x="15599" y="29"/>
                </a:lnTo>
                <a:lnTo>
                  <a:pt x="15520" y="29"/>
                </a:lnTo>
                <a:lnTo>
                  <a:pt x="15520" y="0"/>
                </a:lnTo>
                <a:moveTo>
                  <a:pt x="15652" y="0"/>
                </a:moveTo>
                <a:lnTo>
                  <a:pt x="15732" y="0"/>
                </a:lnTo>
                <a:lnTo>
                  <a:pt x="15732" y="29"/>
                </a:lnTo>
                <a:lnTo>
                  <a:pt x="15652" y="29"/>
                </a:lnTo>
                <a:lnTo>
                  <a:pt x="15652" y="0"/>
                </a:lnTo>
                <a:moveTo>
                  <a:pt x="15785" y="0"/>
                </a:moveTo>
                <a:lnTo>
                  <a:pt x="15864" y="0"/>
                </a:lnTo>
                <a:lnTo>
                  <a:pt x="15864" y="29"/>
                </a:lnTo>
                <a:lnTo>
                  <a:pt x="15785" y="29"/>
                </a:lnTo>
                <a:lnTo>
                  <a:pt x="15785" y="0"/>
                </a:lnTo>
                <a:moveTo>
                  <a:pt x="15918" y="0"/>
                </a:moveTo>
                <a:lnTo>
                  <a:pt x="15997" y="0"/>
                </a:lnTo>
                <a:lnTo>
                  <a:pt x="15997" y="29"/>
                </a:lnTo>
                <a:lnTo>
                  <a:pt x="15918" y="29"/>
                </a:lnTo>
                <a:lnTo>
                  <a:pt x="15918" y="0"/>
                </a:lnTo>
                <a:moveTo>
                  <a:pt x="16050" y="0"/>
                </a:moveTo>
                <a:lnTo>
                  <a:pt x="16130" y="0"/>
                </a:lnTo>
                <a:lnTo>
                  <a:pt x="16130" y="29"/>
                </a:lnTo>
                <a:lnTo>
                  <a:pt x="16050" y="29"/>
                </a:lnTo>
                <a:lnTo>
                  <a:pt x="16050" y="0"/>
                </a:lnTo>
                <a:moveTo>
                  <a:pt x="16183" y="0"/>
                </a:moveTo>
                <a:lnTo>
                  <a:pt x="16262" y="0"/>
                </a:lnTo>
                <a:lnTo>
                  <a:pt x="16262" y="29"/>
                </a:lnTo>
                <a:lnTo>
                  <a:pt x="16183" y="29"/>
                </a:lnTo>
                <a:lnTo>
                  <a:pt x="16183" y="0"/>
                </a:lnTo>
                <a:moveTo>
                  <a:pt x="16316" y="0"/>
                </a:moveTo>
                <a:lnTo>
                  <a:pt x="16395" y="0"/>
                </a:lnTo>
                <a:lnTo>
                  <a:pt x="16395" y="29"/>
                </a:lnTo>
                <a:lnTo>
                  <a:pt x="16316" y="29"/>
                </a:lnTo>
                <a:lnTo>
                  <a:pt x="16316" y="0"/>
                </a:lnTo>
                <a:moveTo>
                  <a:pt x="16448" y="0"/>
                </a:moveTo>
                <a:lnTo>
                  <a:pt x="16528" y="0"/>
                </a:lnTo>
                <a:lnTo>
                  <a:pt x="16528" y="29"/>
                </a:lnTo>
                <a:lnTo>
                  <a:pt x="16448" y="29"/>
                </a:lnTo>
                <a:lnTo>
                  <a:pt x="16448" y="0"/>
                </a:lnTo>
                <a:moveTo>
                  <a:pt x="16581" y="0"/>
                </a:moveTo>
                <a:lnTo>
                  <a:pt x="16660" y="0"/>
                </a:lnTo>
                <a:lnTo>
                  <a:pt x="16660" y="29"/>
                </a:lnTo>
                <a:lnTo>
                  <a:pt x="16581" y="29"/>
                </a:lnTo>
                <a:lnTo>
                  <a:pt x="16581" y="0"/>
                </a:lnTo>
                <a:moveTo>
                  <a:pt x="16713" y="0"/>
                </a:moveTo>
                <a:lnTo>
                  <a:pt x="16793" y="0"/>
                </a:lnTo>
                <a:lnTo>
                  <a:pt x="16793" y="29"/>
                </a:lnTo>
                <a:lnTo>
                  <a:pt x="16713" y="29"/>
                </a:lnTo>
                <a:lnTo>
                  <a:pt x="16713" y="0"/>
                </a:lnTo>
                <a:moveTo>
                  <a:pt x="16846" y="0"/>
                </a:moveTo>
                <a:lnTo>
                  <a:pt x="16925" y="0"/>
                </a:lnTo>
                <a:lnTo>
                  <a:pt x="16925" y="29"/>
                </a:lnTo>
                <a:lnTo>
                  <a:pt x="16846" y="29"/>
                </a:lnTo>
                <a:lnTo>
                  <a:pt x="16846" y="0"/>
                </a:lnTo>
                <a:moveTo>
                  <a:pt x="16979" y="0"/>
                </a:moveTo>
                <a:lnTo>
                  <a:pt x="17058" y="0"/>
                </a:lnTo>
                <a:lnTo>
                  <a:pt x="17058" y="29"/>
                </a:lnTo>
                <a:lnTo>
                  <a:pt x="16979" y="29"/>
                </a:lnTo>
                <a:lnTo>
                  <a:pt x="16979" y="0"/>
                </a:lnTo>
                <a:moveTo>
                  <a:pt x="17111" y="0"/>
                </a:moveTo>
                <a:lnTo>
                  <a:pt x="17191" y="0"/>
                </a:lnTo>
                <a:lnTo>
                  <a:pt x="17191" y="29"/>
                </a:lnTo>
                <a:lnTo>
                  <a:pt x="17111" y="29"/>
                </a:lnTo>
                <a:lnTo>
                  <a:pt x="17111" y="0"/>
                </a:lnTo>
                <a:moveTo>
                  <a:pt x="17244" y="0"/>
                </a:moveTo>
                <a:lnTo>
                  <a:pt x="17323" y="0"/>
                </a:lnTo>
                <a:lnTo>
                  <a:pt x="17323" y="29"/>
                </a:lnTo>
                <a:lnTo>
                  <a:pt x="17244" y="29"/>
                </a:lnTo>
                <a:lnTo>
                  <a:pt x="17244" y="0"/>
                </a:lnTo>
                <a:moveTo>
                  <a:pt x="17377" y="0"/>
                </a:moveTo>
                <a:lnTo>
                  <a:pt x="17456" y="0"/>
                </a:lnTo>
                <a:lnTo>
                  <a:pt x="17456" y="29"/>
                </a:lnTo>
                <a:lnTo>
                  <a:pt x="17377" y="29"/>
                </a:lnTo>
                <a:lnTo>
                  <a:pt x="17377" y="0"/>
                </a:lnTo>
                <a:moveTo>
                  <a:pt x="17509" y="0"/>
                </a:moveTo>
                <a:lnTo>
                  <a:pt x="17589" y="0"/>
                </a:lnTo>
                <a:lnTo>
                  <a:pt x="17589" y="29"/>
                </a:lnTo>
                <a:lnTo>
                  <a:pt x="17509" y="29"/>
                </a:lnTo>
                <a:lnTo>
                  <a:pt x="17509" y="0"/>
                </a:lnTo>
                <a:moveTo>
                  <a:pt x="17642" y="0"/>
                </a:moveTo>
                <a:lnTo>
                  <a:pt x="17721" y="0"/>
                </a:lnTo>
                <a:lnTo>
                  <a:pt x="17721" y="29"/>
                </a:lnTo>
                <a:lnTo>
                  <a:pt x="17642" y="29"/>
                </a:lnTo>
                <a:lnTo>
                  <a:pt x="17642" y="0"/>
                </a:lnTo>
                <a:moveTo>
                  <a:pt x="17775" y="0"/>
                </a:moveTo>
                <a:lnTo>
                  <a:pt x="17854" y="0"/>
                </a:lnTo>
                <a:lnTo>
                  <a:pt x="17854" y="29"/>
                </a:lnTo>
                <a:lnTo>
                  <a:pt x="17775" y="29"/>
                </a:lnTo>
                <a:lnTo>
                  <a:pt x="17775" y="0"/>
                </a:lnTo>
                <a:moveTo>
                  <a:pt x="17907" y="0"/>
                </a:moveTo>
                <a:lnTo>
                  <a:pt x="17987" y="0"/>
                </a:lnTo>
                <a:lnTo>
                  <a:pt x="17987" y="29"/>
                </a:lnTo>
                <a:lnTo>
                  <a:pt x="17907" y="29"/>
                </a:lnTo>
                <a:lnTo>
                  <a:pt x="17907" y="0"/>
                </a:lnTo>
                <a:moveTo>
                  <a:pt x="18040" y="0"/>
                </a:moveTo>
                <a:lnTo>
                  <a:pt x="18119" y="0"/>
                </a:lnTo>
                <a:lnTo>
                  <a:pt x="18119" y="29"/>
                </a:lnTo>
                <a:lnTo>
                  <a:pt x="18040" y="29"/>
                </a:lnTo>
                <a:lnTo>
                  <a:pt x="18040" y="0"/>
                </a:lnTo>
                <a:moveTo>
                  <a:pt x="18172" y="0"/>
                </a:moveTo>
                <a:lnTo>
                  <a:pt x="18252" y="0"/>
                </a:lnTo>
                <a:lnTo>
                  <a:pt x="18252" y="29"/>
                </a:lnTo>
                <a:lnTo>
                  <a:pt x="18172" y="29"/>
                </a:lnTo>
                <a:lnTo>
                  <a:pt x="18172" y="0"/>
                </a:lnTo>
                <a:moveTo>
                  <a:pt x="18305" y="0"/>
                </a:moveTo>
                <a:lnTo>
                  <a:pt x="18385" y="0"/>
                </a:lnTo>
                <a:lnTo>
                  <a:pt x="18385" y="29"/>
                </a:lnTo>
                <a:lnTo>
                  <a:pt x="18305" y="29"/>
                </a:lnTo>
                <a:lnTo>
                  <a:pt x="18305" y="0"/>
                </a:lnTo>
                <a:moveTo>
                  <a:pt x="18438" y="0"/>
                </a:moveTo>
                <a:lnTo>
                  <a:pt x="18517" y="0"/>
                </a:lnTo>
                <a:lnTo>
                  <a:pt x="18517" y="29"/>
                </a:lnTo>
                <a:lnTo>
                  <a:pt x="18438" y="29"/>
                </a:lnTo>
                <a:lnTo>
                  <a:pt x="18438" y="0"/>
                </a:lnTo>
                <a:moveTo>
                  <a:pt x="18570" y="0"/>
                </a:moveTo>
                <a:lnTo>
                  <a:pt x="18650" y="0"/>
                </a:lnTo>
                <a:lnTo>
                  <a:pt x="18650" y="29"/>
                </a:lnTo>
                <a:lnTo>
                  <a:pt x="18570" y="29"/>
                </a:lnTo>
                <a:lnTo>
                  <a:pt x="18570" y="0"/>
                </a:lnTo>
                <a:moveTo>
                  <a:pt x="18703" y="0"/>
                </a:moveTo>
                <a:lnTo>
                  <a:pt x="18782" y="0"/>
                </a:lnTo>
                <a:lnTo>
                  <a:pt x="18782" y="29"/>
                </a:lnTo>
                <a:lnTo>
                  <a:pt x="18703" y="29"/>
                </a:lnTo>
                <a:lnTo>
                  <a:pt x="18703" y="0"/>
                </a:lnTo>
                <a:moveTo>
                  <a:pt x="18836" y="0"/>
                </a:moveTo>
                <a:lnTo>
                  <a:pt x="18915" y="0"/>
                </a:lnTo>
                <a:lnTo>
                  <a:pt x="18915" y="29"/>
                </a:lnTo>
                <a:lnTo>
                  <a:pt x="18836" y="29"/>
                </a:lnTo>
                <a:lnTo>
                  <a:pt x="18836" y="0"/>
                </a:lnTo>
                <a:moveTo>
                  <a:pt x="18968" y="0"/>
                </a:moveTo>
                <a:lnTo>
                  <a:pt x="19048" y="0"/>
                </a:lnTo>
                <a:lnTo>
                  <a:pt x="19048" y="29"/>
                </a:lnTo>
                <a:lnTo>
                  <a:pt x="18968" y="29"/>
                </a:lnTo>
                <a:lnTo>
                  <a:pt x="18968" y="0"/>
                </a:lnTo>
                <a:moveTo>
                  <a:pt x="19101" y="0"/>
                </a:moveTo>
                <a:lnTo>
                  <a:pt x="19180" y="0"/>
                </a:lnTo>
                <a:lnTo>
                  <a:pt x="19180" y="29"/>
                </a:lnTo>
                <a:lnTo>
                  <a:pt x="19101" y="29"/>
                </a:lnTo>
                <a:lnTo>
                  <a:pt x="19101" y="0"/>
                </a:lnTo>
                <a:moveTo>
                  <a:pt x="19234" y="0"/>
                </a:moveTo>
                <a:lnTo>
                  <a:pt x="19313" y="0"/>
                </a:lnTo>
                <a:lnTo>
                  <a:pt x="19313" y="29"/>
                </a:lnTo>
                <a:lnTo>
                  <a:pt x="19234" y="29"/>
                </a:lnTo>
                <a:lnTo>
                  <a:pt x="19234" y="0"/>
                </a:lnTo>
                <a:moveTo>
                  <a:pt x="19366" y="0"/>
                </a:moveTo>
                <a:lnTo>
                  <a:pt x="19446" y="0"/>
                </a:lnTo>
                <a:lnTo>
                  <a:pt x="19446" y="29"/>
                </a:lnTo>
                <a:lnTo>
                  <a:pt x="19366" y="29"/>
                </a:lnTo>
                <a:lnTo>
                  <a:pt x="19366" y="0"/>
                </a:lnTo>
                <a:moveTo>
                  <a:pt x="19499" y="0"/>
                </a:moveTo>
                <a:lnTo>
                  <a:pt x="19578" y="0"/>
                </a:lnTo>
                <a:lnTo>
                  <a:pt x="19578" y="29"/>
                </a:lnTo>
                <a:lnTo>
                  <a:pt x="19499" y="29"/>
                </a:lnTo>
                <a:lnTo>
                  <a:pt x="19499" y="0"/>
                </a:lnTo>
                <a:moveTo>
                  <a:pt x="19632" y="0"/>
                </a:moveTo>
                <a:lnTo>
                  <a:pt x="19711" y="0"/>
                </a:lnTo>
                <a:lnTo>
                  <a:pt x="19711" y="29"/>
                </a:lnTo>
                <a:lnTo>
                  <a:pt x="19632" y="29"/>
                </a:lnTo>
                <a:lnTo>
                  <a:pt x="19632" y="0"/>
                </a:lnTo>
                <a:moveTo>
                  <a:pt x="19764" y="0"/>
                </a:moveTo>
                <a:lnTo>
                  <a:pt x="19844" y="0"/>
                </a:lnTo>
                <a:lnTo>
                  <a:pt x="19844" y="29"/>
                </a:lnTo>
                <a:lnTo>
                  <a:pt x="19764" y="29"/>
                </a:lnTo>
                <a:lnTo>
                  <a:pt x="19764" y="0"/>
                </a:lnTo>
                <a:moveTo>
                  <a:pt x="19897" y="0"/>
                </a:moveTo>
                <a:lnTo>
                  <a:pt x="19976" y="0"/>
                </a:lnTo>
                <a:lnTo>
                  <a:pt x="19976" y="29"/>
                </a:lnTo>
                <a:lnTo>
                  <a:pt x="19897" y="29"/>
                </a:lnTo>
                <a:lnTo>
                  <a:pt x="19897" y="0"/>
                </a:lnTo>
                <a:moveTo>
                  <a:pt x="20029" y="0"/>
                </a:moveTo>
                <a:lnTo>
                  <a:pt x="20109" y="0"/>
                </a:lnTo>
                <a:lnTo>
                  <a:pt x="20109" y="29"/>
                </a:lnTo>
                <a:lnTo>
                  <a:pt x="20029" y="29"/>
                </a:lnTo>
                <a:lnTo>
                  <a:pt x="20029" y="0"/>
                </a:lnTo>
                <a:moveTo>
                  <a:pt x="20162" y="0"/>
                </a:moveTo>
                <a:lnTo>
                  <a:pt x="20241" y="0"/>
                </a:lnTo>
                <a:lnTo>
                  <a:pt x="20241" y="29"/>
                </a:lnTo>
                <a:lnTo>
                  <a:pt x="20162" y="29"/>
                </a:lnTo>
                <a:lnTo>
                  <a:pt x="20162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5144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659520" y="6242040"/>
            <a:ext cx="8636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文第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187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页：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1581840" y="6221520"/>
            <a:ext cx="3985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词频对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2017800" y="6242040"/>
            <a:ext cx="796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数化并采用滚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28893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3034440" y="6242040"/>
            <a:ext cx="796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算法，降低年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39060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4051440" y="6242040"/>
            <a:ext cx="29178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文本披露的异常偏差；首尾年份因缺前后一年会被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72468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739224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380880" y="1485720"/>
            <a:ext cx="11430360" cy="2657880"/>
          </a:xfrm>
          <a:custGeom>
            <a:avLst/>
            <a:gdLst/>
            <a:ahLst/>
            <a:rect l="0" t="0" r="r" b="b"/>
            <a:pathLst>
              <a:path w="31751" h="7383">
                <a:moveTo>
                  <a:pt x="0" y="0"/>
                </a:moveTo>
                <a:lnTo>
                  <a:pt x="31751" y="0"/>
                </a:lnTo>
                <a:lnTo>
                  <a:pt x="31751" y="7383"/>
                </a:lnTo>
                <a:lnTo>
                  <a:pt x="0" y="738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38088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代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7549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1128600" y="929880"/>
            <a:ext cx="18068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示例二：复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29980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现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3371760" y="929880"/>
            <a:ext cx="18068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双向固定效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52412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561492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回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598896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430920" y="1523160"/>
            <a:ext cx="968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import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pandas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as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pd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430920" y="1675440"/>
            <a:ext cx="2020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from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linearmodels.panel </a:t>
            </a:r>
            <a:r>
              <a:rPr lang="en-US" sz="790" b="0" u="none" strike="noStrike">
                <a:solidFill>
                  <a:srgbClr val="E28964"/>
                </a:solidFill>
                <a:effectLst/>
                <a:uFillTx/>
                <a:latin typeface="SourceCodeProExtraLight"/>
                <a:ea typeface="SourceCodeProExtraLight"/>
              </a:rPr>
              <a:t>import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PanelOLS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430920" y="1980360"/>
            <a:ext cx="18295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df = pd.read_csv(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"panel.csv"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               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3280320" y="1980360"/>
            <a:ext cx="1361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firm, year, DCG, Fintech,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4931640" y="2009520"/>
            <a:ext cx="397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控制变量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430920" y="2123280"/>
            <a:ext cx="1874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df = df.sort_values([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"firm"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"year"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])       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3280680" y="212328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3371760" y="2152440"/>
            <a:ext cx="793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必须先排序，否则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4200840" y="2123280"/>
            <a:ext cx="28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 shift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4592160" y="2152440"/>
            <a:ext cx="99144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取到上一行而非上一年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430920" y="2275560"/>
            <a:ext cx="2691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df[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"Fintech_L1"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 = df.groupby(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"firm"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"Fintech"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].shift(</a:t>
            </a:r>
            <a:r>
              <a:rPr lang="en-US" sz="790" b="0" u="none" strike="noStrike">
                <a:solidFill>
                  <a:srgbClr val="3387CC"/>
                </a:solidFill>
                <a:effectLst/>
                <a:uFillTx/>
                <a:latin typeface="SourceCodeProExtraLight"/>
                <a:ea typeface="SourceCodeProExtraLight"/>
              </a:rPr>
              <a:t>1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4060800" y="227556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4152240" y="2304720"/>
            <a:ext cx="397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滞后一期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430920" y="2428200"/>
            <a:ext cx="1532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df = df.set_index([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"firm"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"year"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])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459720" y="272340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551160" y="2752560"/>
            <a:ext cx="694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双向固定效应：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1279800" y="2723400"/>
            <a:ext cx="695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entity_effects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2151360" y="2752560"/>
            <a:ext cx="496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控制企业，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2680200" y="2723400"/>
            <a:ext cx="635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time_effects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3431520" y="2752560"/>
            <a:ext cx="39708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控制年份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430920" y="2875680"/>
            <a:ext cx="1607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model = PanelOLS.from_formula(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430920" y="3027960"/>
            <a:ext cx="301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"DCG ~ Fintech_L1 + Asset + Lev + Conce + Age + Turnover + 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430920" y="3180600"/>
            <a:ext cx="3697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"Dual + Audit + Allocation + Roe + QFII + GDP + Struc23 + Digital_economy 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430920" y="3323520"/>
            <a:ext cx="1565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"+ EntityEffects + TimeEffects"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430920" y="3475800"/>
            <a:ext cx="495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    data=df,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430920" y="3628080"/>
            <a:ext cx="99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430920" y="3780720"/>
            <a:ext cx="28126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res = model.fit(cov_type=</a:t>
            </a:r>
            <a:r>
              <a:rPr lang="en-US" sz="790" b="0" u="none" strike="noStrike">
                <a:solidFill>
                  <a:srgbClr val="65B042"/>
                </a:solidFill>
                <a:effectLst/>
                <a:uFillTx/>
                <a:latin typeface="SourceCodeProExtraLight"/>
                <a:ea typeface="SourceCodeProExtraLight"/>
              </a:rPr>
              <a:t>"clustered"</a:t>
            </a:r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, cluster_entity=True)   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4120560" y="3780720"/>
            <a:ext cx="9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AEAEAE"/>
                </a:solidFill>
                <a:effectLst/>
                <a:uFillTx/>
                <a:latin typeface="SourceCodeProExtraLight"/>
                <a:ea typeface="SourceCodeProExtraLight"/>
              </a:rPr>
              <a:t>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4211640" y="3809880"/>
            <a:ext cx="1090440" cy="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790" b="0" u="none" strike="noStrike">
                <a:solidFill>
                  <a:srgbClr val="AEAEAE"/>
                </a:solidFill>
                <a:effectLst/>
                <a:uFillTx/>
                <a:latin typeface="NSimSun"/>
                <a:ea typeface="NSimSun"/>
              </a:rPr>
              <a:t>企业层面聚类稳健标准误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430920" y="3923640"/>
            <a:ext cx="9349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90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print(res.summary)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380880" y="6190920"/>
            <a:ext cx="5010480" cy="10080"/>
          </a:xfrm>
          <a:custGeom>
            <a:avLst/>
            <a:gdLst/>
            <a:ahLst/>
            <a:rect l="0" t="0" r="r" b="b"/>
            <a:pathLst>
              <a:path w="13918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8"/>
                </a:lnTo>
                <a:lnTo>
                  <a:pt x="263" y="28"/>
                </a:lnTo>
                <a:lnTo>
                  <a:pt x="263" y="0"/>
                </a:lnTo>
                <a:moveTo>
                  <a:pt x="395" y="0"/>
                </a:moveTo>
                <a:lnTo>
                  <a:pt x="475" y="0"/>
                </a:lnTo>
                <a:lnTo>
                  <a:pt x="475" y="28"/>
                </a:lnTo>
                <a:lnTo>
                  <a:pt x="395" y="28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8"/>
                </a:lnTo>
                <a:lnTo>
                  <a:pt x="527" y="28"/>
                </a:lnTo>
                <a:lnTo>
                  <a:pt x="527" y="0"/>
                </a:lnTo>
                <a:moveTo>
                  <a:pt x="659" y="0"/>
                </a:moveTo>
                <a:lnTo>
                  <a:pt x="738" y="0"/>
                </a:lnTo>
                <a:lnTo>
                  <a:pt x="738" y="28"/>
                </a:lnTo>
                <a:lnTo>
                  <a:pt x="659" y="28"/>
                </a:lnTo>
                <a:lnTo>
                  <a:pt x="659" y="0"/>
                </a:lnTo>
                <a:moveTo>
                  <a:pt x="791" y="0"/>
                </a:moveTo>
                <a:lnTo>
                  <a:pt x="870" y="0"/>
                </a:lnTo>
                <a:lnTo>
                  <a:pt x="870" y="28"/>
                </a:lnTo>
                <a:lnTo>
                  <a:pt x="791" y="28"/>
                </a:lnTo>
                <a:lnTo>
                  <a:pt x="791" y="0"/>
                </a:lnTo>
                <a:moveTo>
                  <a:pt x="922" y="0"/>
                </a:moveTo>
                <a:lnTo>
                  <a:pt x="1002" y="0"/>
                </a:lnTo>
                <a:lnTo>
                  <a:pt x="1002" y="28"/>
                </a:lnTo>
                <a:lnTo>
                  <a:pt x="922" y="28"/>
                </a:lnTo>
                <a:lnTo>
                  <a:pt x="922" y="0"/>
                </a:lnTo>
                <a:moveTo>
                  <a:pt x="1054" y="0"/>
                </a:moveTo>
                <a:lnTo>
                  <a:pt x="1134" y="0"/>
                </a:lnTo>
                <a:lnTo>
                  <a:pt x="1134" y="28"/>
                </a:lnTo>
                <a:lnTo>
                  <a:pt x="1054" y="28"/>
                </a:lnTo>
                <a:lnTo>
                  <a:pt x="1054" y="0"/>
                </a:lnTo>
                <a:moveTo>
                  <a:pt x="1186" y="0"/>
                </a:moveTo>
                <a:lnTo>
                  <a:pt x="1265" y="0"/>
                </a:lnTo>
                <a:lnTo>
                  <a:pt x="1265" y="28"/>
                </a:lnTo>
                <a:lnTo>
                  <a:pt x="1186" y="28"/>
                </a:lnTo>
                <a:lnTo>
                  <a:pt x="1186" y="0"/>
                </a:lnTo>
                <a:moveTo>
                  <a:pt x="1318" y="0"/>
                </a:moveTo>
                <a:lnTo>
                  <a:pt x="1397" y="0"/>
                </a:lnTo>
                <a:lnTo>
                  <a:pt x="1397" y="28"/>
                </a:lnTo>
                <a:lnTo>
                  <a:pt x="1318" y="28"/>
                </a:lnTo>
                <a:lnTo>
                  <a:pt x="1318" y="0"/>
                </a:lnTo>
                <a:moveTo>
                  <a:pt x="1449" y="0"/>
                </a:moveTo>
                <a:lnTo>
                  <a:pt x="1529" y="0"/>
                </a:lnTo>
                <a:lnTo>
                  <a:pt x="1529" y="28"/>
                </a:lnTo>
                <a:lnTo>
                  <a:pt x="1449" y="28"/>
                </a:lnTo>
                <a:lnTo>
                  <a:pt x="1449" y="0"/>
                </a:lnTo>
                <a:moveTo>
                  <a:pt x="1581" y="0"/>
                </a:moveTo>
                <a:lnTo>
                  <a:pt x="1661" y="0"/>
                </a:lnTo>
                <a:lnTo>
                  <a:pt x="1661" y="28"/>
                </a:lnTo>
                <a:lnTo>
                  <a:pt x="1581" y="28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8"/>
                </a:lnTo>
                <a:lnTo>
                  <a:pt x="1713" y="28"/>
                </a:lnTo>
                <a:lnTo>
                  <a:pt x="1713" y="0"/>
                </a:lnTo>
                <a:moveTo>
                  <a:pt x="1845" y="0"/>
                </a:moveTo>
                <a:lnTo>
                  <a:pt x="1924" y="0"/>
                </a:lnTo>
                <a:lnTo>
                  <a:pt x="1924" y="28"/>
                </a:lnTo>
                <a:lnTo>
                  <a:pt x="1845" y="28"/>
                </a:lnTo>
                <a:lnTo>
                  <a:pt x="1845" y="0"/>
                </a:lnTo>
                <a:moveTo>
                  <a:pt x="1977" y="0"/>
                </a:moveTo>
                <a:lnTo>
                  <a:pt x="2056" y="0"/>
                </a:lnTo>
                <a:lnTo>
                  <a:pt x="2056" y="28"/>
                </a:lnTo>
                <a:lnTo>
                  <a:pt x="1977" y="28"/>
                </a:lnTo>
                <a:lnTo>
                  <a:pt x="1977" y="0"/>
                </a:lnTo>
                <a:moveTo>
                  <a:pt x="2108" y="0"/>
                </a:moveTo>
                <a:lnTo>
                  <a:pt x="2188" y="0"/>
                </a:lnTo>
                <a:lnTo>
                  <a:pt x="2188" y="28"/>
                </a:lnTo>
                <a:lnTo>
                  <a:pt x="2108" y="28"/>
                </a:lnTo>
                <a:lnTo>
                  <a:pt x="2108" y="0"/>
                </a:lnTo>
                <a:moveTo>
                  <a:pt x="2240" y="0"/>
                </a:moveTo>
                <a:lnTo>
                  <a:pt x="2320" y="0"/>
                </a:lnTo>
                <a:lnTo>
                  <a:pt x="2320" y="28"/>
                </a:lnTo>
                <a:lnTo>
                  <a:pt x="2240" y="28"/>
                </a:lnTo>
                <a:lnTo>
                  <a:pt x="2240" y="0"/>
                </a:lnTo>
                <a:moveTo>
                  <a:pt x="2372" y="0"/>
                </a:moveTo>
                <a:lnTo>
                  <a:pt x="2451" y="0"/>
                </a:lnTo>
                <a:lnTo>
                  <a:pt x="2451" y="28"/>
                </a:lnTo>
                <a:lnTo>
                  <a:pt x="2372" y="28"/>
                </a:lnTo>
                <a:lnTo>
                  <a:pt x="2372" y="0"/>
                </a:lnTo>
                <a:moveTo>
                  <a:pt x="2504" y="0"/>
                </a:moveTo>
                <a:lnTo>
                  <a:pt x="2583" y="0"/>
                </a:lnTo>
                <a:lnTo>
                  <a:pt x="2583" y="28"/>
                </a:lnTo>
                <a:lnTo>
                  <a:pt x="2504" y="28"/>
                </a:lnTo>
                <a:lnTo>
                  <a:pt x="2504" y="0"/>
                </a:lnTo>
                <a:moveTo>
                  <a:pt x="2636" y="0"/>
                </a:moveTo>
                <a:lnTo>
                  <a:pt x="2715" y="0"/>
                </a:lnTo>
                <a:lnTo>
                  <a:pt x="2715" y="28"/>
                </a:lnTo>
                <a:lnTo>
                  <a:pt x="2636" y="28"/>
                </a:lnTo>
                <a:lnTo>
                  <a:pt x="2636" y="0"/>
                </a:lnTo>
                <a:moveTo>
                  <a:pt x="2767" y="0"/>
                </a:moveTo>
                <a:lnTo>
                  <a:pt x="2847" y="0"/>
                </a:lnTo>
                <a:lnTo>
                  <a:pt x="2847" y="28"/>
                </a:lnTo>
                <a:lnTo>
                  <a:pt x="2767" y="28"/>
                </a:lnTo>
                <a:lnTo>
                  <a:pt x="2767" y="0"/>
                </a:lnTo>
                <a:moveTo>
                  <a:pt x="2899" y="0"/>
                </a:moveTo>
                <a:lnTo>
                  <a:pt x="2979" y="0"/>
                </a:lnTo>
                <a:lnTo>
                  <a:pt x="2979" y="28"/>
                </a:lnTo>
                <a:lnTo>
                  <a:pt x="2899" y="28"/>
                </a:lnTo>
                <a:lnTo>
                  <a:pt x="2899" y="0"/>
                </a:lnTo>
                <a:moveTo>
                  <a:pt x="3031" y="0"/>
                </a:moveTo>
                <a:lnTo>
                  <a:pt x="3110" y="0"/>
                </a:lnTo>
                <a:lnTo>
                  <a:pt x="3110" y="28"/>
                </a:lnTo>
                <a:lnTo>
                  <a:pt x="3031" y="28"/>
                </a:lnTo>
                <a:lnTo>
                  <a:pt x="3031" y="0"/>
                </a:lnTo>
                <a:moveTo>
                  <a:pt x="3163" y="0"/>
                </a:moveTo>
                <a:lnTo>
                  <a:pt x="3242" y="0"/>
                </a:lnTo>
                <a:lnTo>
                  <a:pt x="3242" y="28"/>
                </a:lnTo>
                <a:lnTo>
                  <a:pt x="3163" y="28"/>
                </a:lnTo>
                <a:lnTo>
                  <a:pt x="3163" y="0"/>
                </a:lnTo>
                <a:moveTo>
                  <a:pt x="3295" y="0"/>
                </a:moveTo>
                <a:lnTo>
                  <a:pt x="3374" y="0"/>
                </a:lnTo>
                <a:lnTo>
                  <a:pt x="3374" y="28"/>
                </a:lnTo>
                <a:lnTo>
                  <a:pt x="3295" y="28"/>
                </a:lnTo>
                <a:lnTo>
                  <a:pt x="3295" y="0"/>
                </a:lnTo>
                <a:moveTo>
                  <a:pt x="3426" y="0"/>
                </a:moveTo>
                <a:lnTo>
                  <a:pt x="3506" y="0"/>
                </a:lnTo>
                <a:lnTo>
                  <a:pt x="3506" y="28"/>
                </a:lnTo>
                <a:lnTo>
                  <a:pt x="3426" y="28"/>
                </a:lnTo>
                <a:lnTo>
                  <a:pt x="3426" y="0"/>
                </a:lnTo>
                <a:moveTo>
                  <a:pt x="3558" y="0"/>
                </a:moveTo>
                <a:lnTo>
                  <a:pt x="3637" y="0"/>
                </a:lnTo>
                <a:lnTo>
                  <a:pt x="3637" y="28"/>
                </a:lnTo>
                <a:lnTo>
                  <a:pt x="3558" y="28"/>
                </a:lnTo>
                <a:lnTo>
                  <a:pt x="3558" y="0"/>
                </a:lnTo>
                <a:moveTo>
                  <a:pt x="3690" y="0"/>
                </a:moveTo>
                <a:lnTo>
                  <a:pt x="3769" y="0"/>
                </a:lnTo>
                <a:lnTo>
                  <a:pt x="3769" y="28"/>
                </a:lnTo>
                <a:lnTo>
                  <a:pt x="3690" y="28"/>
                </a:lnTo>
                <a:lnTo>
                  <a:pt x="3690" y="0"/>
                </a:lnTo>
                <a:moveTo>
                  <a:pt x="3822" y="0"/>
                </a:moveTo>
                <a:lnTo>
                  <a:pt x="3901" y="0"/>
                </a:lnTo>
                <a:lnTo>
                  <a:pt x="3901" y="28"/>
                </a:lnTo>
                <a:lnTo>
                  <a:pt x="3822" y="28"/>
                </a:lnTo>
                <a:lnTo>
                  <a:pt x="3822" y="0"/>
                </a:lnTo>
                <a:moveTo>
                  <a:pt x="3953" y="0"/>
                </a:moveTo>
                <a:lnTo>
                  <a:pt x="4033" y="0"/>
                </a:lnTo>
                <a:lnTo>
                  <a:pt x="4033" y="28"/>
                </a:lnTo>
                <a:lnTo>
                  <a:pt x="3953" y="28"/>
                </a:lnTo>
                <a:lnTo>
                  <a:pt x="3953" y="0"/>
                </a:lnTo>
                <a:moveTo>
                  <a:pt x="4085" y="0"/>
                </a:moveTo>
                <a:lnTo>
                  <a:pt x="4165" y="0"/>
                </a:lnTo>
                <a:lnTo>
                  <a:pt x="4165" y="28"/>
                </a:lnTo>
                <a:lnTo>
                  <a:pt x="4085" y="28"/>
                </a:lnTo>
                <a:lnTo>
                  <a:pt x="4085" y="0"/>
                </a:lnTo>
                <a:moveTo>
                  <a:pt x="4217" y="0"/>
                </a:moveTo>
                <a:lnTo>
                  <a:pt x="4296" y="0"/>
                </a:lnTo>
                <a:lnTo>
                  <a:pt x="4296" y="28"/>
                </a:lnTo>
                <a:lnTo>
                  <a:pt x="4217" y="28"/>
                </a:lnTo>
                <a:lnTo>
                  <a:pt x="4217" y="0"/>
                </a:lnTo>
                <a:moveTo>
                  <a:pt x="4349" y="0"/>
                </a:moveTo>
                <a:lnTo>
                  <a:pt x="4428" y="0"/>
                </a:lnTo>
                <a:lnTo>
                  <a:pt x="4428" y="28"/>
                </a:lnTo>
                <a:lnTo>
                  <a:pt x="4349" y="28"/>
                </a:lnTo>
                <a:lnTo>
                  <a:pt x="4349" y="0"/>
                </a:lnTo>
                <a:moveTo>
                  <a:pt x="4481" y="0"/>
                </a:moveTo>
                <a:lnTo>
                  <a:pt x="4560" y="0"/>
                </a:lnTo>
                <a:lnTo>
                  <a:pt x="4560" y="28"/>
                </a:lnTo>
                <a:lnTo>
                  <a:pt x="4481" y="28"/>
                </a:lnTo>
                <a:lnTo>
                  <a:pt x="4481" y="0"/>
                </a:lnTo>
                <a:moveTo>
                  <a:pt x="4612" y="0"/>
                </a:moveTo>
                <a:lnTo>
                  <a:pt x="4692" y="0"/>
                </a:lnTo>
                <a:lnTo>
                  <a:pt x="4692" y="28"/>
                </a:lnTo>
                <a:lnTo>
                  <a:pt x="4612" y="28"/>
                </a:lnTo>
                <a:lnTo>
                  <a:pt x="4612" y="0"/>
                </a:lnTo>
                <a:moveTo>
                  <a:pt x="4744" y="0"/>
                </a:moveTo>
                <a:lnTo>
                  <a:pt x="4824" y="0"/>
                </a:lnTo>
                <a:lnTo>
                  <a:pt x="4824" y="28"/>
                </a:lnTo>
                <a:lnTo>
                  <a:pt x="4744" y="28"/>
                </a:lnTo>
                <a:lnTo>
                  <a:pt x="4744" y="0"/>
                </a:lnTo>
                <a:moveTo>
                  <a:pt x="4876" y="0"/>
                </a:moveTo>
                <a:lnTo>
                  <a:pt x="4955" y="0"/>
                </a:lnTo>
                <a:lnTo>
                  <a:pt x="4955" y="28"/>
                </a:lnTo>
                <a:lnTo>
                  <a:pt x="4876" y="28"/>
                </a:lnTo>
                <a:lnTo>
                  <a:pt x="4876" y="0"/>
                </a:lnTo>
                <a:moveTo>
                  <a:pt x="5008" y="0"/>
                </a:moveTo>
                <a:lnTo>
                  <a:pt x="5087" y="0"/>
                </a:lnTo>
                <a:lnTo>
                  <a:pt x="5087" y="28"/>
                </a:lnTo>
                <a:lnTo>
                  <a:pt x="5008" y="28"/>
                </a:lnTo>
                <a:lnTo>
                  <a:pt x="5008" y="0"/>
                </a:lnTo>
                <a:moveTo>
                  <a:pt x="5140" y="0"/>
                </a:moveTo>
                <a:lnTo>
                  <a:pt x="5219" y="0"/>
                </a:lnTo>
                <a:lnTo>
                  <a:pt x="5219" y="28"/>
                </a:lnTo>
                <a:lnTo>
                  <a:pt x="5140" y="28"/>
                </a:lnTo>
                <a:lnTo>
                  <a:pt x="5140" y="0"/>
                </a:lnTo>
                <a:moveTo>
                  <a:pt x="5271" y="0"/>
                </a:moveTo>
                <a:lnTo>
                  <a:pt x="5351" y="0"/>
                </a:lnTo>
                <a:lnTo>
                  <a:pt x="5351" y="28"/>
                </a:lnTo>
                <a:lnTo>
                  <a:pt x="5271" y="28"/>
                </a:lnTo>
                <a:lnTo>
                  <a:pt x="5271" y="0"/>
                </a:lnTo>
                <a:moveTo>
                  <a:pt x="5403" y="0"/>
                </a:moveTo>
                <a:lnTo>
                  <a:pt x="5483" y="0"/>
                </a:lnTo>
                <a:lnTo>
                  <a:pt x="5483" y="28"/>
                </a:lnTo>
                <a:lnTo>
                  <a:pt x="5403" y="28"/>
                </a:lnTo>
                <a:lnTo>
                  <a:pt x="5403" y="0"/>
                </a:lnTo>
                <a:moveTo>
                  <a:pt x="5535" y="0"/>
                </a:moveTo>
                <a:lnTo>
                  <a:pt x="5614" y="0"/>
                </a:lnTo>
                <a:lnTo>
                  <a:pt x="5614" y="28"/>
                </a:lnTo>
                <a:lnTo>
                  <a:pt x="5535" y="28"/>
                </a:lnTo>
                <a:lnTo>
                  <a:pt x="5535" y="0"/>
                </a:lnTo>
                <a:moveTo>
                  <a:pt x="5667" y="0"/>
                </a:moveTo>
                <a:lnTo>
                  <a:pt x="5746" y="0"/>
                </a:lnTo>
                <a:lnTo>
                  <a:pt x="5746" y="28"/>
                </a:lnTo>
                <a:lnTo>
                  <a:pt x="5667" y="28"/>
                </a:lnTo>
                <a:lnTo>
                  <a:pt x="5667" y="0"/>
                </a:lnTo>
                <a:moveTo>
                  <a:pt x="5798" y="0"/>
                </a:moveTo>
                <a:lnTo>
                  <a:pt x="5878" y="0"/>
                </a:lnTo>
                <a:lnTo>
                  <a:pt x="5878" y="28"/>
                </a:lnTo>
                <a:lnTo>
                  <a:pt x="5798" y="28"/>
                </a:lnTo>
                <a:lnTo>
                  <a:pt x="5798" y="0"/>
                </a:lnTo>
                <a:moveTo>
                  <a:pt x="5931" y="0"/>
                </a:moveTo>
                <a:lnTo>
                  <a:pt x="6011" y="0"/>
                </a:lnTo>
                <a:lnTo>
                  <a:pt x="6011" y="28"/>
                </a:lnTo>
                <a:lnTo>
                  <a:pt x="5931" y="28"/>
                </a:lnTo>
                <a:lnTo>
                  <a:pt x="5931" y="0"/>
                </a:lnTo>
                <a:moveTo>
                  <a:pt x="6063" y="0"/>
                </a:moveTo>
                <a:lnTo>
                  <a:pt x="6142" y="0"/>
                </a:lnTo>
                <a:lnTo>
                  <a:pt x="6142" y="28"/>
                </a:lnTo>
                <a:lnTo>
                  <a:pt x="6063" y="28"/>
                </a:lnTo>
                <a:lnTo>
                  <a:pt x="6063" y="0"/>
                </a:lnTo>
                <a:moveTo>
                  <a:pt x="6195" y="0"/>
                </a:moveTo>
                <a:lnTo>
                  <a:pt x="6274" y="0"/>
                </a:lnTo>
                <a:lnTo>
                  <a:pt x="6274" y="28"/>
                </a:lnTo>
                <a:lnTo>
                  <a:pt x="6195" y="28"/>
                </a:lnTo>
                <a:lnTo>
                  <a:pt x="6195" y="0"/>
                </a:lnTo>
                <a:moveTo>
                  <a:pt x="6327" y="0"/>
                </a:moveTo>
                <a:lnTo>
                  <a:pt x="6406" y="0"/>
                </a:lnTo>
                <a:lnTo>
                  <a:pt x="6406" y="28"/>
                </a:lnTo>
                <a:lnTo>
                  <a:pt x="6327" y="28"/>
                </a:lnTo>
                <a:lnTo>
                  <a:pt x="6327" y="0"/>
                </a:lnTo>
                <a:moveTo>
                  <a:pt x="6458" y="0"/>
                </a:moveTo>
                <a:lnTo>
                  <a:pt x="6538" y="0"/>
                </a:lnTo>
                <a:lnTo>
                  <a:pt x="6538" y="28"/>
                </a:lnTo>
                <a:lnTo>
                  <a:pt x="6458" y="28"/>
                </a:lnTo>
                <a:lnTo>
                  <a:pt x="6458" y="0"/>
                </a:lnTo>
                <a:moveTo>
                  <a:pt x="6590" y="0"/>
                </a:moveTo>
                <a:lnTo>
                  <a:pt x="6670" y="0"/>
                </a:lnTo>
                <a:lnTo>
                  <a:pt x="6670" y="28"/>
                </a:lnTo>
                <a:lnTo>
                  <a:pt x="6590" y="28"/>
                </a:lnTo>
                <a:lnTo>
                  <a:pt x="6590" y="0"/>
                </a:lnTo>
                <a:moveTo>
                  <a:pt x="6722" y="0"/>
                </a:moveTo>
                <a:lnTo>
                  <a:pt x="6801" y="0"/>
                </a:lnTo>
                <a:lnTo>
                  <a:pt x="6801" y="28"/>
                </a:lnTo>
                <a:lnTo>
                  <a:pt x="6722" y="28"/>
                </a:lnTo>
                <a:lnTo>
                  <a:pt x="6722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6986" y="0"/>
                </a:moveTo>
                <a:lnTo>
                  <a:pt x="7065" y="0"/>
                </a:lnTo>
                <a:lnTo>
                  <a:pt x="7065" y="28"/>
                </a:lnTo>
                <a:lnTo>
                  <a:pt x="6986" y="28"/>
                </a:lnTo>
                <a:lnTo>
                  <a:pt x="6986" y="0"/>
                </a:lnTo>
                <a:moveTo>
                  <a:pt x="7117" y="0"/>
                </a:moveTo>
                <a:lnTo>
                  <a:pt x="7197" y="0"/>
                </a:lnTo>
                <a:lnTo>
                  <a:pt x="7197" y="28"/>
                </a:lnTo>
                <a:lnTo>
                  <a:pt x="7117" y="28"/>
                </a:lnTo>
                <a:lnTo>
                  <a:pt x="7117" y="0"/>
                </a:lnTo>
                <a:moveTo>
                  <a:pt x="7249" y="0"/>
                </a:moveTo>
                <a:lnTo>
                  <a:pt x="7329" y="0"/>
                </a:lnTo>
                <a:lnTo>
                  <a:pt x="7329" y="28"/>
                </a:lnTo>
                <a:lnTo>
                  <a:pt x="7249" y="28"/>
                </a:lnTo>
                <a:lnTo>
                  <a:pt x="7249" y="0"/>
                </a:lnTo>
                <a:moveTo>
                  <a:pt x="7381" y="0"/>
                </a:moveTo>
                <a:lnTo>
                  <a:pt x="7460" y="0"/>
                </a:lnTo>
                <a:lnTo>
                  <a:pt x="7460" y="28"/>
                </a:lnTo>
                <a:lnTo>
                  <a:pt x="7381" y="28"/>
                </a:lnTo>
                <a:lnTo>
                  <a:pt x="7381" y="0"/>
                </a:lnTo>
                <a:moveTo>
                  <a:pt x="7513" y="0"/>
                </a:moveTo>
                <a:lnTo>
                  <a:pt x="7592" y="0"/>
                </a:lnTo>
                <a:lnTo>
                  <a:pt x="7592" y="28"/>
                </a:lnTo>
                <a:lnTo>
                  <a:pt x="7513" y="28"/>
                </a:lnTo>
                <a:lnTo>
                  <a:pt x="7513" y="0"/>
                </a:lnTo>
                <a:moveTo>
                  <a:pt x="7645" y="0"/>
                </a:moveTo>
                <a:lnTo>
                  <a:pt x="7724" y="0"/>
                </a:lnTo>
                <a:lnTo>
                  <a:pt x="7724" y="28"/>
                </a:lnTo>
                <a:lnTo>
                  <a:pt x="7645" y="28"/>
                </a:lnTo>
                <a:lnTo>
                  <a:pt x="7645" y="0"/>
                </a:lnTo>
                <a:moveTo>
                  <a:pt x="7776" y="0"/>
                </a:moveTo>
                <a:lnTo>
                  <a:pt x="7856" y="0"/>
                </a:lnTo>
                <a:lnTo>
                  <a:pt x="7856" y="28"/>
                </a:lnTo>
                <a:lnTo>
                  <a:pt x="7776" y="28"/>
                </a:lnTo>
                <a:lnTo>
                  <a:pt x="7776" y="0"/>
                </a:lnTo>
                <a:moveTo>
                  <a:pt x="7908" y="0"/>
                </a:moveTo>
                <a:lnTo>
                  <a:pt x="7987" y="0"/>
                </a:lnTo>
                <a:lnTo>
                  <a:pt x="7987" y="28"/>
                </a:lnTo>
                <a:lnTo>
                  <a:pt x="7908" y="28"/>
                </a:lnTo>
                <a:lnTo>
                  <a:pt x="7908" y="0"/>
                </a:lnTo>
                <a:moveTo>
                  <a:pt x="8040" y="0"/>
                </a:moveTo>
                <a:lnTo>
                  <a:pt x="8119" y="0"/>
                </a:lnTo>
                <a:lnTo>
                  <a:pt x="8119" y="28"/>
                </a:lnTo>
                <a:lnTo>
                  <a:pt x="8040" y="28"/>
                </a:lnTo>
                <a:lnTo>
                  <a:pt x="8040" y="0"/>
                </a:lnTo>
                <a:moveTo>
                  <a:pt x="8172" y="0"/>
                </a:moveTo>
                <a:lnTo>
                  <a:pt x="8251" y="0"/>
                </a:lnTo>
                <a:lnTo>
                  <a:pt x="8251" y="28"/>
                </a:lnTo>
                <a:lnTo>
                  <a:pt x="8172" y="28"/>
                </a:lnTo>
                <a:lnTo>
                  <a:pt x="8172" y="0"/>
                </a:lnTo>
                <a:moveTo>
                  <a:pt x="8303" y="0"/>
                </a:moveTo>
                <a:lnTo>
                  <a:pt x="8383" y="0"/>
                </a:lnTo>
                <a:lnTo>
                  <a:pt x="8383" y="28"/>
                </a:lnTo>
                <a:lnTo>
                  <a:pt x="8303" y="28"/>
                </a:lnTo>
                <a:lnTo>
                  <a:pt x="8303" y="0"/>
                </a:lnTo>
                <a:moveTo>
                  <a:pt x="8435" y="0"/>
                </a:moveTo>
                <a:lnTo>
                  <a:pt x="8515" y="0"/>
                </a:lnTo>
                <a:lnTo>
                  <a:pt x="8515" y="28"/>
                </a:lnTo>
                <a:lnTo>
                  <a:pt x="8435" y="28"/>
                </a:lnTo>
                <a:lnTo>
                  <a:pt x="8435" y="0"/>
                </a:lnTo>
                <a:moveTo>
                  <a:pt x="8567" y="0"/>
                </a:moveTo>
                <a:lnTo>
                  <a:pt x="8646" y="0"/>
                </a:lnTo>
                <a:lnTo>
                  <a:pt x="8646" y="28"/>
                </a:lnTo>
                <a:lnTo>
                  <a:pt x="8567" y="28"/>
                </a:lnTo>
                <a:lnTo>
                  <a:pt x="8567" y="0"/>
                </a:lnTo>
                <a:moveTo>
                  <a:pt x="8699" y="0"/>
                </a:moveTo>
                <a:lnTo>
                  <a:pt x="8778" y="0"/>
                </a:lnTo>
                <a:lnTo>
                  <a:pt x="8778" y="28"/>
                </a:lnTo>
                <a:lnTo>
                  <a:pt x="8699" y="28"/>
                </a:lnTo>
                <a:lnTo>
                  <a:pt x="8699" y="0"/>
                </a:lnTo>
                <a:moveTo>
                  <a:pt x="8831" y="0"/>
                </a:moveTo>
                <a:lnTo>
                  <a:pt x="8910" y="0"/>
                </a:lnTo>
                <a:lnTo>
                  <a:pt x="8910" y="28"/>
                </a:lnTo>
                <a:lnTo>
                  <a:pt x="8831" y="28"/>
                </a:lnTo>
                <a:lnTo>
                  <a:pt x="8831" y="0"/>
                </a:lnTo>
                <a:moveTo>
                  <a:pt x="8962" y="0"/>
                </a:moveTo>
                <a:lnTo>
                  <a:pt x="9042" y="0"/>
                </a:lnTo>
                <a:lnTo>
                  <a:pt x="9042" y="28"/>
                </a:lnTo>
                <a:lnTo>
                  <a:pt x="8962" y="28"/>
                </a:lnTo>
                <a:lnTo>
                  <a:pt x="8962" y="0"/>
                </a:lnTo>
                <a:moveTo>
                  <a:pt x="9094" y="0"/>
                </a:moveTo>
                <a:lnTo>
                  <a:pt x="9174" y="0"/>
                </a:lnTo>
                <a:lnTo>
                  <a:pt x="9174" y="28"/>
                </a:lnTo>
                <a:lnTo>
                  <a:pt x="9094" y="28"/>
                </a:lnTo>
                <a:lnTo>
                  <a:pt x="9094" y="0"/>
                </a:lnTo>
                <a:moveTo>
                  <a:pt x="9226" y="0"/>
                </a:moveTo>
                <a:lnTo>
                  <a:pt x="9305" y="0"/>
                </a:lnTo>
                <a:lnTo>
                  <a:pt x="9305" y="28"/>
                </a:lnTo>
                <a:lnTo>
                  <a:pt x="9226" y="28"/>
                </a:lnTo>
                <a:lnTo>
                  <a:pt x="9226" y="0"/>
                </a:lnTo>
                <a:moveTo>
                  <a:pt x="9358" y="0"/>
                </a:moveTo>
                <a:lnTo>
                  <a:pt x="9437" y="0"/>
                </a:lnTo>
                <a:lnTo>
                  <a:pt x="9437" y="28"/>
                </a:lnTo>
                <a:lnTo>
                  <a:pt x="9358" y="28"/>
                </a:lnTo>
                <a:lnTo>
                  <a:pt x="9358" y="0"/>
                </a:lnTo>
                <a:moveTo>
                  <a:pt x="9490" y="0"/>
                </a:moveTo>
                <a:lnTo>
                  <a:pt x="9569" y="0"/>
                </a:lnTo>
                <a:lnTo>
                  <a:pt x="9569" y="28"/>
                </a:lnTo>
                <a:lnTo>
                  <a:pt x="9490" y="28"/>
                </a:lnTo>
                <a:lnTo>
                  <a:pt x="9490" y="0"/>
                </a:lnTo>
                <a:moveTo>
                  <a:pt x="9621" y="0"/>
                </a:moveTo>
                <a:lnTo>
                  <a:pt x="9701" y="0"/>
                </a:lnTo>
                <a:lnTo>
                  <a:pt x="9701" y="28"/>
                </a:lnTo>
                <a:lnTo>
                  <a:pt x="9621" y="28"/>
                </a:lnTo>
                <a:lnTo>
                  <a:pt x="9621" y="0"/>
                </a:lnTo>
                <a:moveTo>
                  <a:pt x="9753" y="0"/>
                </a:moveTo>
                <a:lnTo>
                  <a:pt x="9832" y="0"/>
                </a:lnTo>
                <a:lnTo>
                  <a:pt x="9832" y="28"/>
                </a:lnTo>
                <a:lnTo>
                  <a:pt x="9753" y="28"/>
                </a:lnTo>
                <a:lnTo>
                  <a:pt x="9753" y="0"/>
                </a:lnTo>
                <a:moveTo>
                  <a:pt x="9885" y="0"/>
                </a:moveTo>
                <a:lnTo>
                  <a:pt x="9964" y="0"/>
                </a:lnTo>
                <a:lnTo>
                  <a:pt x="9964" y="28"/>
                </a:lnTo>
                <a:lnTo>
                  <a:pt x="9885" y="28"/>
                </a:lnTo>
                <a:lnTo>
                  <a:pt x="9885" y="0"/>
                </a:lnTo>
                <a:moveTo>
                  <a:pt x="10017" y="0"/>
                </a:moveTo>
                <a:lnTo>
                  <a:pt x="10096" y="0"/>
                </a:lnTo>
                <a:lnTo>
                  <a:pt x="10096" y="28"/>
                </a:lnTo>
                <a:lnTo>
                  <a:pt x="10017" y="28"/>
                </a:lnTo>
                <a:lnTo>
                  <a:pt x="10017" y="0"/>
                </a:lnTo>
                <a:moveTo>
                  <a:pt x="10148" y="0"/>
                </a:moveTo>
                <a:lnTo>
                  <a:pt x="10228" y="0"/>
                </a:lnTo>
                <a:lnTo>
                  <a:pt x="10228" y="28"/>
                </a:lnTo>
                <a:lnTo>
                  <a:pt x="10148" y="28"/>
                </a:lnTo>
                <a:lnTo>
                  <a:pt x="10148" y="0"/>
                </a:lnTo>
                <a:moveTo>
                  <a:pt x="10280" y="0"/>
                </a:moveTo>
                <a:lnTo>
                  <a:pt x="10360" y="0"/>
                </a:lnTo>
                <a:lnTo>
                  <a:pt x="10360" y="28"/>
                </a:lnTo>
                <a:lnTo>
                  <a:pt x="10280" y="28"/>
                </a:lnTo>
                <a:lnTo>
                  <a:pt x="10280" y="0"/>
                </a:lnTo>
                <a:moveTo>
                  <a:pt x="10412" y="0"/>
                </a:moveTo>
                <a:lnTo>
                  <a:pt x="10491" y="0"/>
                </a:lnTo>
                <a:lnTo>
                  <a:pt x="10491" y="28"/>
                </a:lnTo>
                <a:lnTo>
                  <a:pt x="10412" y="28"/>
                </a:lnTo>
                <a:lnTo>
                  <a:pt x="10412" y="0"/>
                </a:lnTo>
                <a:moveTo>
                  <a:pt x="10544" y="0"/>
                </a:moveTo>
                <a:lnTo>
                  <a:pt x="10623" y="0"/>
                </a:lnTo>
                <a:lnTo>
                  <a:pt x="10623" y="28"/>
                </a:lnTo>
                <a:lnTo>
                  <a:pt x="10544" y="28"/>
                </a:lnTo>
                <a:lnTo>
                  <a:pt x="10544" y="0"/>
                </a:lnTo>
                <a:moveTo>
                  <a:pt x="10676" y="0"/>
                </a:moveTo>
                <a:lnTo>
                  <a:pt x="10755" y="0"/>
                </a:lnTo>
                <a:lnTo>
                  <a:pt x="10755" y="28"/>
                </a:lnTo>
                <a:lnTo>
                  <a:pt x="10676" y="28"/>
                </a:lnTo>
                <a:lnTo>
                  <a:pt x="10676" y="0"/>
                </a:lnTo>
                <a:moveTo>
                  <a:pt x="10807" y="0"/>
                </a:moveTo>
                <a:lnTo>
                  <a:pt x="10887" y="0"/>
                </a:lnTo>
                <a:lnTo>
                  <a:pt x="10887" y="28"/>
                </a:lnTo>
                <a:lnTo>
                  <a:pt x="10807" y="28"/>
                </a:lnTo>
                <a:lnTo>
                  <a:pt x="10807" y="0"/>
                </a:lnTo>
                <a:moveTo>
                  <a:pt x="10939" y="0"/>
                </a:moveTo>
                <a:lnTo>
                  <a:pt x="11019" y="0"/>
                </a:lnTo>
                <a:lnTo>
                  <a:pt x="11019" y="28"/>
                </a:lnTo>
                <a:lnTo>
                  <a:pt x="10939" y="28"/>
                </a:lnTo>
                <a:lnTo>
                  <a:pt x="10939" y="0"/>
                </a:lnTo>
                <a:moveTo>
                  <a:pt x="11071" y="0"/>
                </a:moveTo>
                <a:lnTo>
                  <a:pt x="11150" y="0"/>
                </a:lnTo>
                <a:lnTo>
                  <a:pt x="11150" y="28"/>
                </a:lnTo>
                <a:lnTo>
                  <a:pt x="11071" y="28"/>
                </a:lnTo>
                <a:lnTo>
                  <a:pt x="11071" y="0"/>
                </a:lnTo>
                <a:moveTo>
                  <a:pt x="11203" y="0"/>
                </a:moveTo>
                <a:lnTo>
                  <a:pt x="11282" y="0"/>
                </a:lnTo>
                <a:lnTo>
                  <a:pt x="11282" y="28"/>
                </a:lnTo>
                <a:lnTo>
                  <a:pt x="11203" y="28"/>
                </a:lnTo>
                <a:lnTo>
                  <a:pt x="11203" y="0"/>
                </a:lnTo>
                <a:moveTo>
                  <a:pt x="11335" y="0"/>
                </a:moveTo>
                <a:lnTo>
                  <a:pt x="11414" y="0"/>
                </a:lnTo>
                <a:lnTo>
                  <a:pt x="11414" y="28"/>
                </a:lnTo>
                <a:lnTo>
                  <a:pt x="11335" y="28"/>
                </a:lnTo>
                <a:lnTo>
                  <a:pt x="11335" y="0"/>
                </a:lnTo>
                <a:moveTo>
                  <a:pt x="11466" y="0"/>
                </a:moveTo>
                <a:lnTo>
                  <a:pt x="11546" y="0"/>
                </a:lnTo>
                <a:lnTo>
                  <a:pt x="11546" y="28"/>
                </a:lnTo>
                <a:lnTo>
                  <a:pt x="11466" y="28"/>
                </a:lnTo>
                <a:lnTo>
                  <a:pt x="11466" y="0"/>
                </a:lnTo>
                <a:moveTo>
                  <a:pt x="11598" y="0"/>
                </a:moveTo>
                <a:lnTo>
                  <a:pt x="11678" y="0"/>
                </a:lnTo>
                <a:lnTo>
                  <a:pt x="11678" y="28"/>
                </a:lnTo>
                <a:lnTo>
                  <a:pt x="11598" y="28"/>
                </a:lnTo>
                <a:lnTo>
                  <a:pt x="11598" y="0"/>
                </a:lnTo>
                <a:moveTo>
                  <a:pt x="11730" y="0"/>
                </a:moveTo>
                <a:lnTo>
                  <a:pt x="11809" y="0"/>
                </a:lnTo>
                <a:lnTo>
                  <a:pt x="11809" y="28"/>
                </a:lnTo>
                <a:lnTo>
                  <a:pt x="11730" y="28"/>
                </a:lnTo>
                <a:lnTo>
                  <a:pt x="11730" y="0"/>
                </a:lnTo>
                <a:moveTo>
                  <a:pt x="11862" y="0"/>
                </a:moveTo>
                <a:lnTo>
                  <a:pt x="11941" y="0"/>
                </a:lnTo>
                <a:lnTo>
                  <a:pt x="11941" y="28"/>
                </a:lnTo>
                <a:lnTo>
                  <a:pt x="11862" y="28"/>
                </a:lnTo>
                <a:lnTo>
                  <a:pt x="11862" y="0"/>
                </a:lnTo>
                <a:moveTo>
                  <a:pt x="11994" y="0"/>
                </a:moveTo>
                <a:lnTo>
                  <a:pt x="12073" y="0"/>
                </a:lnTo>
                <a:lnTo>
                  <a:pt x="12073" y="28"/>
                </a:lnTo>
                <a:lnTo>
                  <a:pt x="11994" y="28"/>
                </a:lnTo>
                <a:lnTo>
                  <a:pt x="11994" y="0"/>
                </a:lnTo>
                <a:moveTo>
                  <a:pt x="12125" y="0"/>
                </a:moveTo>
                <a:lnTo>
                  <a:pt x="12205" y="0"/>
                </a:lnTo>
                <a:lnTo>
                  <a:pt x="12205" y="28"/>
                </a:lnTo>
                <a:lnTo>
                  <a:pt x="12125" y="28"/>
                </a:lnTo>
                <a:lnTo>
                  <a:pt x="12125" y="0"/>
                </a:lnTo>
                <a:moveTo>
                  <a:pt x="12257" y="0"/>
                </a:moveTo>
                <a:lnTo>
                  <a:pt x="12336" y="0"/>
                </a:lnTo>
                <a:lnTo>
                  <a:pt x="12336" y="28"/>
                </a:lnTo>
                <a:lnTo>
                  <a:pt x="12257" y="28"/>
                </a:lnTo>
                <a:lnTo>
                  <a:pt x="12257" y="0"/>
                </a:lnTo>
                <a:moveTo>
                  <a:pt x="12389" y="0"/>
                </a:moveTo>
                <a:lnTo>
                  <a:pt x="12468" y="0"/>
                </a:lnTo>
                <a:lnTo>
                  <a:pt x="12468" y="28"/>
                </a:lnTo>
                <a:lnTo>
                  <a:pt x="12389" y="28"/>
                </a:lnTo>
                <a:lnTo>
                  <a:pt x="12389" y="0"/>
                </a:lnTo>
                <a:moveTo>
                  <a:pt x="12521" y="0"/>
                </a:moveTo>
                <a:lnTo>
                  <a:pt x="12600" y="0"/>
                </a:lnTo>
                <a:lnTo>
                  <a:pt x="12600" y="28"/>
                </a:lnTo>
                <a:lnTo>
                  <a:pt x="12521" y="28"/>
                </a:lnTo>
                <a:lnTo>
                  <a:pt x="12521" y="0"/>
                </a:lnTo>
                <a:moveTo>
                  <a:pt x="12652" y="0"/>
                </a:moveTo>
                <a:lnTo>
                  <a:pt x="12732" y="0"/>
                </a:lnTo>
                <a:lnTo>
                  <a:pt x="12732" y="28"/>
                </a:lnTo>
                <a:lnTo>
                  <a:pt x="12652" y="28"/>
                </a:lnTo>
                <a:lnTo>
                  <a:pt x="12652" y="0"/>
                </a:lnTo>
                <a:moveTo>
                  <a:pt x="12784" y="0"/>
                </a:moveTo>
                <a:lnTo>
                  <a:pt x="12864" y="0"/>
                </a:lnTo>
                <a:lnTo>
                  <a:pt x="12864" y="28"/>
                </a:lnTo>
                <a:lnTo>
                  <a:pt x="12784" y="28"/>
                </a:lnTo>
                <a:lnTo>
                  <a:pt x="12784" y="0"/>
                </a:lnTo>
                <a:moveTo>
                  <a:pt x="12916" y="0"/>
                </a:moveTo>
                <a:lnTo>
                  <a:pt x="12995" y="0"/>
                </a:lnTo>
                <a:lnTo>
                  <a:pt x="12995" y="28"/>
                </a:lnTo>
                <a:lnTo>
                  <a:pt x="12916" y="28"/>
                </a:lnTo>
                <a:lnTo>
                  <a:pt x="12916" y="0"/>
                </a:lnTo>
                <a:moveTo>
                  <a:pt x="13048" y="0"/>
                </a:moveTo>
                <a:lnTo>
                  <a:pt x="13127" y="0"/>
                </a:lnTo>
                <a:lnTo>
                  <a:pt x="13127" y="28"/>
                </a:lnTo>
                <a:lnTo>
                  <a:pt x="13048" y="28"/>
                </a:lnTo>
                <a:lnTo>
                  <a:pt x="13048" y="0"/>
                </a:lnTo>
                <a:moveTo>
                  <a:pt x="13180" y="0"/>
                </a:moveTo>
                <a:lnTo>
                  <a:pt x="13259" y="0"/>
                </a:lnTo>
                <a:lnTo>
                  <a:pt x="13259" y="28"/>
                </a:lnTo>
                <a:lnTo>
                  <a:pt x="13180" y="28"/>
                </a:lnTo>
                <a:lnTo>
                  <a:pt x="13180" y="0"/>
                </a:lnTo>
                <a:moveTo>
                  <a:pt x="13311" y="0"/>
                </a:moveTo>
                <a:lnTo>
                  <a:pt x="13391" y="0"/>
                </a:lnTo>
                <a:lnTo>
                  <a:pt x="13391" y="28"/>
                </a:lnTo>
                <a:lnTo>
                  <a:pt x="13311" y="28"/>
                </a:lnTo>
                <a:lnTo>
                  <a:pt x="13311" y="0"/>
                </a:lnTo>
                <a:moveTo>
                  <a:pt x="13443" y="0"/>
                </a:moveTo>
                <a:lnTo>
                  <a:pt x="13523" y="0"/>
                </a:lnTo>
                <a:lnTo>
                  <a:pt x="13523" y="28"/>
                </a:lnTo>
                <a:lnTo>
                  <a:pt x="13443" y="28"/>
                </a:lnTo>
                <a:lnTo>
                  <a:pt x="13443" y="0"/>
                </a:lnTo>
                <a:moveTo>
                  <a:pt x="13575" y="0"/>
                </a:moveTo>
                <a:lnTo>
                  <a:pt x="13654" y="0"/>
                </a:lnTo>
                <a:lnTo>
                  <a:pt x="13654" y="28"/>
                </a:lnTo>
                <a:lnTo>
                  <a:pt x="13575" y="28"/>
                </a:lnTo>
                <a:lnTo>
                  <a:pt x="13575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39" y="0"/>
                </a:moveTo>
                <a:lnTo>
                  <a:pt x="13918" y="0"/>
                </a:lnTo>
                <a:lnTo>
                  <a:pt x="13918" y="28"/>
                </a:lnTo>
                <a:lnTo>
                  <a:pt x="13839" y="28"/>
                </a:lnTo>
                <a:lnTo>
                  <a:pt x="13839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33160" y="6229080"/>
            <a:ext cx="876600" cy="162360"/>
          </a:xfrm>
          <a:custGeom>
            <a:avLst/>
            <a:gdLst/>
            <a:ahLst/>
            <a:rect l="0" t="0" r="r" b="b"/>
            <a:pathLst>
              <a:path w="2435" h="451">
                <a:moveTo>
                  <a:pt x="0" y="0"/>
                </a:moveTo>
                <a:lnTo>
                  <a:pt x="2435" y="0"/>
                </a:lnTo>
                <a:lnTo>
                  <a:pt x="2435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551520" y="6220800"/>
            <a:ext cx="6534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EntityEffects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1609560" y="6229080"/>
            <a:ext cx="743400" cy="162360"/>
          </a:xfrm>
          <a:custGeom>
            <a:avLst/>
            <a:gdLst/>
            <a:ahLst/>
            <a:rect l="0" t="0" r="r" b="b"/>
            <a:pathLst>
              <a:path w="2065" h="451">
                <a:moveTo>
                  <a:pt x="0" y="0"/>
                </a:moveTo>
                <a:lnTo>
                  <a:pt x="2065" y="0"/>
                </a:lnTo>
                <a:lnTo>
                  <a:pt x="2065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1420920" y="622296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+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627560" y="6220800"/>
            <a:ext cx="6098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SourceCodeProExtraLight"/>
                <a:ea typeface="SourceCodeProExtraLight"/>
              </a:rPr>
              <a:t>TimeEffects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2369160" y="6222960"/>
            <a:ext cx="11361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即方程（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）中的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3764520" y="6231960"/>
            <a:ext cx="491400" cy="160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μF irm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4358160" y="6193800"/>
            <a:ext cx="160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3555360" y="6193800"/>
            <a:ext cx="160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KaTeX_Size1"/>
                <a:ea typeface="KaTeX_Size1"/>
              </a:rPr>
              <a:t>∑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4740480" y="6231960"/>
            <a:ext cx="484200" cy="160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λY ear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4531320" y="6193800"/>
            <a:ext cx="160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KaTeX_Size1"/>
                <a:ea typeface="KaTeX_Size1"/>
              </a:rPr>
              <a:t>∑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3619440" y="1514160"/>
            <a:ext cx="1714680" cy="276840"/>
          </a:xfrm>
          <a:custGeom>
            <a:avLst/>
            <a:gdLst/>
            <a:ahLst/>
            <a:rect l="0" t="0" r="r" b="b"/>
            <a:pathLst>
              <a:path w="4763" h="769">
                <a:moveTo>
                  <a:pt x="0" y="0"/>
                </a:moveTo>
                <a:lnTo>
                  <a:pt x="4763" y="0"/>
                </a:lnTo>
                <a:lnTo>
                  <a:pt x="4763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5333760" y="1514160"/>
            <a:ext cx="1048320" cy="276840"/>
          </a:xfrm>
          <a:custGeom>
            <a:avLst/>
            <a:gdLst/>
            <a:ahLst/>
            <a:rect l="0" t="0" r="r" b="b"/>
            <a:pathLst>
              <a:path w="2912" h="769">
                <a:moveTo>
                  <a:pt x="0" y="0"/>
                </a:moveTo>
                <a:lnTo>
                  <a:pt x="2912" y="0"/>
                </a:lnTo>
                <a:lnTo>
                  <a:pt x="2912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6381720" y="1514160"/>
            <a:ext cx="1095480" cy="276840"/>
          </a:xfrm>
          <a:custGeom>
            <a:avLst/>
            <a:gdLst/>
            <a:ahLst/>
            <a:rect l="0" t="0" r="r" b="b"/>
            <a:pathLst>
              <a:path w="3043" h="769">
                <a:moveTo>
                  <a:pt x="0" y="0"/>
                </a:moveTo>
                <a:lnTo>
                  <a:pt x="3043" y="0"/>
                </a:lnTo>
                <a:lnTo>
                  <a:pt x="3043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7476840" y="1514160"/>
            <a:ext cx="1095840" cy="276840"/>
          </a:xfrm>
          <a:custGeom>
            <a:avLst/>
            <a:gdLst/>
            <a:ahLst/>
            <a:rect l="0" t="0" r="r" b="b"/>
            <a:pathLst>
              <a:path w="3044" h="769">
                <a:moveTo>
                  <a:pt x="0" y="0"/>
                </a:moveTo>
                <a:lnTo>
                  <a:pt x="3044" y="0"/>
                </a:lnTo>
                <a:lnTo>
                  <a:pt x="3044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3619440" y="1790640"/>
            <a:ext cx="1714680" cy="285840"/>
          </a:xfrm>
          <a:custGeom>
            <a:avLst/>
            <a:gdLst/>
            <a:ahLst/>
            <a:rect l="0" t="0" r="r" b="b"/>
            <a:pathLst>
              <a:path w="4763" h="794">
                <a:moveTo>
                  <a:pt x="0" y="0"/>
                </a:moveTo>
                <a:lnTo>
                  <a:pt x="4763" y="0"/>
                </a:lnTo>
                <a:lnTo>
                  <a:pt x="4763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5333760" y="1790640"/>
            <a:ext cx="1048320" cy="285840"/>
          </a:xfrm>
          <a:custGeom>
            <a:avLst/>
            <a:gdLst/>
            <a:ahLst/>
            <a:rect l="0" t="0" r="r" b="b"/>
            <a:pathLst>
              <a:path w="2912" h="794">
                <a:moveTo>
                  <a:pt x="0" y="0"/>
                </a:moveTo>
                <a:lnTo>
                  <a:pt x="2912" y="0"/>
                </a:lnTo>
                <a:lnTo>
                  <a:pt x="2912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6381720" y="1790640"/>
            <a:ext cx="1095480" cy="285840"/>
          </a:xfrm>
          <a:custGeom>
            <a:avLst/>
            <a:gdLst/>
            <a:ahLst/>
            <a:rect l="0" t="0" r="r" b="b"/>
            <a:pathLst>
              <a:path w="3043" h="794">
                <a:moveTo>
                  <a:pt x="0" y="0"/>
                </a:moveTo>
                <a:lnTo>
                  <a:pt x="3043" y="0"/>
                </a:lnTo>
                <a:lnTo>
                  <a:pt x="3043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7476840" y="1790640"/>
            <a:ext cx="1095840" cy="285840"/>
          </a:xfrm>
          <a:custGeom>
            <a:avLst/>
            <a:gdLst/>
            <a:ahLst/>
            <a:rect l="0" t="0" r="r" b="b"/>
            <a:pathLst>
              <a:path w="3044" h="794">
                <a:moveTo>
                  <a:pt x="0" y="0"/>
                </a:moveTo>
                <a:lnTo>
                  <a:pt x="3044" y="0"/>
                </a:lnTo>
                <a:lnTo>
                  <a:pt x="304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3619440" y="2361960"/>
            <a:ext cx="1714680" cy="276480"/>
          </a:xfrm>
          <a:custGeom>
            <a:avLst/>
            <a:gdLst/>
            <a:ahLst/>
            <a:rect l="0" t="0" r="r" b="b"/>
            <a:pathLst>
              <a:path w="4763" h="768">
                <a:moveTo>
                  <a:pt x="0" y="0"/>
                </a:moveTo>
                <a:lnTo>
                  <a:pt x="4763" y="0"/>
                </a:lnTo>
                <a:lnTo>
                  <a:pt x="476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5333760" y="2361960"/>
            <a:ext cx="1048320" cy="276480"/>
          </a:xfrm>
          <a:custGeom>
            <a:avLst/>
            <a:gdLst/>
            <a:ahLst/>
            <a:rect l="0" t="0" r="r" b="b"/>
            <a:pathLst>
              <a:path w="2912" h="768">
                <a:moveTo>
                  <a:pt x="0" y="0"/>
                </a:moveTo>
                <a:lnTo>
                  <a:pt x="2912" y="0"/>
                </a:lnTo>
                <a:lnTo>
                  <a:pt x="2912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6381720" y="2361960"/>
            <a:ext cx="1095480" cy="276480"/>
          </a:xfrm>
          <a:custGeom>
            <a:avLst/>
            <a:gdLst/>
            <a:ahLst/>
            <a:rect l="0" t="0" r="r" b="b"/>
            <a:pathLst>
              <a:path w="3043" h="768">
                <a:moveTo>
                  <a:pt x="0" y="0"/>
                </a:moveTo>
                <a:lnTo>
                  <a:pt x="3043" y="0"/>
                </a:lnTo>
                <a:lnTo>
                  <a:pt x="304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7476840" y="2361960"/>
            <a:ext cx="1095840" cy="276480"/>
          </a:xfrm>
          <a:custGeom>
            <a:avLst/>
            <a:gdLst/>
            <a:ahLst/>
            <a:rect l="0" t="0" r="r" b="b"/>
            <a:pathLst>
              <a:path w="3044" h="768">
                <a:moveTo>
                  <a:pt x="0" y="0"/>
                </a:moveTo>
                <a:lnTo>
                  <a:pt x="3044" y="0"/>
                </a:lnTo>
                <a:lnTo>
                  <a:pt x="3044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3619440" y="2923920"/>
            <a:ext cx="1714680" cy="286200"/>
          </a:xfrm>
          <a:custGeom>
            <a:avLst/>
            <a:gdLst/>
            <a:ahLst/>
            <a:rect l="0" t="0" r="r" b="b"/>
            <a:pathLst>
              <a:path w="4763" h="795">
                <a:moveTo>
                  <a:pt x="0" y="0"/>
                </a:moveTo>
                <a:lnTo>
                  <a:pt x="4763" y="0"/>
                </a:lnTo>
                <a:lnTo>
                  <a:pt x="476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5333760" y="2923920"/>
            <a:ext cx="1048320" cy="286200"/>
          </a:xfrm>
          <a:custGeom>
            <a:avLst/>
            <a:gdLst/>
            <a:ahLst/>
            <a:rect l="0" t="0" r="r" b="b"/>
            <a:pathLst>
              <a:path w="2912" h="795">
                <a:moveTo>
                  <a:pt x="0" y="0"/>
                </a:moveTo>
                <a:lnTo>
                  <a:pt x="2912" y="0"/>
                </a:lnTo>
                <a:lnTo>
                  <a:pt x="291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6381720" y="2923920"/>
            <a:ext cx="1095480" cy="286200"/>
          </a:xfrm>
          <a:custGeom>
            <a:avLst/>
            <a:gdLst/>
            <a:ahLst/>
            <a:rect l="0" t="0" r="r" b="b"/>
            <a:pathLst>
              <a:path w="3043" h="795">
                <a:moveTo>
                  <a:pt x="0" y="0"/>
                </a:moveTo>
                <a:lnTo>
                  <a:pt x="3043" y="0"/>
                </a:lnTo>
                <a:lnTo>
                  <a:pt x="304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7476840" y="2923920"/>
            <a:ext cx="1095840" cy="286200"/>
          </a:xfrm>
          <a:custGeom>
            <a:avLst/>
            <a:gdLst/>
            <a:ahLst/>
            <a:rect l="0" t="0" r="r" b="b"/>
            <a:pathLst>
              <a:path w="3044" h="795">
                <a:moveTo>
                  <a:pt x="0" y="0"/>
                </a:moveTo>
                <a:lnTo>
                  <a:pt x="3044" y="0"/>
                </a:lnTo>
                <a:lnTo>
                  <a:pt x="304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3619440" y="3485880"/>
            <a:ext cx="1714680" cy="286200"/>
          </a:xfrm>
          <a:custGeom>
            <a:avLst/>
            <a:gdLst/>
            <a:ahLst/>
            <a:rect l="0" t="0" r="r" b="b"/>
            <a:pathLst>
              <a:path w="4763" h="795">
                <a:moveTo>
                  <a:pt x="0" y="0"/>
                </a:moveTo>
                <a:lnTo>
                  <a:pt x="4763" y="0"/>
                </a:lnTo>
                <a:lnTo>
                  <a:pt x="476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333760" y="3485880"/>
            <a:ext cx="1048320" cy="286200"/>
          </a:xfrm>
          <a:custGeom>
            <a:avLst/>
            <a:gdLst/>
            <a:ahLst/>
            <a:rect l="0" t="0" r="r" b="b"/>
            <a:pathLst>
              <a:path w="2912" h="795">
                <a:moveTo>
                  <a:pt x="0" y="0"/>
                </a:moveTo>
                <a:lnTo>
                  <a:pt x="2912" y="0"/>
                </a:lnTo>
                <a:lnTo>
                  <a:pt x="291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6381720" y="3485880"/>
            <a:ext cx="1095480" cy="286200"/>
          </a:xfrm>
          <a:custGeom>
            <a:avLst/>
            <a:gdLst/>
            <a:ahLst/>
            <a:rect l="0" t="0" r="r" b="b"/>
            <a:pathLst>
              <a:path w="3043" h="795">
                <a:moveTo>
                  <a:pt x="0" y="0"/>
                </a:moveTo>
                <a:lnTo>
                  <a:pt x="3043" y="0"/>
                </a:lnTo>
                <a:lnTo>
                  <a:pt x="304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7476840" y="3485880"/>
            <a:ext cx="1095840" cy="286200"/>
          </a:xfrm>
          <a:custGeom>
            <a:avLst/>
            <a:gdLst/>
            <a:ahLst/>
            <a:rect l="0" t="0" r="r" b="b"/>
            <a:pathLst>
              <a:path w="3044" h="795">
                <a:moveTo>
                  <a:pt x="0" y="0"/>
                </a:moveTo>
                <a:lnTo>
                  <a:pt x="3044" y="0"/>
                </a:lnTo>
                <a:lnTo>
                  <a:pt x="304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3619440" y="4057560"/>
            <a:ext cx="1714680" cy="276480"/>
          </a:xfrm>
          <a:custGeom>
            <a:avLst/>
            <a:gdLst/>
            <a:ahLst/>
            <a:rect l="0" t="0" r="r" b="b"/>
            <a:pathLst>
              <a:path w="4763" h="768">
                <a:moveTo>
                  <a:pt x="0" y="0"/>
                </a:moveTo>
                <a:lnTo>
                  <a:pt x="4763" y="0"/>
                </a:lnTo>
                <a:lnTo>
                  <a:pt x="476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5333760" y="4057560"/>
            <a:ext cx="1048320" cy="276480"/>
          </a:xfrm>
          <a:custGeom>
            <a:avLst/>
            <a:gdLst/>
            <a:ahLst/>
            <a:rect l="0" t="0" r="r" b="b"/>
            <a:pathLst>
              <a:path w="2912" h="768">
                <a:moveTo>
                  <a:pt x="0" y="0"/>
                </a:moveTo>
                <a:lnTo>
                  <a:pt x="2912" y="0"/>
                </a:lnTo>
                <a:lnTo>
                  <a:pt x="2912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6381720" y="4057560"/>
            <a:ext cx="1095480" cy="276480"/>
          </a:xfrm>
          <a:custGeom>
            <a:avLst/>
            <a:gdLst/>
            <a:ahLst/>
            <a:rect l="0" t="0" r="r" b="b"/>
            <a:pathLst>
              <a:path w="3043" h="768">
                <a:moveTo>
                  <a:pt x="0" y="0"/>
                </a:moveTo>
                <a:lnTo>
                  <a:pt x="3043" y="0"/>
                </a:lnTo>
                <a:lnTo>
                  <a:pt x="304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7476840" y="4057560"/>
            <a:ext cx="1095840" cy="276480"/>
          </a:xfrm>
          <a:custGeom>
            <a:avLst/>
            <a:gdLst/>
            <a:ahLst/>
            <a:rect l="0" t="0" r="r" b="b"/>
            <a:pathLst>
              <a:path w="3044" h="768">
                <a:moveTo>
                  <a:pt x="0" y="0"/>
                </a:moveTo>
                <a:lnTo>
                  <a:pt x="3044" y="0"/>
                </a:lnTo>
                <a:lnTo>
                  <a:pt x="3044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361944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3619440" y="150480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533376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5343480" y="150480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637200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6381720" y="150480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746748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7476840" y="150480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856296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3619440" y="179064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5343480" y="179064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6381720" y="179064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7476840" y="179064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361944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533376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637200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746748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856296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361944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3619440" y="20667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533376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5343480" y="206676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637200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6381720" y="206676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746748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7476840" y="20667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856296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361944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3619440" y="235260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533376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5343480" y="235260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637200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6381720" y="235260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746748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7476840" y="235260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856296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361944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3619440" y="263808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533376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5343480" y="263808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637200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6381720" y="263808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746748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7476840" y="263808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856296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361944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3619440" y="29145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533376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5343480" y="291456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637200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6381720" y="291456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746748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7476840" y="29145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856296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361944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3619440" y="320004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533376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5343480" y="320004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637200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6381720" y="320004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746748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7476840" y="320004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856296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361944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3619440" y="348588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5333760" y="34956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5343480" y="348588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6372000" y="34956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6381720" y="348588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46748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476840" y="348588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856296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3619440" y="37717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3619440" y="37623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5333760" y="37717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5343480" y="376236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6372000" y="37717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6381720" y="376236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7467480" y="37717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7476840" y="37623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8562960" y="37717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3619440" y="40575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3619440" y="4047840"/>
            <a:ext cx="1724400" cy="10440"/>
          </a:xfrm>
          <a:custGeom>
            <a:avLst/>
            <a:gdLst/>
            <a:ahLst/>
            <a:rect l="0" t="0" r="r" b="b"/>
            <a:pathLst>
              <a:path w="4790" h="29">
                <a:moveTo>
                  <a:pt x="0" y="0"/>
                </a:moveTo>
                <a:lnTo>
                  <a:pt x="4790" y="0"/>
                </a:lnTo>
                <a:lnTo>
                  <a:pt x="479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5333760" y="4057560"/>
            <a:ext cx="10080" cy="285840"/>
          </a:xfrm>
          <a:custGeom>
            <a:avLst/>
            <a:gdLst/>
            <a:ahLst/>
            <a:rect l="0" t="0" r="r" b="b"/>
            <a:pathLst>
              <a:path w="28" h="794">
                <a:moveTo>
                  <a:pt x="0" y="0"/>
                </a:moveTo>
                <a:lnTo>
                  <a:pt x="28" y="0"/>
                </a:lnTo>
                <a:lnTo>
                  <a:pt x="28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5343480" y="4047840"/>
            <a:ext cx="1038600" cy="10440"/>
          </a:xfrm>
          <a:custGeom>
            <a:avLst/>
            <a:gdLst/>
            <a:ahLst/>
            <a:rect l="0" t="0" r="r" b="b"/>
            <a:pathLst>
              <a:path w="2885" h="29">
                <a:moveTo>
                  <a:pt x="0" y="0"/>
                </a:moveTo>
                <a:lnTo>
                  <a:pt x="2885" y="0"/>
                </a:lnTo>
                <a:lnTo>
                  <a:pt x="288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372000" y="4057560"/>
            <a:ext cx="10080" cy="285840"/>
          </a:xfrm>
          <a:custGeom>
            <a:avLst/>
            <a:gdLst/>
            <a:ahLst/>
            <a:rect l="0" t="0" r="r" b="b"/>
            <a:pathLst>
              <a:path w="28" h="794">
                <a:moveTo>
                  <a:pt x="0" y="0"/>
                </a:moveTo>
                <a:lnTo>
                  <a:pt x="28" y="0"/>
                </a:lnTo>
                <a:lnTo>
                  <a:pt x="28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6381720" y="4047840"/>
            <a:ext cx="1095480" cy="10440"/>
          </a:xfrm>
          <a:custGeom>
            <a:avLst/>
            <a:gdLst/>
            <a:ahLst/>
            <a:rect l="0" t="0" r="r" b="b"/>
            <a:pathLst>
              <a:path w="3043" h="29">
                <a:moveTo>
                  <a:pt x="0" y="0"/>
                </a:moveTo>
                <a:lnTo>
                  <a:pt x="3043" y="0"/>
                </a:lnTo>
                <a:lnTo>
                  <a:pt x="30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7467480" y="40575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7476840" y="4047840"/>
            <a:ext cx="1095840" cy="10440"/>
          </a:xfrm>
          <a:custGeom>
            <a:avLst/>
            <a:gdLst/>
            <a:ahLst/>
            <a:rect l="0" t="0" r="r" b="b"/>
            <a:pathLst>
              <a:path w="3044" h="29">
                <a:moveTo>
                  <a:pt x="0" y="0"/>
                </a:moveTo>
                <a:lnTo>
                  <a:pt x="3044" y="0"/>
                </a:lnTo>
                <a:lnTo>
                  <a:pt x="304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8562960" y="4057560"/>
            <a:ext cx="9720" cy="285840"/>
          </a:xfrm>
          <a:custGeom>
            <a:avLst/>
            <a:gdLst/>
            <a:ahLst/>
            <a:rect l="0" t="0" r="r" b="b"/>
            <a:pathLst>
              <a:path w="27" h="794">
                <a:moveTo>
                  <a:pt x="0" y="0"/>
                </a:moveTo>
                <a:lnTo>
                  <a:pt x="27" y="0"/>
                </a:lnTo>
                <a:lnTo>
                  <a:pt x="2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3619440" y="4343040"/>
            <a:ext cx="9720" cy="276840"/>
          </a:xfrm>
          <a:custGeom>
            <a:avLst/>
            <a:gdLst/>
            <a:ahLst/>
            <a:rect l="0" t="0" r="r" b="b"/>
            <a:pathLst>
              <a:path w="27" h="769">
                <a:moveTo>
                  <a:pt x="0" y="0"/>
                </a:moveTo>
                <a:lnTo>
                  <a:pt x="27" y="0"/>
                </a:lnTo>
                <a:lnTo>
                  <a:pt x="27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3619440" y="433368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5333760" y="4343040"/>
            <a:ext cx="10080" cy="276840"/>
          </a:xfrm>
          <a:custGeom>
            <a:avLst/>
            <a:gdLst/>
            <a:ahLst/>
            <a:rect l="0" t="0" r="r" b="b"/>
            <a:pathLst>
              <a:path w="28" h="769">
                <a:moveTo>
                  <a:pt x="0" y="0"/>
                </a:moveTo>
                <a:lnTo>
                  <a:pt x="28" y="0"/>
                </a:lnTo>
                <a:lnTo>
                  <a:pt x="28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5343480" y="433368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6372000" y="4343040"/>
            <a:ext cx="10080" cy="276840"/>
          </a:xfrm>
          <a:custGeom>
            <a:avLst/>
            <a:gdLst/>
            <a:ahLst/>
            <a:rect l="0" t="0" r="r" b="b"/>
            <a:pathLst>
              <a:path w="28" h="769">
                <a:moveTo>
                  <a:pt x="0" y="0"/>
                </a:moveTo>
                <a:lnTo>
                  <a:pt x="28" y="0"/>
                </a:lnTo>
                <a:lnTo>
                  <a:pt x="28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381720" y="433368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7467480" y="4343040"/>
            <a:ext cx="9720" cy="276840"/>
          </a:xfrm>
          <a:custGeom>
            <a:avLst/>
            <a:gdLst/>
            <a:ahLst/>
            <a:rect l="0" t="0" r="r" b="b"/>
            <a:pathLst>
              <a:path w="27" h="769">
                <a:moveTo>
                  <a:pt x="0" y="0"/>
                </a:moveTo>
                <a:lnTo>
                  <a:pt x="27" y="0"/>
                </a:lnTo>
                <a:lnTo>
                  <a:pt x="27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7476840" y="43336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8562960" y="4343040"/>
            <a:ext cx="9720" cy="276840"/>
          </a:xfrm>
          <a:custGeom>
            <a:avLst/>
            <a:gdLst/>
            <a:ahLst/>
            <a:rect l="0" t="0" r="r" b="b"/>
            <a:pathLst>
              <a:path w="27" h="769">
                <a:moveTo>
                  <a:pt x="0" y="0"/>
                </a:moveTo>
                <a:lnTo>
                  <a:pt x="27" y="0"/>
                </a:lnTo>
                <a:lnTo>
                  <a:pt x="27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3619440" y="460980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5343480" y="460980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6381720" y="460980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7476840" y="460980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380880" y="929880"/>
            <a:ext cx="18068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四、基准回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225036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归结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299808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果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430632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447804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573084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590940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680112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697968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789696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8075520" y="15696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4058280" y="1855440"/>
            <a:ext cx="581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L.Fintech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557892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596160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664884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703152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774468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812736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561132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577800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603576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668124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684792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710568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777708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794376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820152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4249800" y="2417400"/>
            <a:ext cx="346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Asset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6667560" y="24174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7026120" y="241740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7763400" y="24174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8121960" y="241740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4331880" y="2703240"/>
            <a:ext cx="217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Lev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6516720" y="270324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−0.407***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7612560" y="270324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−0.407***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4217040" y="2979360"/>
            <a:ext cx="3999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Conce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6516720" y="297936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−0.619***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7612560" y="297936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−0.624***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4043520" y="3265200"/>
            <a:ext cx="6415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Allocation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6516720" y="326520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−0.599***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7612560" y="326520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−0.603***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 txBox="1"/>
          <p:nvPr/>
        </p:nvSpPr>
        <p:spPr>
          <a:xfrm>
            <a:off x="3759840" y="3551040"/>
            <a:ext cx="1080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Digital_economy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7763400" y="35510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8121960" y="35510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 txBox="1"/>
          <p:nvPr/>
        </p:nvSpPr>
        <p:spPr>
          <a:xfrm>
            <a:off x="4015800" y="3827160"/>
            <a:ext cx="810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Year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Firm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 txBox="1"/>
          <p:nvPr/>
        </p:nvSpPr>
        <p:spPr>
          <a:xfrm>
            <a:off x="5701320" y="3827160"/>
            <a:ext cx="2264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YES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6771240" y="3827160"/>
            <a:ext cx="2264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YES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7867080" y="3827160"/>
            <a:ext cx="2264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YES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4414320" y="41130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 txBox="1"/>
          <p:nvPr/>
        </p:nvSpPr>
        <p:spPr>
          <a:xfrm>
            <a:off x="5782320" y="4113000"/>
            <a:ext cx="15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 txBox="1"/>
          <p:nvPr/>
        </p:nvSpPr>
        <p:spPr>
          <a:xfrm>
            <a:off x="6852240" y="4113000"/>
            <a:ext cx="15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7948080" y="4113000"/>
            <a:ext cx="159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 txBox="1"/>
          <p:nvPr/>
        </p:nvSpPr>
        <p:spPr>
          <a:xfrm>
            <a:off x="4219920" y="4398840"/>
            <a:ext cx="374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adj.R²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 txBox="1"/>
          <p:nvPr/>
        </p:nvSpPr>
        <p:spPr>
          <a:xfrm>
            <a:off x="5677200" y="43988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 txBox="1"/>
          <p:nvPr/>
        </p:nvSpPr>
        <p:spPr>
          <a:xfrm>
            <a:off x="6747480" y="43988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7843320" y="43988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380880" y="49305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系数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938160" y="4889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 txBox="1"/>
          <p:nvPr/>
        </p:nvSpPr>
        <p:spPr>
          <a:xfrm>
            <a:off x="1216800" y="49305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何随控制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2331360" y="4889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 txBox="1"/>
          <p:nvPr/>
        </p:nvSpPr>
        <p:spPr>
          <a:xfrm>
            <a:off x="2610000" y="49305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量增加而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 txBox="1"/>
          <p:nvPr/>
        </p:nvSpPr>
        <p:spPr>
          <a:xfrm>
            <a:off x="3724200" y="4889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4002840" y="49305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小？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380880" y="55594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控制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93816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 txBox="1"/>
          <p:nvPr/>
        </p:nvSpPr>
        <p:spPr>
          <a:xfrm>
            <a:off x="1216800" y="55594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量吸收部分效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288828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3166920" y="555948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，系数随之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456012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4838760" y="555948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小，但始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595296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6231600" y="5559480"/>
            <a:ext cx="1654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在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1%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水平上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790704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8185680" y="5559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8463960" y="5518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8742600" y="5559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380880" y="6210000"/>
            <a:ext cx="4781880" cy="10440"/>
          </a:xfrm>
          <a:custGeom>
            <a:avLst/>
            <a:gdLst/>
            <a:ahLst/>
            <a:rect l="0" t="0" r="r" b="b"/>
            <a:pathLst>
              <a:path w="13283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9"/>
                </a:lnTo>
                <a:lnTo>
                  <a:pt x="264" y="29"/>
                </a:lnTo>
                <a:lnTo>
                  <a:pt x="264" y="0"/>
                </a:lnTo>
                <a:moveTo>
                  <a:pt x="396" y="0"/>
                </a:moveTo>
                <a:lnTo>
                  <a:pt x="475" y="0"/>
                </a:lnTo>
                <a:lnTo>
                  <a:pt x="475" y="29"/>
                </a:lnTo>
                <a:lnTo>
                  <a:pt x="396" y="29"/>
                </a:lnTo>
                <a:lnTo>
                  <a:pt x="396" y="0"/>
                </a:lnTo>
                <a:moveTo>
                  <a:pt x="528" y="0"/>
                </a:moveTo>
                <a:lnTo>
                  <a:pt x="607" y="0"/>
                </a:lnTo>
                <a:lnTo>
                  <a:pt x="607" y="29"/>
                </a:lnTo>
                <a:lnTo>
                  <a:pt x="528" y="29"/>
                </a:lnTo>
                <a:lnTo>
                  <a:pt x="528" y="0"/>
                </a:lnTo>
                <a:moveTo>
                  <a:pt x="660" y="0"/>
                </a:moveTo>
                <a:lnTo>
                  <a:pt x="739" y="0"/>
                </a:lnTo>
                <a:lnTo>
                  <a:pt x="739" y="29"/>
                </a:lnTo>
                <a:lnTo>
                  <a:pt x="660" y="29"/>
                </a:lnTo>
                <a:lnTo>
                  <a:pt x="660" y="0"/>
                </a:lnTo>
                <a:moveTo>
                  <a:pt x="792" y="0"/>
                </a:moveTo>
                <a:lnTo>
                  <a:pt x="871" y="0"/>
                </a:lnTo>
                <a:lnTo>
                  <a:pt x="871" y="29"/>
                </a:lnTo>
                <a:lnTo>
                  <a:pt x="792" y="29"/>
                </a:lnTo>
                <a:lnTo>
                  <a:pt x="792" y="0"/>
                </a:lnTo>
                <a:moveTo>
                  <a:pt x="924" y="0"/>
                </a:moveTo>
                <a:lnTo>
                  <a:pt x="1003" y="0"/>
                </a:lnTo>
                <a:lnTo>
                  <a:pt x="1003" y="29"/>
                </a:lnTo>
                <a:lnTo>
                  <a:pt x="924" y="29"/>
                </a:lnTo>
                <a:lnTo>
                  <a:pt x="924" y="0"/>
                </a:lnTo>
                <a:moveTo>
                  <a:pt x="1056" y="0"/>
                </a:moveTo>
                <a:lnTo>
                  <a:pt x="1135" y="0"/>
                </a:lnTo>
                <a:lnTo>
                  <a:pt x="1135" y="29"/>
                </a:lnTo>
                <a:lnTo>
                  <a:pt x="1056" y="29"/>
                </a:lnTo>
                <a:lnTo>
                  <a:pt x="1056" y="0"/>
                </a:lnTo>
                <a:moveTo>
                  <a:pt x="1188" y="0"/>
                </a:moveTo>
                <a:lnTo>
                  <a:pt x="1267" y="0"/>
                </a:lnTo>
                <a:lnTo>
                  <a:pt x="1267" y="29"/>
                </a:lnTo>
                <a:lnTo>
                  <a:pt x="1188" y="29"/>
                </a:lnTo>
                <a:lnTo>
                  <a:pt x="1188" y="0"/>
                </a:lnTo>
                <a:moveTo>
                  <a:pt x="1320" y="0"/>
                </a:moveTo>
                <a:lnTo>
                  <a:pt x="1399" y="0"/>
                </a:lnTo>
                <a:lnTo>
                  <a:pt x="1399" y="29"/>
                </a:lnTo>
                <a:lnTo>
                  <a:pt x="1320" y="29"/>
                </a:lnTo>
                <a:lnTo>
                  <a:pt x="1320" y="0"/>
                </a:lnTo>
                <a:moveTo>
                  <a:pt x="1452" y="0"/>
                </a:moveTo>
                <a:lnTo>
                  <a:pt x="1532" y="0"/>
                </a:lnTo>
                <a:lnTo>
                  <a:pt x="1532" y="29"/>
                </a:lnTo>
                <a:lnTo>
                  <a:pt x="1452" y="29"/>
                </a:lnTo>
                <a:lnTo>
                  <a:pt x="1452" y="0"/>
                </a:lnTo>
                <a:moveTo>
                  <a:pt x="1584" y="0"/>
                </a:moveTo>
                <a:lnTo>
                  <a:pt x="1664" y="0"/>
                </a:lnTo>
                <a:lnTo>
                  <a:pt x="1664" y="29"/>
                </a:lnTo>
                <a:lnTo>
                  <a:pt x="1584" y="29"/>
                </a:lnTo>
                <a:lnTo>
                  <a:pt x="1584" y="0"/>
                </a:lnTo>
                <a:moveTo>
                  <a:pt x="1716" y="0"/>
                </a:moveTo>
                <a:lnTo>
                  <a:pt x="1796" y="0"/>
                </a:lnTo>
                <a:lnTo>
                  <a:pt x="1796" y="29"/>
                </a:lnTo>
                <a:lnTo>
                  <a:pt x="1716" y="29"/>
                </a:lnTo>
                <a:lnTo>
                  <a:pt x="1716" y="0"/>
                </a:lnTo>
                <a:moveTo>
                  <a:pt x="1848" y="0"/>
                </a:moveTo>
                <a:lnTo>
                  <a:pt x="1928" y="0"/>
                </a:lnTo>
                <a:lnTo>
                  <a:pt x="1928" y="29"/>
                </a:lnTo>
                <a:lnTo>
                  <a:pt x="1848" y="29"/>
                </a:lnTo>
                <a:lnTo>
                  <a:pt x="1848" y="0"/>
                </a:lnTo>
                <a:moveTo>
                  <a:pt x="1980" y="0"/>
                </a:moveTo>
                <a:lnTo>
                  <a:pt x="2060" y="0"/>
                </a:lnTo>
                <a:lnTo>
                  <a:pt x="2060" y="29"/>
                </a:lnTo>
                <a:lnTo>
                  <a:pt x="1980" y="29"/>
                </a:lnTo>
                <a:lnTo>
                  <a:pt x="1980" y="0"/>
                </a:lnTo>
                <a:moveTo>
                  <a:pt x="2112" y="0"/>
                </a:moveTo>
                <a:lnTo>
                  <a:pt x="2192" y="0"/>
                </a:lnTo>
                <a:lnTo>
                  <a:pt x="2192" y="29"/>
                </a:lnTo>
                <a:lnTo>
                  <a:pt x="2112" y="29"/>
                </a:lnTo>
                <a:lnTo>
                  <a:pt x="2112" y="0"/>
                </a:lnTo>
                <a:moveTo>
                  <a:pt x="2244" y="0"/>
                </a:moveTo>
                <a:lnTo>
                  <a:pt x="2324" y="0"/>
                </a:lnTo>
                <a:lnTo>
                  <a:pt x="2324" y="29"/>
                </a:lnTo>
                <a:lnTo>
                  <a:pt x="2244" y="29"/>
                </a:lnTo>
                <a:lnTo>
                  <a:pt x="2244" y="0"/>
                </a:lnTo>
                <a:moveTo>
                  <a:pt x="2376" y="0"/>
                </a:moveTo>
                <a:lnTo>
                  <a:pt x="2456" y="0"/>
                </a:lnTo>
                <a:lnTo>
                  <a:pt x="2456" y="29"/>
                </a:lnTo>
                <a:lnTo>
                  <a:pt x="2376" y="29"/>
                </a:lnTo>
                <a:lnTo>
                  <a:pt x="2376" y="0"/>
                </a:lnTo>
                <a:moveTo>
                  <a:pt x="2508" y="0"/>
                </a:moveTo>
                <a:lnTo>
                  <a:pt x="2588" y="0"/>
                </a:lnTo>
                <a:lnTo>
                  <a:pt x="2588" y="29"/>
                </a:lnTo>
                <a:lnTo>
                  <a:pt x="2508" y="29"/>
                </a:lnTo>
                <a:lnTo>
                  <a:pt x="2508" y="0"/>
                </a:lnTo>
                <a:moveTo>
                  <a:pt x="2640" y="0"/>
                </a:moveTo>
                <a:lnTo>
                  <a:pt x="2720" y="0"/>
                </a:lnTo>
                <a:lnTo>
                  <a:pt x="2720" y="29"/>
                </a:lnTo>
                <a:lnTo>
                  <a:pt x="2640" y="29"/>
                </a:lnTo>
                <a:lnTo>
                  <a:pt x="2640" y="0"/>
                </a:lnTo>
                <a:moveTo>
                  <a:pt x="2772" y="0"/>
                </a:moveTo>
                <a:lnTo>
                  <a:pt x="2852" y="0"/>
                </a:lnTo>
                <a:lnTo>
                  <a:pt x="2852" y="29"/>
                </a:lnTo>
                <a:lnTo>
                  <a:pt x="2772" y="29"/>
                </a:lnTo>
                <a:lnTo>
                  <a:pt x="2772" y="0"/>
                </a:lnTo>
                <a:moveTo>
                  <a:pt x="2904" y="0"/>
                </a:moveTo>
                <a:lnTo>
                  <a:pt x="2984" y="0"/>
                </a:lnTo>
                <a:lnTo>
                  <a:pt x="2984" y="29"/>
                </a:lnTo>
                <a:lnTo>
                  <a:pt x="2904" y="29"/>
                </a:lnTo>
                <a:lnTo>
                  <a:pt x="2904" y="0"/>
                </a:lnTo>
                <a:moveTo>
                  <a:pt x="3036" y="0"/>
                </a:moveTo>
                <a:lnTo>
                  <a:pt x="3116" y="0"/>
                </a:lnTo>
                <a:lnTo>
                  <a:pt x="3116" y="29"/>
                </a:lnTo>
                <a:lnTo>
                  <a:pt x="3036" y="29"/>
                </a:lnTo>
                <a:lnTo>
                  <a:pt x="3036" y="0"/>
                </a:lnTo>
                <a:moveTo>
                  <a:pt x="3168" y="0"/>
                </a:moveTo>
                <a:lnTo>
                  <a:pt x="3248" y="0"/>
                </a:lnTo>
                <a:lnTo>
                  <a:pt x="3248" y="29"/>
                </a:lnTo>
                <a:lnTo>
                  <a:pt x="3168" y="29"/>
                </a:lnTo>
                <a:lnTo>
                  <a:pt x="3168" y="0"/>
                </a:lnTo>
                <a:moveTo>
                  <a:pt x="3301" y="0"/>
                </a:moveTo>
                <a:lnTo>
                  <a:pt x="3380" y="0"/>
                </a:lnTo>
                <a:lnTo>
                  <a:pt x="3380" y="29"/>
                </a:lnTo>
                <a:lnTo>
                  <a:pt x="3301" y="29"/>
                </a:lnTo>
                <a:lnTo>
                  <a:pt x="3301" y="0"/>
                </a:lnTo>
                <a:moveTo>
                  <a:pt x="3433" y="0"/>
                </a:moveTo>
                <a:lnTo>
                  <a:pt x="3512" y="0"/>
                </a:lnTo>
                <a:lnTo>
                  <a:pt x="3512" y="29"/>
                </a:lnTo>
                <a:lnTo>
                  <a:pt x="3433" y="29"/>
                </a:lnTo>
                <a:lnTo>
                  <a:pt x="3433" y="0"/>
                </a:lnTo>
                <a:moveTo>
                  <a:pt x="3565" y="0"/>
                </a:moveTo>
                <a:lnTo>
                  <a:pt x="3644" y="0"/>
                </a:lnTo>
                <a:lnTo>
                  <a:pt x="3644" y="29"/>
                </a:lnTo>
                <a:lnTo>
                  <a:pt x="3565" y="29"/>
                </a:lnTo>
                <a:lnTo>
                  <a:pt x="3565" y="0"/>
                </a:lnTo>
                <a:moveTo>
                  <a:pt x="3697" y="0"/>
                </a:moveTo>
                <a:lnTo>
                  <a:pt x="3776" y="0"/>
                </a:lnTo>
                <a:lnTo>
                  <a:pt x="3776" y="29"/>
                </a:lnTo>
                <a:lnTo>
                  <a:pt x="3697" y="29"/>
                </a:lnTo>
                <a:lnTo>
                  <a:pt x="3697" y="0"/>
                </a:lnTo>
                <a:moveTo>
                  <a:pt x="3829" y="0"/>
                </a:moveTo>
                <a:lnTo>
                  <a:pt x="3908" y="0"/>
                </a:lnTo>
                <a:lnTo>
                  <a:pt x="3908" y="29"/>
                </a:lnTo>
                <a:lnTo>
                  <a:pt x="3829" y="29"/>
                </a:lnTo>
                <a:lnTo>
                  <a:pt x="3829" y="0"/>
                </a:lnTo>
                <a:moveTo>
                  <a:pt x="3961" y="0"/>
                </a:moveTo>
                <a:lnTo>
                  <a:pt x="4040" y="0"/>
                </a:lnTo>
                <a:lnTo>
                  <a:pt x="4040" y="29"/>
                </a:lnTo>
                <a:lnTo>
                  <a:pt x="3961" y="29"/>
                </a:lnTo>
                <a:lnTo>
                  <a:pt x="3961" y="0"/>
                </a:lnTo>
                <a:moveTo>
                  <a:pt x="4093" y="0"/>
                </a:moveTo>
                <a:lnTo>
                  <a:pt x="4172" y="0"/>
                </a:lnTo>
                <a:lnTo>
                  <a:pt x="4172" y="29"/>
                </a:lnTo>
                <a:lnTo>
                  <a:pt x="4093" y="29"/>
                </a:lnTo>
                <a:lnTo>
                  <a:pt x="4093" y="0"/>
                </a:lnTo>
                <a:moveTo>
                  <a:pt x="4225" y="0"/>
                </a:moveTo>
                <a:lnTo>
                  <a:pt x="4304" y="0"/>
                </a:lnTo>
                <a:lnTo>
                  <a:pt x="4304" y="29"/>
                </a:lnTo>
                <a:lnTo>
                  <a:pt x="4225" y="29"/>
                </a:lnTo>
                <a:lnTo>
                  <a:pt x="4225" y="0"/>
                </a:lnTo>
                <a:moveTo>
                  <a:pt x="4357" y="0"/>
                </a:moveTo>
                <a:lnTo>
                  <a:pt x="4436" y="0"/>
                </a:lnTo>
                <a:lnTo>
                  <a:pt x="4436" y="29"/>
                </a:lnTo>
                <a:lnTo>
                  <a:pt x="4357" y="29"/>
                </a:lnTo>
                <a:lnTo>
                  <a:pt x="4357" y="0"/>
                </a:lnTo>
                <a:moveTo>
                  <a:pt x="4489" y="0"/>
                </a:moveTo>
                <a:lnTo>
                  <a:pt x="4568" y="0"/>
                </a:lnTo>
                <a:lnTo>
                  <a:pt x="4568" y="29"/>
                </a:lnTo>
                <a:lnTo>
                  <a:pt x="4489" y="29"/>
                </a:lnTo>
                <a:lnTo>
                  <a:pt x="4489" y="0"/>
                </a:lnTo>
                <a:moveTo>
                  <a:pt x="4621" y="0"/>
                </a:moveTo>
                <a:lnTo>
                  <a:pt x="4700" y="0"/>
                </a:lnTo>
                <a:lnTo>
                  <a:pt x="4700" y="29"/>
                </a:lnTo>
                <a:lnTo>
                  <a:pt x="4621" y="29"/>
                </a:lnTo>
                <a:lnTo>
                  <a:pt x="4621" y="0"/>
                </a:lnTo>
                <a:moveTo>
                  <a:pt x="4753" y="0"/>
                </a:moveTo>
                <a:lnTo>
                  <a:pt x="4832" y="0"/>
                </a:lnTo>
                <a:lnTo>
                  <a:pt x="4832" y="29"/>
                </a:lnTo>
                <a:lnTo>
                  <a:pt x="4753" y="29"/>
                </a:lnTo>
                <a:lnTo>
                  <a:pt x="4753" y="0"/>
                </a:lnTo>
                <a:moveTo>
                  <a:pt x="4885" y="0"/>
                </a:moveTo>
                <a:lnTo>
                  <a:pt x="4964" y="0"/>
                </a:lnTo>
                <a:lnTo>
                  <a:pt x="4964" y="29"/>
                </a:lnTo>
                <a:lnTo>
                  <a:pt x="4885" y="29"/>
                </a:lnTo>
                <a:lnTo>
                  <a:pt x="4885" y="0"/>
                </a:lnTo>
                <a:moveTo>
                  <a:pt x="5017" y="0"/>
                </a:moveTo>
                <a:lnTo>
                  <a:pt x="5096" y="0"/>
                </a:lnTo>
                <a:lnTo>
                  <a:pt x="5096" y="29"/>
                </a:lnTo>
                <a:lnTo>
                  <a:pt x="5017" y="29"/>
                </a:lnTo>
                <a:lnTo>
                  <a:pt x="5017" y="0"/>
                </a:lnTo>
                <a:moveTo>
                  <a:pt x="5149" y="0"/>
                </a:moveTo>
                <a:lnTo>
                  <a:pt x="5228" y="0"/>
                </a:lnTo>
                <a:lnTo>
                  <a:pt x="5228" y="29"/>
                </a:lnTo>
                <a:lnTo>
                  <a:pt x="5149" y="29"/>
                </a:lnTo>
                <a:lnTo>
                  <a:pt x="5149" y="0"/>
                </a:lnTo>
                <a:moveTo>
                  <a:pt x="5281" y="0"/>
                </a:moveTo>
                <a:lnTo>
                  <a:pt x="5360" y="0"/>
                </a:lnTo>
                <a:lnTo>
                  <a:pt x="5360" y="29"/>
                </a:lnTo>
                <a:lnTo>
                  <a:pt x="5281" y="29"/>
                </a:lnTo>
                <a:lnTo>
                  <a:pt x="5281" y="0"/>
                </a:lnTo>
                <a:moveTo>
                  <a:pt x="5413" y="0"/>
                </a:moveTo>
                <a:lnTo>
                  <a:pt x="5492" y="0"/>
                </a:lnTo>
                <a:lnTo>
                  <a:pt x="5492" y="29"/>
                </a:lnTo>
                <a:lnTo>
                  <a:pt x="5413" y="29"/>
                </a:lnTo>
                <a:lnTo>
                  <a:pt x="5413" y="0"/>
                </a:lnTo>
                <a:moveTo>
                  <a:pt x="5545" y="0"/>
                </a:moveTo>
                <a:lnTo>
                  <a:pt x="5625" y="0"/>
                </a:lnTo>
                <a:lnTo>
                  <a:pt x="5625" y="29"/>
                </a:lnTo>
                <a:lnTo>
                  <a:pt x="5545" y="29"/>
                </a:lnTo>
                <a:lnTo>
                  <a:pt x="5545" y="0"/>
                </a:lnTo>
                <a:moveTo>
                  <a:pt x="5678" y="0"/>
                </a:moveTo>
                <a:lnTo>
                  <a:pt x="5757" y="0"/>
                </a:lnTo>
                <a:lnTo>
                  <a:pt x="5757" y="29"/>
                </a:lnTo>
                <a:lnTo>
                  <a:pt x="5678" y="29"/>
                </a:lnTo>
                <a:lnTo>
                  <a:pt x="5678" y="0"/>
                </a:lnTo>
                <a:moveTo>
                  <a:pt x="5810" y="0"/>
                </a:moveTo>
                <a:lnTo>
                  <a:pt x="5889" y="0"/>
                </a:lnTo>
                <a:lnTo>
                  <a:pt x="5889" y="29"/>
                </a:lnTo>
                <a:lnTo>
                  <a:pt x="5810" y="29"/>
                </a:lnTo>
                <a:lnTo>
                  <a:pt x="5810" y="0"/>
                </a:lnTo>
                <a:moveTo>
                  <a:pt x="5942" y="0"/>
                </a:moveTo>
                <a:lnTo>
                  <a:pt x="6021" y="0"/>
                </a:lnTo>
                <a:lnTo>
                  <a:pt x="6021" y="29"/>
                </a:lnTo>
                <a:lnTo>
                  <a:pt x="5942" y="29"/>
                </a:lnTo>
                <a:lnTo>
                  <a:pt x="5942" y="0"/>
                </a:lnTo>
                <a:moveTo>
                  <a:pt x="6074" y="0"/>
                </a:moveTo>
                <a:lnTo>
                  <a:pt x="6153" y="0"/>
                </a:lnTo>
                <a:lnTo>
                  <a:pt x="6153" y="29"/>
                </a:lnTo>
                <a:lnTo>
                  <a:pt x="6074" y="29"/>
                </a:lnTo>
                <a:lnTo>
                  <a:pt x="6074" y="0"/>
                </a:lnTo>
                <a:moveTo>
                  <a:pt x="6206" y="0"/>
                </a:moveTo>
                <a:lnTo>
                  <a:pt x="6285" y="0"/>
                </a:lnTo>
                <a:lnTo>
                  <a:pt x="6285" y="29"/>
                </a:lnTo>
                <a:lnTo>
                  <a:pt x="6206" y="29"/>
                </a:lnTo>
                <a:lnTo>
                  <a:pt x="6206" y="0"/>
                </a:lnTo>
                <a:moveTo>
                  <a:pt x="6338" y="0"/>
                </a:moveTo>
                <a:lnTo>
                  <a:pt x="6418" y="0"/>
                </a:lnTo>
                <a:lnTo>
                  <a:pt x="6418" y="29"/>
                </a:lnTo>
                <a:lnTo>
                  <a:pt x="6338" y="29"/>
                </a:lnTo>
                <a:lnTo>
                  <a:pt x="6338" y="0"/>
                </a:lnTo>
                <a:moveTo>
                  <a:pt x="6470" y="0"/>
                </a:moveTo>
                <a:lnTo>
                  <a:pt x="6550" y="0"/>
                </a:lnTo>
                <a:lnTo>
                  <a:pt x="6550" y="29"/>
                </a:lnTo>
                <a:lnTo>
                  <a:pt x="6470" y="29"/>
                </a:lnTo>
                <a:lnTo>
                  <a:pt x="6470" y="0"/>
                </a:lnTo>
                <a:moveTo>
                  <a:pt x="6602" y="0"/>
                </a:moveTo>
                <a:lnTo>
                  <a:pt x="6682" y="0"/>
                </a:lnTo>
                <a:lnTo>
                  <a:pt x="6682" y="29"/>
                </a:lnTo>
                <a:lnTo>
                  <a:pt x="6602" y="29"/>
                </a:lnTo>
                <a:lnTo>
                  <a:pt x="6602" y="0"/>
                </a:lnTo>
                <a:moveTo>
                  <a:pt x="6734" y="0"/>
                </a:moveTo>
                <a:lnTo>
                  <a:pt x="6814" y="0"/>
                </a:lnTo>
                <a:lnTo>
                  <a:pt x="6814" y="29"/>
                </a:lnTo>
                <a:lnTo>
                  <a:pt x="6734" y="29"/>
                </a:lnTo>
                <a:lnTo>
                  <a:pt x="6734" y="0"/>
                </a:lnTo>
                <a:moveTo>
                  <a:pt x="6866" y="0"/>
                </a:moveTo>
                <a:lnTo>
                  <a:pt x="6946" y="0"/>
                </a:lnTo>
                <a:lnTo>
                  <a:pt x="6946" y="29"/>
                </a:lnTo>
                <a:lnTo>
                  <a:pt x="6866" y="29"/>
                </a:lnTo>
                <a:lnTo>
                  <a:pt x="6866" y="0"/>
                </a:lnTo>
                <a:moveTo>
                  <a:pt x="6998" y="0"/>
                </a:moveTo>
                <a:lnTo>
                  <a:pt x="7078" y="0"/>
                </a:lnTo>
                <a:lnTo>
                  <a:pt x="7078" y="29"/>
                </a:lnTo>
                <a:lnTo>
                  <a:pt x="6998" y="29"/>
                </a:lnTo>
                <a:lnTo>
                  <a:pt x="6998" y="0"/>
                </a:lnTo>
                <a:moveTo>
                  <a:pt x="7130" y="0"/>
                </a:moveTo>
                <a:lnTo>
                  <a:pt x="7210" y="0"/>
                </a:lnTo>
                <a:lnTo>
                  <a:pt x="7210" y="29"/>
                </a:lnTo>
                <a:lnTo>
                  <a:pt x="7130" y="29"/>
                </a:lnTo>
                <a:lnTo>
                  <a:pt x="7130" y="0"/>
                </a:lnTo>
                <a:moveTo>
                  <a:pt x="7262" y="0"/>
                </a:moveTo>
                <a:lnTo>
                  <a:pt x="7342" y="0"/>
                </a:lnTo>
                <a:lnTo>
                  <a:pt x="7342" y="29"/>
                </a:lnTo>
                <a:lnTo>
                  <a:pt x="7262" y="29"/>
                </a:lnTo>
                <a:lnTo>
                  <a:pt x="7262" y="0"/>
                </a:lnTo>
                <a:moveTo>
                  <a:pt x="7394" y="0"/>
                </a:moveTo>
                <a:lnTo>
                  <a:pt x="7474" y="0"/>
                </a:lnTo>
                <a:lnTo>
                  <a:pt x="7474" y="29"/>
                </a:lnTo>
                <a:lnTo>
                  <a:pt x="7394" y="29"/>
                </a:lnTo>
                <a:lnTo>
                  <a:pt x="7394" y="0"/>
                </a:lnTo>
                <a:moveTo>
                  <a:pt x="7526" y="0"/>
                </a:moveTo>
                <a:lnTo>
                  <a:pt x="7606" y="0"/>
                </a:lnTo>
                <a:lnTo>
                  <a:pt x="7606" y="29"/>
                </a:lnTo>
                <a:lnTo>
                  <a:pt x="7526" y="29"/>
                </a:lnTo>
                <a:lnTo>
                  <a:pt x="7526" y="0"/>
                </a:lnTo>
                <a:moveTo>
                  <a:pt x="7658" y="0"/>
                </a:moveTo>
                <a:lnTo>
                  <a:pt x="7738" y="0"/>
                </a:lnTo>
                <a:lnTo>
                  <a:pt x="7738" y="29"/>
                </a:lnTo>
                <a:lnTo>
                  <a:pt x="7658" y="29"/>
                </a:lnTo>
                <a:lnTo>
                  <a:pt x="7658" y="0"/>
                </a:lnTo>
                <a:moveTo>
                  <a:pt x="7790" y="0"/>
                </a:moveTo>
                <a:lnTo>
                  <a:pt x="7870" y="0"/>
                </a:lnTo>
                <a:lnTo>
                  <a:pt x="7870" y="29"/>
                </a:lnTo>
                <a:lnTo>
                  <a:pt x="7790" y="29"/>
                </a:lnTo>
                <a:lnTo>
                  <a:pt x="7790" y="0"/>
                </a:lnTo>
                <a:moveTo>
                  <a:pt x="7922" y="0"/>
                </a:moveTo>
                <a:lnTo>
                  <a:pt x="8002" y="0"/>
                </a:lnTo>
                <a:lnTo>
                  <a:pt x="8002" y="29"/>
                </a:lnTo>
                <a:lnTo>
                  <a:pt x="7922" y="29"/>
                </a:lnTo>
                <a:lnTo>
                  <a:pt x="7922" y="0"/>
                </a:lnTo>
                <a:moveTo>
                  <a:pt x="8054" y="0"/>
                </a:moveTo>
                <a:lnTo>
                  <a:pt x="8134" y="0"/>
                </a:lnTo>
                <a:lnTo>
                  <a:pt x="8134" y="29"/>
                </a:lnTo>
                <a:lnTo>
                  <a:pt x="8054" y="29"/>
                </a:lnTo>
                <a:lnTo>
                  <a:pt x="8054" y="0"/>
                </a:lnTo>
                <a:moveTo>
                  <a:pt x="8187" y="0"/>
                </a:moveTo>
                <a:lnTo>
                  <a:pt x="8266" y="0"/>
                </a:lnTo>
                <a:lnTo>
                  <a:pt x="8266" y="29"/>
                </a:lnTo>
                <a:lnTo>
                  <a:pt x="8187" y="29"/>
                </a:lnTo>
                <a:lnTo>
                  <a:pt x="8187" y="0"/>
                </a:lnTo>
                <a:moveTo>
                  <a:pt x="8319" y="0"/>
                </a:moveTo>
                <a:lnTo>
                  <a:pt x="8398" y="0"/>
                </a:lnTo>
                <a:lnTo>
                  <a:pt x="8398" y="29"/>
                </a:lnTo>
                <a:lnTo>
                  <a:pt x="8319" y="29"/>
                </a:lnTo>
                <a:lnTo>
                  <a:pt x="8319" y="0"/>
                </a:lnTo>
                <a:moveTo>
                  <a:pt x="8451" y="0"/>
                </a:moveTo>
                <a:lnTo>
                  <a:pt x="8530" y="0"/>
                </a:lnTo>
                <a:lnTo>
                  <a:pt x="8530" y="29"/>
                </a:lnTo>
                <a:lnTo>
                  <a:pt x="8451" y="29"/>
                </a:lnTo>
                <a:lnTo>
                  <a:pt x="8451" y="0"/>
                </a:lnTo>
                <a:moveTo>
                  <a:pt x="8583" y="0"/>
                </a:moveTo>
                <a:lnTo>
                  <a:pt x="8662" y="0"/>
                </a:lnTo>
                <a:lnTo>
                  <a:pt x="8662" y="29"/>
                </a:lnTo>
                <a:lnTo>
                  <a:pt x="8583" y="29"/>
                </a:lnTo>
                <a:lnTo>
                  <a:pt x="8583" y="0"/>
                </a:lnTo>
                <a:moveTo>
                  <a:pt x="8715" y="0"/>
                </a:moveTo>
                <a:lnTo>
                  <a:pt x="8794" y="0"/>
                </a:lnTo>
                <a:lnTo>
                  <a:pt x="8794" y="29"/>
                </a:lnTo>
                <a:lnTo>
                  <a:pt x="8715" y="29"/>
                </a:lnTo>
                <a:lnTo>
                  <a:pt x="8715" y="0"/>
                </a:lnTo>
                <a:moveTo>
                  <a:pt x="8847" y="0"/>
                </a:moveTo>
                <a:lnTo>
                  <a:pt x="8926" y="0"/>
                </a:lnTo>
                <a:lnTo>
                  <a:pt x="8926" y="29"/>
                </a:lnTo>
                <a:lnTo>
                  <a:pt x="8847" y="29"/>
                </a:lnTo>
                <a:lnTo>
                  <a:pt x="8847" y="0"/>
                </a:lnTo>
                <a:moveTo>
                  <a:pt x="8979" y="0"/>
                </a:moveTo>
                <a:lnTo>
                  <a:pt x="9058" y="0"/>
                </a:lnTo>
                <a:lnTo>
                  <a:pt x="9058" y="29"/>
                </a:lnTo>
                <a:lnTo>
                  <a:pt x="8979" y="29"/>
                </a:lnTo>
                <a:lnTo>
                  <a:pt x="8979" y="0"/>
                </a:lnTo>
                <a:moveTo>
                  <a:pt x="9111" y="0"/>
                </a:moveTo>
                <a:lnTo>
                  <a:pt x="9190" y="0"/>
                </a:lnTo>
                <a:lnTo>
                  <a:pt x="9190" y="29"/>
                </a:lnTo>
                <a:lnTo>
                  <a:pt x="9111" y="29"/>
                </a:lnTo>
                <a:lnTo>
                  <a:pt x="9111" y="0"/>
                </a:lnTo>
                <a:moveTo>
                  <a:pt x="9243" y="0"/>
                </a:moveTo>
                <a:lnTo>
                  <a:pt x="9322" y="0"/>
                </a:lnTo>
                <a:lnTo>
                  <a:pt x="9322" y="29"/>
                </a:lnTo>
                <a:lnTo>
                  <a:pt x="9243" y="29"/>
                </a:lnTo>
                <a:lnTo>
                  <a:pt x="9243" y="0"/>
                </a:lnTo>
                <a:moveTo>
                  <a:pt x="9375" y="0"/>
                </a:moveTo>
                <a:lnTo>
                  <a:pt x="9454" y="0"/>
                </a:lnTo>
                <a:lnTo>
                  <a:pt x="9454" y="29"/>
                </a:lnTo>
                <a:lnTo>
                  <a:pt x="9375" y="29"/>
                </a:lnTo>
                <a:lnTo>
                  <a:pt x="9375" y="0"/>
                </a:lnTo>
                <a:moveTo>
                  <a:pt x="9507" y="0"/>
                </a:moveTo>
                <a:lnTo>
                  <a:pt x="9586" y="0"/>
                </a:lnTo>
                <a:lnTo>
                  <a:pt x="9586" y="29"/>
                </a:lnTo>
                <a:lnTo>
                  <a:pt x="9507" y="29"/>
                </a:lnTo>
                <a:lnTo>
                  <a:pt x="9507" y="0"/>
                </a:lnTo>
                <a:moveTo>
                  <a:pt x="9639" y="0"/>
                </a:moveTo>
                <a:lnTo>
                  <a:pt x="9718" y="0"/>
                </a:lnTo>
                <a:lnTo>
                  <a:pt x="9718" y="29"/>
                </a:lnTo>
                <a:lnTo>
                  <a:pt x="9639" y="29"/>
                </a:lnTo>
                <a:lnTo>
                  <a:pt x="9639" y="0"/>
                </a:lnTo>
                <a:moveTo>
                  <a:pt x="9771" y="0"/>
                </a:moveTo>
                <a:lnTo>
                  <a:pt x="9850" y="0"/>
                </a:lnTo>
                <a:lnTo>
                  <a:pt x="9850" y="29"/>
                </a:lnTo>
                <a:lnTo>
                  <a:pt x="9771" y="29"/>
                </a:lnTo>
                <a:lnTo>
                  <a:pt x="9771" y="0"/>
                </a:lnTo>
                <a:moveTo>
                  <a:pt x="9903" y="0"/>
                </a:moveTo>
                <a:lnTo>
                  <a:pt x="9982" y="0"/>
                </a:lnTo>
                <a:lnTo>
                  <a:pt x="9982" y="29"/>
                </a:lnTo>
                <a:lnTo>
                  <a:pt x="9903" y="29"/>
                </a:lnTo>
                <a:lnTo>
                  <a:pt x="9903" y="0"/>
                </a:lnTo>
                <a:moveTo>
                  <a:pt x="10035" y="0"/>
                </a:moveTo>
                <a:lnTo>
                  <a:pt x="10114" y="0"/>
                </a:lnTo>
                <a:lnTo>
                  <a:pt x="10114" y="29"/>
                </a:lnTo>
                <a:lnTo>
                  <a:pt x="10035" y="29"/>
                </a:lnTo>
                <a:lnTo>
                  <a:pt x="10035" y="0"/>
                </a:lnTo>
                <a:moveTo>
                  <a:pt x="10167" y="0"/>
                </a:moveTo>
                <a:lnTo>
                  <a:pt x="10246" y="0"/>
                </a:lnTo>
                <a:lnTo>
                  <a:pt x="10246" y="29"/>
                </a:lnTo>
                <a:lnTo>
                  <a:pt x="10167" y="29"/>
                </a:lnTo>
                <a:lnTo>
                  <a:pt x="10167" y="0"/>
                </a:lnTo>
                <a:moveTo>
                  <a:pt x="10299" y="0"/>
                </a:moveTo>
                <a:lnTo>
                  <a:pt x="10378" y="0"/>
                </a:lnTo>
                <a:lnTo>
                  <a:pt x="10378" y="29"/>
                </a:lnTo>
                <a:lnTo>
                  <a:pt x="10299" y="29"/>
                </a:lnTo>
                <a:lnTo>
                  <a:pt x="10299" y="0"/>
                </a:lnTo>
                <a:moveTo>
                  <a:pt x="10431" y="0"/>
                </a:moveTo>
                <a:lnTo>
                  <a:pt x="10510" y="0"/>
                </a:lnTo>
                <a:lnTo>
                  <a:pt x="10510" y="29"/>
                </a:lnTo>
                <a:lnTo>
                  <a:pt x="10431" y="29"/>
                </a:lnTo>
                <a:lnTo>
                  <a:pt x="10431" y="0"/>
                </a:lnTo>
                <a:moveTo>
                  <a:pt x="10563" y="0"/>
                </a:moveTo>
                <a:lnTo>
                  <a:pt x="10642" y="0"/>
                </a:lnTo>
                <a:lnTo>
                  <a:pt x="10642" y="29"/>
                </a:lnTo>
                <a:lnTo>
                  <a:pt x="10563" y="29"/>
                </a:lnTo>
                <a:lnTo>
                  <a:pt x="10563" y="0"/>
                </a:lnTo>
                <a:moveTo>
                  <a:pt x="10695" y="0"/>
                </a:moveTo>
                <a:lnTo>
                  <a:pt x="10774" y="0"/>
                </a:lnTo>
                <a:lnTo>
                  <a:pt x="10774" y="29"/>
                </a:lnTo>
                <a:lnTo>
                  <a:pt x="10695" y="29"/>
                </a:lnTo>
                <a:lnTo>
                  <a:pt x="10695" y="0"/>
                </a:lnTo>
                <a:moveTo>
                  <a:pt x="10827" y="0"/>
                </a:moveTo>
                <a:lnTo>
                  <a:pt x="10906" y="0"/>
                </a:lnTo>
                <a:lnTo>
                  <a:pt x="10906" y="29"/>
                </a:lnTo>
                <a:lnTo>
                  <a:pt x="10827" y="29"/>
                </a:lnTo>
                <a:lnTo>
                  <a:pt x="10827" y="0"/>
                </a:lnTo>
                <a:moveTo>
                  <a:pt x="10959" y="0"/>
                </a:moveTo>
                <a:lnTo>
                  <a:pt x="11038" y="0"/>
                </a:lnTo>
                <a:lnTo>
                  <a:pt x="11038" y="29"/>
                </a:lnTo>
                <a:lnTo>
                  <a:pt x="10959" y="29"/>
                </a:lnTo>
                <a:lnTo>
                  <a:pt x="10959" y="0"/>
                </a:lnTo>
                <a:moveTo>
                  <a:pt x="11091" y="0"/>
                </a:moveTo>
                <a:lnTo>
                  <a:pt x="11170" y="0"/>
                </a:lnTo>
                <a:lnTo>
                  <a:pt x="11170" y="29"/>
                </a:lnTo>
                <a:lnTo>
                  <a:pt x="11091" y="29"/>
                </a:lnTo>
                <a:lnTo>
                  <a:pt x="11091" y="0"/>
                </a:lnTo>
                <a:moveTo>
                  <a:pt x="11223" y="0"/>
                </a:moveTo>
                <a:lnTo>
                  <a:pt x="11303" y="0"/>
                </a:lnTo>
                <a:lnTo>
                  <a:pt x="11303" y="29"/>
                </a:lnTo>
                <a:lnTo>
                  <a:pt x="11223" y="29"/>
                </a:lnTo>
                <a:lnTo>
                  <a:pt x="11223" y="0"/>
                </a:lnTo>
                <a:moveTo>
                  <a:pt x="11355" y="0"/>
                </a:moveTo>
                <a:lnTo>
                  <a:pt x="11435" y="0"/>
                </a:lnTo>
                <a:lnTo>
                  <a:pt x="11435" y="29"/>
                </a:lnTo>
                <a:lnTo>
                  <a:pt x="11355" y="29"/>
                </a:lnTo>
                <a:lnTo>
                  <a:pt x="11355" y="0"/>
                </a:lnTo>
                <a:moveTo>
                  <a:pt x="11487" y="0"/>
                </a:moveTo>
                <a:lnTo>
                  <a:pt x="11567" y="0"/>
                </a:lnTo>
                <a:lnTo>
                  <a:pt x="11567" y="29"/>
                </a:lnTo>
                <a:lnTo>
                  <a:pt x="11487" y="29"/>
                </a:lnTo>
                <a:lnTo>
                  <a:pt x="11487" y="0"/>
                </a:lnTo>
                <a:moveTo>
                  <a:pt x="11619" y="0"/>
                </a:moveTo>
                <a:lnTo>
                  <a:pt x="11699" y="0"/>
                </a:lnTo>
                <a:lnTo>
                  <a:pt x="11699" y="29"/>
                </a:lnTo>
                <a:lnTo>
                  <a:pt x="11619" y="29"/>
                </a:lnTo>
                <a:lnTo>
                  <a:pt x="11619" y="0"/>
                </a:lnTo>
                <a:moveTo>
                  <a:pt x="11751" y="0"/>
                </a:moveTo>
                <a:lnTo>
                  <a:pt x="11831" y="0"/>
                </a:lnTo>
                <a:lnTo>
                  <a:pt x="11831" y="29"/>
                </a:lnTo>
                <a:lnTo>
                  <a:pt x="11751" y="29"/>
                </a:lnTo>
                <a:lnTo>
                  <a:pt x="11751" y="0"/>
                </a:lnTo>
                <a:moveTo>
                  <a:pt x="11883" y="0"/>
                </a:moveTo>
                <a:lnTo>
                  <a:pt x="11963" y="0"/>
                </a:lnTo>
                <a:lnTo>
                  <a:pt x="11963" y="29"/>
                </a:lnTo>
                <a:lnTo>
                  <a:pt x="11883" y="29"/>
                </a:lnTo>
                <a:lnTo>
                  <a:pt x="11883" y="0"/>
                </a:lnTo>
                <a:moveTo>
                  <a:pt x="12015" y="0"/>
                </a:moveTo>
                <a:lnTo>
                  <a:pt x="12095" y="0"/>
                </a:lnTo>
                <a:lnTo>
                  <a:pt x="12095" y="29"/>
                </a:lnTo>
                <a:lnTo>
                  <a:pt x="12015" y="29"/>
                </a:lnTo>
                <a:lnTo>
                  <a:pt x="12015" y="0"/>
                </a:lnTo>
                <a:moveTo>
                  <a:pt x="12147" y="0"/>
                </a:moveTo>
                <a:lnTo>
                  <a:pt x="12227" y="0"/>
                </a:lnTo>
                <a:lnTo>
                  <a:pt x="12227" y="29"/>
                </a:lnTo>
                <a:lnTo>
                  <a:pt x="12147" y="29"/>
                </a:lnTo>
                <a:lnTo>
                  <a:pt x="12147" y="0"/>
                </a:lnTo>
                <a:moveTo>
                  <a:pt x="12279" y="0"/>
                </a:moveTo>
                <a:lnTo>
                  <a:pt x="12359" y="0"/>
                </a:lnTo>
                <a:lnTo>
                  <a:pt x="12359" y="29"/>
                </a:lnTo>
                <a:lnTo>
                  <a:pt x="12279" y="29"/>
                </a:lnTo>
                <a:lnTo>
                  <a:pt x="12279" y="0"/>
                </a:lnTo>
                <a:moveTo>
                  <a:pt x="12411" y="0"/>
                </a:moveTo>
                <a:lnTo>
                  <a:pt x="12491" y="0"/>
                </a:lnTo>
                <a:lnTo>
                  <a:pt x="12491" y="29"/>
                </a:lnTo>
                <a:lnTo>
                  <a:pt x="12411" y="29"/>
                </a:lnTo>
                <a:lnTo>
                  <a:pt x="12411" y="0"/>
                </a:lnTo>
                <a:moveTo>
                  <a:pt x="12543" y="0"/>
                </a:moveTo>
                <a:lnTo>
                  <a:pt x="12623" y="0"/>
                </a:lnTo>
                <a:lnTo>
                  <a:pt x="12623" y="29"/>
                </a:lnTo>
                <a:lnTo>
                  <a:pt x="12543" y="29"/>
                </a:lnTo>
                <a:lnTo>
                  <a:pt x="12543" y="0"/>
                </a:lnTo>
                <a:moveTo>
                  <a:pt x="12675" y="0"/>
                </a:moveTo>
                <a:lnTo>
                  <a:pt x="12755" y="0"/>
                </a:lnTo>
                <a:lnTo>
                  <a:pt x="12755" y="29"/>
                </a:lnTo>
                <a:lnTo>
                  <a:pt x="12675" y="29"/>
                </a:lnTo>
                <a:lnTo>
                  <a:pt x="12675" y="0"/>
                </a:lnTo>
                <a:moveTo>
                  <a:pt x="12807" y="0"/>
                </a:moveTo>
                <a:lnTo>
                  <a:pt x="12887" y="0"/>
                </a:lnTo>
                <a:lnTo>
                  <a:pt x="12887" y="29"/>
                </a:lnTo>
                <a:lnTo>
                  <a:pt x="12807" y="29"/>
                </a:lnTo>
                <a:lnTo>
                  <a:pt x="12807" y="0"/>
                </a:lnTo>
                <a:moveTo>
                  <a:pt x="12939" y="0"/>
                </a:moveTo>
                <a:lnTo>
                  <a:pt x="13019" y="0"/>
                </a:lnTo>
                <a:lnTo>
                  <a:pt x="13019" y="29"/>
                </a:lnTo>
                <a:lnTo>
                  <a:pt x="12939" y="29"/>
                </a:lnTo>
                <a:lnTo>
                  <a:pt x="12939" y="0"/>
                </a:lnTo>
                <a:moveTo>
                  <a:pt x="13072" y="0"/>
                </a:moveTo>
                <a:lnTo>
                  <a:pt x="13151" y="0"/>
                </a:lnTo>
                <a:lnTo>
                  <a:pt x="13151" y="29"/>
                </a:lnTo>
                <a:lnTo>
                  <a:pt x="13072" y="29"/>
                </a:lnTo>
                <a:lnTo>
                  <a:pt x="13072" y="0"/>
                </a:lnTo>
                <a:moveTo>
                  <a:pt x="13204" y="0"/>
                </a:moveTo>
                <a:lnTo>
                  <a:pt x="13283" y="0"/>
                </a:lnTo>
                <a:lnTo>
                  <a:pt x="13283" y="29"/>
                </a:lnTo>
                <a:lnTo>
                  <a:pt x="13204" y="29"/>
                </a:lnTo>
                <a:lnTo>
                  <a:pt x="13204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51444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括号内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9500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1095480" y="624204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t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12412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1386360" y="6242040"/>
            <a:ext cx="32709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；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分别表示在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1%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5%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10%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的水平上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47383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488340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2085840" y="1514160"/>
            <a:ext cx="2505240" cy="276840"/>
          </a:xfrm>
          <a:custGeom>
            <a:avLst/>
            <a:gdLst/>
            <a:ahLst/>
            <a:rect l="0" t="0" r="r" b="b"/>
            <a:pathLst>
              <a:path w="6959" h="769">
                <a:moveTo>
                  <a:pt x="0" y="0"/>
                </a:moveTo>
                <a:lnTo>
                  <a:pt x="6959" y="0"/>
                </a:lnTo>
                <a:lnTo>
                  <a:pt x="695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4590720" y="1514160"/>
            <a:ext cx="1629360" cy="276840"/>
          </a:xfrm>
          <a:custGeom>
            <a:avLst/>
            <a:gdLst/>
            <a:ahLst/>
            <a:rect l="0" t="0" r="r" b="b"/>
            <a:pathLst>
              <a:path w="4526" h="769">
                <a:moveTo>
                  <a:pt x="0" y="0"/>
                </a:moveTo>
                <a:lnTo>
                  <a:pt x="4526" y="0"/>
                </a:lnTo>
                <a:lnTo>
                  <a:pt x="4526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6219720" y="1514160"/>
            <a:ext cx="3886560" cy="276840"/>
          </a:xfrm>
          <a:custGeom>
            <a:avLst/>
            <a:gdLst/>
            <a:ahLst/>
            <a:rect l="0" t="0" r="r" b="b"/>
            <a:pathLst>
              <a:path w="10796" h="769">
                <a:moveTo>
                  <a:pt x="0" y="0"/>
                </a:moveTo>
                <a:lnTo>
                  <a:pt x="10796" y="0"/>
                </a:lnTo>
                <a:lnTo>
                  <a:pt x="10796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2085840" y="1790640"/>
            <a:ext cx="2505240" cy="285840"/>
          </a:xfrm>
          <a:custGeom>
            <a:avLst/>
            <a:gdLst/>
            <a:ahLst/>
            <a:rect l="0" t="0" r="r" b="b"/>
            <a:pathLst>
              <a:path w="6959" h="794">
                <a:moveTo>
                  <a:pt x="0" y="0"/>
                </a:moveTo>
                <a:lnTo>
                  <a:pt x="6959" y="0"/>
                </a:lnTo>
                <a:lnTo>
                  <a:pt x="695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4590720" y="1790640"/>
            <a:ext cx="1629360" cy="285840"/>
          </a:xfrm>
          <a:custGeom>
            <a:avLst/>
            <a:gdLst/>
            <a:ahLst/>
            <a:rect l="0" t="0" r="r" b="b"/>
            <a:pathLst>
              <a:path w="4526" h="794">
                <a:moveTo>
                  <a:pt x="0" y="0"/>
                </a:moveTo>
                <a:lnTo>
                  <a:pt x="4526" y="0"/>
                </a:lnTo>
                <a:lnTo>
                  <a:pt x="4526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6219720" y="1790640"/>
            <a:ext cx="3886560" cy="285840"/>
          </a:xfrm>
          <a:custGeom>
            <a:avLst/>
            <a:gdLst/>
            <a:ahLst/>
            <a:rect l="0" t="0" r="r" b="b"/>
            <a:pathLst>
              <a:path w="10796" h="794">
                <a:moveTo>
                  <a:pt x="0" y="0"/>
                </a:moveTo>
                <a:lnTo>
                  <a:pt x="10796" y="0"/>
                </a:lnTo>
                <a:lnTo>
                  <a:pt x="10796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207612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2076120" y="150480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4590720" y="1504800"/>
            <a:ext cx="10440" cy="295560"/>
          </a:xfrm>
          <a:custGeom>
            <a:avLst/>
            <a:gdLst/>
            <a:ahLst/>
            <a:rect l="0" t="0" r="r" b="b"/>
            <a:pathLst>
              <a:path w="29" h="821">
                <a:moveTo>
                  <a:pt x="0" y="0"/>
                </a:moveTo>
                <a:lnTo>
                  <a:pt x="29" y="0"/>
                </a:lnTo>
                <a:lnTo>
                  <a:pt x="29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600440" y="150480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621972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6229080" y="150480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1010592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2076120" y="179064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4600440" y="179064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6229080" y="179064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207612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4590720" y="1800000"/>
            <a:ext cx="10440" cy="276480"/>
          </a:xfrm>
          <a:custGeom>
            <a:avLst/>
            <a:gdLst/>
            <a:ahLst/>
            <a:rect l="0" t="0" r="r" b="b"/>
            <a:pathLst>
              <a:path w="29" h="768">
                <a:moveTo>
                  <a:pt x="0" y="0"/>
                </a:moveTo>
                <a:lnTo>
                  <a:pt x="29" y="0"/>
                </a:lnTo>
                <a:lnTo>
                  <a:pt x="2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621972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1010592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207612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2076120" y="206676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4590720" y="2076120"/>
            <a:ext cx="10440" cy="286200"/>
          </a:xfrm>
          <a:custGeom>
            <a:avLst/>
            <a:gdLst/>
            <a:ahLst/>
            <a:rect l="0" t="0" r="r" b="b"/>
            <a:pathLst>
              <a:path w="29" h="795">
                <a:moveTo>
                  <a:pt x="0" y="0"/>
                </a:moveTo>
                <a:lnTo>
                  <a:pt x="29" y="0"/>
                </a:lnTo>
                <a:lnTo>
                  <a:pt x="2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4600440" y="206676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621972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6229080" y="206676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1010592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2076120" y="235260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4600440" y="235260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6229080" y="235260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380880" y="929880"/>
            <a:ext cx="25290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金融科技的溢出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29980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337176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同效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 txBox="1"/>
          <p:nvPr/>
        </p:nvSpPr>
        <p:spPr>
          <a:xfrm>
            <a:off x="41194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316620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口径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506484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溢出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540828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558036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7822440" y="1545120"/>
            <a:ext cx="640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检验结论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2221200" y="185544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同地区（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290844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东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3080520" y="1855440"/>
            <a:ext cx="1280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中西部）其他省份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4743000" y="1855440"/>
            <a:ext cx="10018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Fintech_Peer_S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765072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溢出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99416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8166240" y="18554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同有效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2822760" y="2131920"/>
            <a:ext cx="96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全国其他省份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4731480" y="2131920"/>
            <a:ext cx="10342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Fintech_Peer_O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636192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溢出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670572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6877440" y="2131920"/>
            <a:ext cx="1121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同有效，且影响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808020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8252280" y="2131920"/>
            <a:ext cx="1121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性更大、置信区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945504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962676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更窄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495000" y="3390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380880" y="26733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怎么理解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762120" y="330192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金融科技在地域空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2990880" y="3261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3269520" y="330192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上的流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4105440" y="3261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4383720" y="330192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摩擦系数明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5776920" y="3261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6055560" y="330192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降低，能服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7448400" y="3261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7727040" y="330192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外地企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495000" y="3828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19" y="272"/>
                  <a:pt x="210" y="276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6"/>
                  <a:pt x="73" y="272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8562960" y="3261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762120" y="3740040"/>
            <a:ext cx="453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外部金融科技与本地金融科技形成双向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5498280" y="36993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5776920" y="374004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合，共同提供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7448400" y="36993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7727040" y="37400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8005680" y="36993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495000" y="4267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5" y="292"/>
                  <a:pt x="146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5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8284320" y="37400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762120" y="4178160"/>
            <a:ext cx="4801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全国口径包含更广泛、更多元的金融科技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5776920" y="41374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6334200" y="41781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，溢出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7170120" y="41374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驱动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7727040" y="417816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力更强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380880" y="6210000"/>
            <a:ext cx="2743560" cy="10440"/>
          </a:xfrm>
          <a:custGeom>
            <a:avLst/>
            <a:gdLst/>
            <a:ahLst/>
            <a:rect l="0" t="0" r="r" b="b"/>
            <a:pathLst>
              <a:path w="7621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9"/>
                </a:lnTo>
                <a:lnTo>
                  <a:pt x="132" y="29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9"/>
                </a:lnTo>
                <a:lnTo>
                  <a:pt x="264" y="29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9"/>
                </a:lnTo>
                <a:lnTo>
                  <a:pt x="397" y="29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9"/>
                </a:lnTo>
                <a:lnTo>
                  <a:pt x="529" y="29"/>
                </a:lnTo>
                <a:lnTo>
                  <a:pt x="529" y="0"/>
                </a:lnTo>
                <a:moveTo>
                  <a:pt x="661" y="0"/>
                </a:moveTo>
                <a:lnTo>
                  <a:pt x="741" y="0"/>
                </a:lnTo>
                <a:lnTo>
                  <a:pt x="741" y="29"/>
                </a:lnTo>
                <a:lnTo>
                  <a:pt x="661" y="29"/>
                </a:lnTo>
                <a:lnTo>
                  <a:pt x="661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9"/>
                </a:lnTo>
                <a:lnTo>
                  <a:pt x="794" y="29"/>
                </a:lnTo>
                <a:lnTo>
                  <a:pt x="794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9"/>
                </a:lnTo>
                <a:lnTo>
                  <a:pt x="926" y="29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9"/>
                </a:lnTo>
                <a:lnTo>
                  <a:pt x="1058" y="29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9"/>
                </a:lnTo>
                <a:lnTo>
                  <a:pt x="1190" y="29"/>
                </a:lnTo>
                <a:lnTo>
                  <a:pt x="1190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9"/>
                </a:lnTo>
                <a:lnTo>
                  <a:pt x="1323" y="29"/>
                </a:lnTo>
                <a:lnTo>
                  <a:pt x="1323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9"/>
                </a:lnTo>
                <a:lnTo>
                  <a:pt x="1455" y="29"/>
                </a:lnTo>
                <a:lnTo>
                  <a:pt x="1455" y="0"/>
                </a:lnTo>
                <a:moveTo>
                  <a:pt x="1587" y="0"/>
                </a:moveTo>
                <a:lnTo>
                  <a:pt x="1667" y="0"/>
                </a:lnTo>
                <a:lnTo>
                  <a:pt x="1667" y="29"/>
                </a:lnTo>
                <a:lnTo>
                  <a:pt x="1587" y="29"/>
                </a:lnTo>
                <a:lnTo>
                  <a:pt x="1587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9"/>
                </a:lnTo>
                <a:lnTo>
                  <a:pt x="1720" y="29"/>
                </a:lnTo>
                <a:lnTo>
                  <a:pt x="1720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9"/>
                </a:lnTo>
                <a:lnTo>
                  <a:pt x="1852" y="29"/>
                </a:lnTo>
                <a:lnTo>
                  <a:pt x="1852" y="0"/>
                </a:lnTo>
                <a:moveTo>
                  <a:pt x="1984" y="0"/>
                </a:moveTo>
                <a:lnTo>
                  <a:pt x="2064" y="0"/>
                </a:lnTo>
                <a:lnTo>
                  <a:pt x="2064" y="29"/>
                </a:lnTo>
                <a:lnTo>
                  <a:pt x="1984" y="29"/>
                </a:lnTo>
                <a:lnTo>
                  <a:pt x="1984" y="0"/>
                </a:lnTo>
                <a:moveTo>
                  <a:pt x="2116" y="0"/>
                </a:moveTo>
                <a:lnTo>
                  <a:pt x="2196" y="0"/>
                </a:lnTo>
                <a:lnTo>
                  <a:pt x="2196" y="29"/>
                </a:lnTo>
                <a:lnTo>
                  <a:pt x="2116" y="29"/>
                </a:lnTo>
                <a:lnTo>
                  <a:pt x="2116" y="0"/>
                </a:lnTo>
                <a:moveTo>
                  <a:pt x="2249" y="0"/>
                </a:moveTo>
                <a:lnTo>
                  <a:pt x="2328" y="0"/>
                </a:lnTo>
                <a:lnTo>
                  <a:pt x="2328" y="29"/>
                </a:lnTo>
                <a:lnTo>
                  <a:pt x="2249" y="29"/>
                </a:lnTo>
                <a:lnTo>
                  <a:pt x="2249" y="0"/>
                </a:lnTo>
                <a:moveTo>
                  <a:pt x="2381" y="0"/>
                </a:moveTo>
                <a:lnTo>
                  <a:pt x="2460" y="0"/>
                </a:lnTo>
                <a:lnTo>
                  <a:pt x="2460" y="29"/>
                </a:lnTo>
                <a:lnTo>
                  <a:pt x="2381" y="29"/>
                </a:lnTo>
                <a:lnTo>
                  <a:pt x="2381" y="0"/>
                </a:lnTo>
                <a:moveTo>
                  <a:pt x="2513" y="0"/>
                </a:moveTo>
                <a:lnTo>
                  <a:pt x="2593" y="0"/>
                </a:lnTo>
                <a:lnTo>
                  <a:pt x="2593" y="29"/>
                </a:lnTo>
                <a:lnTo>
                  <a:pt x="2513" y="29"/>
                </a:lnTo>
                <a:lnTo>
                  <a:pt x="2513" y="0"/>
                </a:lnTo>
                <a:moveTo>
                  <a:pt x="2646" y="0"/>
                </a:moveTo>
                <a:lnTo>
                  <a:pt x="2725" y="0"/>
                </a:lnTo>
                <a:lnTo>
                  <a:pt x="2725" y="29"/>
                </a:lnTo>
                <a:lnTo>
                  <a:pt x="2646" y="29"/>
                </a:lnTo>
                <a:lnTo>
                  <a:pt x="2646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9"/>
                </a:lnTo>
                <a:lnTo>
                  <a:pt x="2779" y="29"/>
                </a:lnTo>
                <a:lnTo>
                  <a:pt x="2779" y="0"/>
                </a:lnTo>
                <a:moveTo>
                  <a:pt x="2911" y="0"/>
                </a:moveTo>
                <a:lnTo>
                  <a:pt x="2991" y="0"/>
                </a:lnTo>
                <a:lnTo>
                  <a:pt x="2991" y="29"/>
                </a:lnTo>
                <a:lnTo>
                  <a:pt x="2911" y="29"/>
                </a:lnTo>
                <a:lnTo>
                  <a:pt x="2911" y="0"/>
                </a:lnTo>
                <a:moveTo>
                  <a:pt x="3044" y="0"/>
                </a:moveTo>
                <a:lnTo>
                  <a:pt x="3123" y="0"/>
                </a:lnTo>
                <a:lnTo>
                  <a:pt x="3123" y="29"/>
                </a:lnTo>
                <a:lnTo>
                  <a:pt x="3044" y="29"/>
                </a:lnTo>
                <a:lnTo>
                  <a:pt x="3044" y="0"/>
                </a:lnTo>
                <a:moveTo>
                  <a:pt x="3176" y="0"/>
                </a:moveTo>
                <a:lnTo>
                  <a:pt x="3255" y="0"/>
                </a:lnTo>
                <a:lnTo>
                  <a:pt x="3255" y="29"/>
                </a:lnTo>
                <a:lnTo>
                  <a:pt x="3176" y="29"/>
                </a:lnTo>
                <a:lnTo>
                  <a:pt x="3176" y="0"/>
                </a:lnTo>
                <a:moveTo>
                  <a:pt x="3308" y="0"/>
                </a:moveTo>
                <a:lnTo>
                  <a:pt x="3387" y="0"/>
                </a:lnTo>
                <a:lnTo>
                  <a:pt x="3387" y="29"/>
                </a:lnTo>
                <a:lnTo>
                  <a:pt x="3308" y="29"/>
                </a:lnTo>
                <a:lnTo>
                  <a:pt x="3308" y="0"/>
                </a:lnTo>
                <a:moveTo>
                  <a:pt x="3440" y="0"/>
                </a:moveTo>
                <a:lnTo>
                  <a:pt x="3520" y="0"/>
                </a:lnTo>
                <a:lnTo>
                  <a:pt x="3520" y="29"/>
                </a:lnTo>
                <a:lnTo>
                  <a:pt x="3440" y="29"/>
                </a:lnTo>
                <a:lnTo>
                  <a:pt x="3440" y="0"/>
                </a:lnTo>
                <a:moveTo>
                  <a:pt x="3573" y="0"/>
                </a:moveTo>
                <a:lnTo>
                  <a:pt x="3652" y="0"/>
                </a:lnTo>
                <a:lnTo>
                  <a:pt x="3652" y="29"/>
                </a:lnTo>
                <a:lnTo>
                  <a:pt x="3573" y="29"/>
                </a:lnTo>
                <a:lnTo>
                  <a:pt x="3573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9"/>
                </a:lnTo>
                <a:lnTo>
                  <a:pt x="3705" y="29"/>
                </a:lnTo>
                <a:lnTo>
                  <a:pt x="3705" y="0"/>
                </a:lnTo>
                <a:moveTo>
                  <a:pt x="3837" y="0"/>
                </a:moveTo>
                <a:lnTo>
                  <a:pt x="3917" y="0"/>
                </a:lnTo>
                <a:lnTo>
                  <a:pt x="3917" y="29"/>
                </a:lnTo>
                <a:lnTo>
                  <a:pt x="3837" y="29"/>
                </a:lnTo>
                <a:lnTo>
                  <a:pt x="3837" y="0"/>
                </a:lnTo>
                <a:moveTo>
                  <a:pt x="3970" y="0"/>
                </a:moveTo>
                <a:lnTo>
                  <a:pt x="4049" y="0"/>
                </a:lnTo>
                <a:lnTo>
                  <a:pt x="4049" y="29"/>
                </a:lnTo>
                <a:lnTo>
                  <a:pt x="3970" y="29"/>
                </a:lnTo>
                <a:lnTo>
                  <a:pt x="3970" y="0"/>
                </a:lnTo>
                <a:moveTo>
                  <a:pt x="4102" y="0"/>
                </a:moveTo>
                <a:lnTo>
                  <a:pt x="4181" y="0"/>
                </a:lnTo>
                <a:lnTo>
                  <a:pt x="4181" y="29"/>
                </a:lnTo>
                <a:lnTo>
                  <a:pt x="4102" y="29"/>
                </a:lnTo>
                <a:lnTo>
                  <a:pt x="4102" y="0"/>
                </a:lnTo>
                <a:moveTo>
                  <a:pt x="4234" y="0"/>
                </a:moveTo>
                <a:lnTo>
                  <a:pt x="4314" y="0"/>
                </a:lnTo>
                <a:lnTo>
                  <a:pt x="4314" y="29"/>
                </a:lnTo>
                <a:lnTo>
                  <a:pt x="4234" y="29"/>
                </a:lnTo>
                <a:lnTo>
                  <a:pt x="4234" y="0"/>
                </a:lnTo>
                <a:moveTo>
                  <a:pt x="4366" y="0"/>
                </a:moveTo>
                <a:lnTo>
                  <a:pt x="4446" y="0"/>
                </a:lnTo>
                <a:lnTo>
                  <a:pt x="4446" y="29"/>
                </a:lnTo>
                <a:lnTo>
                  <a:pt x="4366" y="29"/>
                </a:lnTo>
                <a:lnTo>
                  <a:pt x="4366" y="0"/>
                </a:lnTo>
                <a:moveTo>
                  <a:pt x="4499" y="0"/>
                </a:moveTo>
                <a:lnTo>
                  <a:pt x="4578" y="0"/>
                </a:lnTo>
                <a:lnTo>
                  <a:pt x="4578" y="29"/>
                </a:lnTo>
                <a:lnTo>
                  <a:pt x="4499" y="29"/>
                </a:lnTo>
                <a:lnTo>
                  <a:pt x="4499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9"/>
                </a:lnTo>
                <a:lnTo>
                  <a:pt x="4631" y="29"/>
                </a:lnTo>
                <a:lnTo>
                  <a:pt x="4631" y="0"/>
                </a:lnTo>
                <a:moveTo>
                  <a:pt x="4763" y="0"/>
                </a:moveTo>
                <a:lnTo>
                  <a:pt x="4843" y="0"/>
                </a:lnTo>
                <a:lnTo>
                  <a:pt x="4843" y="29"/>
                </a:lnTo>
                <a:lnTo>
                  <a:pt x="4763" y="29"/>
                </a:lnTo>
                <a:lnTo>
                  <a:pt x="4763" y="0"/>
                </a:lnTo>
                <a:moveTo>
                  <a:pt x="4896" y="0"/>
                </a:moveTo>
                <a:lnTo>
                  <a:pt x="4975" y="0"/>
                </a:lnTo>
                <a:lnTo>
                  <a:pt x="4975" y="29"/>
                </a:lnTo>
                <a:lnTo>
                  <a:pt x="4896" y="29"/>
                </a:lnTo>
                <a:lnTo>
                  <a:pt x="4896" y="0"/>
                </a:lnTo>
                <a:moveTo>
                  <a:pt x="5028" y="0"/>
                </a:moveTo>
                <a:lnTo>
                  <a:pt x="5107" y="0"/>
                </a:lnTo>
                <a:lnTo>
                  <a:pt x="5107" y="29"/>
                </a:lnTo>
                <a:lnTo>
                  <a:pt x="5028" y="29"/>
                </a:lnTo>
                <a:lnTo>
                  <a:pt x="5028" y="0"/>
                </a:lnTo>
                <a:moveTo>
                  <a:pt x="5160" y="0"/>
                </a:moveTo>
                <a:lnTo>
                  <a:pt x="5240" y="0"/>
                </a:lnTo>
                <a:lnTo>
                  <a:pt x="5240" y="29"/>
                </a:lnTo>
                <a:lnTo>
                  <a:pt x="5160" y="29"/>
                </a:lnTo>
                <a:lnTo>
                  <a:pt x="5160" y="0"/>
                </a:lnTo>
                <a:moveTo>
                  <a:pt x="5292" y="0"/>
                </a:moveTo>
                <a:lnTo>
                  <a:pt x="5372" y="0"/>
                </a:lnTo>
                <a:lnTo>
                  <a:pt x="5372" y="29"/>
                </a:lnTo>
                <a:lnTo>
                  <a:pt x="5292" y="29"/>
                </a:lnTo>
                <a:lnTo>
                  <a:pt x="5292" y="0"/>
                </a:lnTo>
                <a:moveTo>
                  <a:pt x="5425" y="0"/>
                </a:moveTo>
                <a:lnTo>
                  <a:pt x="5504" y="0"/>
                </a:lnTo>
                <a:lnTo>
                  <a:pt x="5504" y="29"/>
                </a:lnTo>
                <a:lnTo>
                  <a:pt x="5425" y="29"/>
                </a:lnTo>
                <a:lnTo>
                  <a:pt x="5425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9"/>
                </a:lnTo>
                <a:lnTo>
                  <a:pt x="5557" y="29"/>
                </a:lnTo>
                <a:lnTo>
                  <a:pt x="5557" y="0"/>
                </a:lnTo>
                <a:moveTo>
                  <a:pt x="5689" y="0"/>
                </a:moveTo>
                <a:lnTo>
                  <a:pt x="5769" y="0"/>
                </a:lnTo>
                <a:lnTo>
                  <a:pt x="5769" y="29"/>
                </a:lnTo>
                <a:lnTo>
                  <a:pt x="5689" y="29"/>
                </a:lnTo>
                <a:lnTo>
                  <a:pt x="5689" y="0"/>
                </a:lnTo>
                <a:moveTo>
                  <a:pt x="5822" y="0"/>
                </a:moveTo>
                <a:lnTo>
                  <a:pt x="5901" y="0"/>
                </a:lnTo>
                <a:lnTo>
                  <a:pt x="5901" y="29"/>
                </a:lnTo>
                <a:lnTo>
                  <a:pt x="5822" y="29"/>
                </a:lnTo>
                <a:lnTo>
                  <a:pt x="5822" y="0"/>
                </a:lnTo>
                <a:moveTo>
                  <a:pt x="5954" y="0"/>
                </a:moveTo>
                <a:lnTo>
                  <a:pt x="6033" y="0"/>
                </a:lnTo>
                <a:lnTo>
                  <a:pt x="6033" y="29"/>
                </a:lnTo>
                <a:lnTo>
                  <a:pt x="5954" y="29"/>
                </a:lnTo>
                <a:lnTo>
                  <a:pt x="5954" y="0"/>
                </a:lnTo>
                <a:moveTo>
                  <a:pt x="6086" y="0"/>
                </a:moveTo>
                <a:lnTo>
                  <a:pt x="6166" y="0"/>
                </a:lnTo>
                <a:lnTo>
                  <a:pt x="6166" y="29"/>
                </a:lnTo>
                <a:lnTo>
                  <a:pt x="6086" y="29"/>
                </a:lnTo>
                <a:lnTo>
                  <a:pt x="6086" y="0"/>
                </a:lnTo>
                <a:moveTo>
                  <a:pt x="6219" y="0"/>
                </a:moveTo>
                <a:lnTo>
                  <a:pt x="6298" y="0"/>
                </a:lnTo>
                <a:lnTo>
                  <a:pt x="6298" y="29"/>
                </a:lnTo>
                <a:lnTo>
                  <a:pt x="6219" y="29"/>
                </a:lnTo>
                <a:lnTo>
                  <a:pt x="6219" y="0"/>
                </a:lnTo>
                <a:moveTo>
                  <a:pt x="6351" y="0"/>
                </a:moveTo>
                <a:lnTo>
                  <a:pt x="6430" y="0"/>
                </a:lnTo>
                <a:lnTo>
                  <a:pt x="6430" y="29"/>
                </a:lnTo>
                <a:lnTo>
                  <a:pt x="6351" y="29"/>
                </a:lnTo>
                <a:lnTo>
                  <a:pt x="6351" y="0"/>
                </a:lnTo>
                <a:moveTo>
                  <a:pt x="6483" y="0"/>
                </a:moveTo>
                <a:lnTo>
                  <a:pt x="6562" y="0"/>
                </a:lnTo>
                <a:lnTo>
                  <a:pt x="6562" y="29"/>
                </a:lnTo>
                <a:lnTo>
                  <a:pt x="6483" y="29"/>
                </a:lnTo>
                <a:lnTo>
                  <a:pt x="6483" y="0"/>
                </a:lnTo>
                <a:moveTo>
                  <a:pt x="6615" y="0"/>
                </a:moveTo>
                <a:lnTo>
                  <a:pt x="6695" y="0"/>
                </a:lnTo>
                <a:lnTo>
                  <a:pt x="6695" y="29"/>
                </a:lnTo>
                <a:lnTo>
                  <a:pt x="6615" y="29"/>
                </a:lnTo>
                <a:lnTo>
                  <a:pt x="6615" y="0"/>
                </a:lnTo>
                <a:moveTo>
                  <a:pt x="6748" y="0"/>
                </a:moveTo>
                <a:lnTo>
                  <a:pt x="6827" y="0"/>
                </a:lnTo>
                <a:lnTo>
                  <a:pt x="6827" y="29"/>
                </a:lnTo>
                <a:lnTo>
                  <a:pt x="6748" y="29"/>
                </a:lnTo>
                <a:lnTo>
                  <a:pt x="6748" y="0"/>
                </a:lnTo>
                <a:moveTo>
                  <a:pt x="6880" y="0"/>
                </a:moveTo>
                <a:lnTo>
                  <a:pt x="6959" y="0"/>
                </a:lnTo>
                <a:lnTo>
                  <a:pt x="6959" y="29"/>
                </a:lnTo>
                <a:lnTo>
                  <a:pt x="6880" y="29"/>
                </a:lnTo>
                <a:lnTo>
                  <a:pt x="6880" y="0"/>
                </a:lnTo>
                <a:moveTo>
                  <a:pt x="7012" y="0"/>
                </a:moveTo>
                <a:lnTo>
                  <a:pt x="7092" y="0"/>
                </a:lnTo>
                <a:lnTo>
                  <a:pt x="7092" y="29"/>
                </a:lnTo>
                <a:lnTo>
                  <a:pt x="7012" y="29"/>
                </a:lnTo>
                <a:lnTo>
                  <a:pt x="7012" y="0"/>
                </a:lnTo>
                <a:moveTo>
                  <a:pt x="7145" y="0"/>
                </a:moveTo>
                <a:lnTo>
                  <a:pt x="7224" y="0"/>
                </a:lnTo>
                <a:lnTo>
                  <a:pt x="7224" y="29"/>
                </a:lnTo>
                <a:lnTo>
                  <a:pt x="7145" y="29"/>
                </a:lnTo>
                <a:lnTo>
                  <a:pt x="7145" y="0"/>
                </a:lnTo>
                <a:moveTo>
                  <a:pt x="7277" y="0"/>
                </a:moveTo>
                <a:lnTo>
                  <a:pt x="7356" y="0"/>
                </a:lnTo>
                <a:lnTo>
                  <a:pt x="7356" y="29"/>
                </a:lnTo>
                <a:lnTo>
                  <a:pt x="7277" y="29"/>
                </a:lnTo>
                <a:lnTo>
                  <a:pt x="7277" y="0"/>
                </a:lnTo>
                <a:moveTo>
                  <a:pt x="7409" y="0"/>
                </a:moveTo>
                <a:lnTo>
                  <a:pt x="7489" y="0"/>
                </a:lnTo>
                <a:lnTo>
                  <a:pt x="7489" y="29"/>
                </a:lnTo>
                <a:lnTo>
                  <a:pt x="7409" y="29"/>
                </a:lnTo>
                <a:lnTo>
                  <a:pt x="7409" y="0"/>
                </a:lnTo>
                <a:moveTo>
                  <a:pt x="7541" y="0"/>
                </a:moveTo>
                <a:lnTo>
                  <a:pt x="7621" y="0"/>
                </a:lnTo>
                <a:lnTo>
                  <a:pt x="7621" y="29"/>
                </a:lnTo>
                <a:lnTo>
                  <a:pt x="7541" y="29"/>
                </a:lnTo>
                <a:lnTo>
                  <a:pt x="7541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5144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65952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8049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950040" y="6242040"/>
            <a:ext cx="2566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2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12229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1368360" y="624204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3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1537920" y="6221520"/>
            <a:ext cx="3985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为边际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197352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21189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226404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24094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255456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27000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284508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1495080" y="1514160"/>
            <a:ext cx="1781640" cy="276840"/>
          </a:xfrm>
          <a:custGeom>
            <a:avLst/>
            <a:gdLst/>
            <a:ahLst/>
            <a:rect l="0" t="0" r="r" b="b"/>
            <a:pathLst>
              <a:path w="4949" h="769">
                <a:moveTo>
                  <a:pt x="0" y="0"/>
                </a:moveTo>
                <a:lnTo>
                  <a:pt x="4949" y="0"/>
                </a:lnTo>
                <a:lnTo>
                  <a:pt x="494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3276360" y="1514160"/>
            <a:ext cx="4648680" cy="276840"/>
          </a:xfrm>
          <a:custGeom>
            <a:avLst/>
            <a:gdLst/>
            <a:ahLst/>
            <a:rect l="0" t="0" r="r" b="b"/>
            <a:pathLst>
              <a:path w="12913" h="769">
                <a:moveTo>
                  <a:pt x="0" y="0"/>
                </a:moveTo>
                <a:lnTo>
                  <a:pt x="12913" y="0"/>
                </a:lnTo>
                <a:lnTo>
                  <a:pt x="12913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7924680" y="1514160"/>
            <a:ext cx="2772000" cy="276840"/>
          </a:xfrm>
          <a:custGeom>
            <a:avLst/>
            <a:gdLst/>
            <a:ahLst/>
            <a:rect l="0" t="0" r="r" b="b"/>
            <a:pathLst>
              <a:path w="7700" h="769">
                <a:moveTo>
                  <a:pt x="0" y="0"/>
                </a:moveTo>
                <a:lnTo>
                  <a:pt x="7700" y="0"/>
                </a:lnTo>
                <a:lnTo>
                  <a:pt x="7700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1495080" y="1790640"/>
            <a:ext cx="1781640" cy="285840"/>
          </a:xfrm>
          <a:custGeom>
            <a:avLst/>
            <a:gdLst/>
            <a:ahLst/>
            <a:rect l="0" t="0" r="r" b="b"/>
            <a:pathLst>
              <a:path w="4949" h="794">
                <a:moveTo>
                  <a:pt x="0" y="0"/>
                </a:moveTo>
                <a:lnTo>
                  <a:pt x="4949" y="0"/>
                </a:lnTo>
                <a:lnTo>
                  <a:pt x="494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3276360" y="1790640"/>
            <a:ext cx="4648680" cy="285840"/>
          </a:xfrm>
          <a:custGeom>
            <a:avLst/>
            <a:gdLst/>
            <a:ahLst/>
            <a:rect l="0" t="0" r="r" b="b"/>
            <a:pathLst>
              <a:path w="12913" h="794">
                <a:moveTo>
                  <a:pt x="0" y="0"/>
                </a:moveTo>
                <a:lnTo>
                  <a:pt x="12913" y="0"/>
                </a:lnTo>
                <a:lnTo>
                  <a:pt x="12913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7924680" y="1790640"/>
            <a:ext cx="2772000" cy="285840"/>
          </a:xfrm>
          <a:custGeom>
            <a:avLst/>
            <a:gdLst/>
            <a:ahLst/>
            <a:rect l="0" t="0" r="r" b="b"/>
            <a:pathLst>
              <a:path w="7700" h="794">
                <a:moveTo>
                  <a:pt x="0" y="0"/>
                </a:moveTo>
                <a:lnTo>
                  <a:pt x="7700" y="0"/>
                </a:lnTo>
                <a:lnTo>
                  <a:pt x="7700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1495080" y="2361960"/>
            <a:ext cx="1781640" cy="276480"/>
          </a:xfrm>
          <a:custGeom>
            <a:avLst/>
            <a:gdLst/>
            <a:ahLst/>
            <a:rect l="0" t="0" r="r" b="b"/>
            <a:pathLst>
              <a:path w="4949" h="768">
                <a:moveTo>
                  <a:pt x="0" y="0"/>
                </a:moveTo>
                <a:lnTo>
                  <a:pt x="4949" y="0"/>
                </a:lnTo>
                <a:lnTo>
                  <a:pt x="494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3276360" y="2361960"/>
            <a:ext cx="4648680" cy="276480"/>
          </a:xfrm>
          <a:custGeom>
            <a:avLst/>
            <a:gdLst/>
            <a:ahLst/>
            <a:rect l="0" t="0" r="r" b="b"/>
            <a:pathLst>
              <a:path w="12913" h="768">
                <a:moveTo>
                  <a:pt x="0" y="0"/>
                </a:moveTo>
                <a:lnTo>
                  <a:pt x="12913" y="0"/>
                </a:lnTo>
                <a:lnTo>
                  <a:pt x="1291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7924680" y="2361960"/>
            <a:ext cx="2772000" cy="276480"/>
          </a:xfrm>
          <a:custGeom>
            <a:avLst/>
            <a:gdLst/>
            <a:ahLst/>
            <a:rect l="0" t="0" r="r" b="b"/>
            <a:pathLst>
              <a:path w="7700" h="768">
                <a:moveTo>
                  <a:pt x="0" y="0"/>
                </a:moveTo>
                <a:lnTo>
                  <a:pt x="7700" y="0"/>
                </a:lnTo>
                <a:lnTo>
                  <a:pt x="7700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1495080" y="2923920"/>
            <a:ext cx="1781640" cy="286200"/>
          </a:xfrm>
          <a:custGeom>
            <a:avLst/>
            <a:gdLst/>
            <a:ahLst/>
            <a:rect l="0" t="0" r="r" b="b"/>
            <a:pathLst>
              <a:path w="4949" h="795">
                <a:moveTo>
                  <a:pt x="0" y="0"/>
                </a:moveTo>
                <a:lnTo>
                  <a:pt x="4949" y="0"/>
                </a:lnTo>
                <a:lnTo>
                  <a:pt x="49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3276360" y="2923920"/>
            <a:ext cx="4648680" cy="286200"/>
          </a:xfrm>
          <a:custGeom>
            <a:avLst/>
            <a:gdLst/>
            <a:ahLst/>
            <a:rect l="0" t="0" r="r" b="b"/>
            <a:pathLst>
              <a:path w="12913" h="795">
                <a:moveTo>
                  <a:pt x="0" y="0"/>
                </a:moveTo>
                <a:lnTo>
                  <a:pt x="12913" y="0"/>
                </a:lnTo>
                <a:lnTo>
                  <a:pt x="1291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7924680" y="2923920"/>
            <a:ext cx="2772000" cy="286200"/>
          </a:xfrm>
          <a:custGeom>
            <a:avLst/>
            <a:gdLst/>
            <a:ahLst/>
            <a:rect l="0" t="0" r="r" b="b"/>
            <a:pathLst>
              <a:path w="7700" h="795">
                <a:moveTo>
                  <a:pt x="0" y="0"/>
                </a:moveTo>
                <a:lnTo>
                  <a:pt x="7700" y="0"/>
                </a:lnTo>
                <a:lnTo>
                  <a:pt x="770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1495080" y="3485880"/>
            <a:ext cx="1781640" cy="286200"/>
          </a:xfrm>
          <a:custGeom>
            <a:avLst/>
            <a:gdLst/>
            <a:ahLst/>
            <a:rect l="0" t="0" r="r" b="b"/>
            <a:pathLst>
              <a:path w="4949" h="795">
                <a:moveTo>
                  <a:pt x="0" y="0"/>
                </a:moveTo>
                <a:lnTo>
                  <a:pt x="4949" y="0"/>
                </a:lnTo>
                <a:lnTo>
                  <a:pt x="49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3276360" y="3485880"/>
            <a:ext cx="4648680" cy="286200"/>
          </a:xfrm>
          <a:custGeom>
            <a:avLst/>
            <a:gdLst/>
            <a:ahLst/>
            <a:rect l="0" t="0" r="r" b="b"/>
            <a:pathLst>
              <a:path w="12913" h="795">
                <a:moveTo>
                  <a:pt x="0" y="0"/>
                </a:moveTo>
                <a:lnTo>
                  <a:pt x="12913" y="0"/>
                </a:lnTo>
                <a:lnTo>
                  <a:pt x="1291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7924680" y="3485880"/>
            <a:ext cx="2772000" cy="286200"/>
          </a:xfrm>
          <a:custGeom>
            <a:avLst/>
            <a:gdLst/>
            <a:ahLst/>
            <a:rect l="0" t="0" r="r" b="b"/>
            <a:pathLst>
              <a:path w="7700" h="795">
                <a:moveTo>
                  <a:pt x="0" y="0"/>
                </a:moveTo>
                <a:lnTo>
                  <a:pt x="7700" y="0"/>
                </a:lnTo>
                <a:lnTo>
                  <a:pt x="770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148572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1485720" y="150480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326700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3276360" y="150480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792468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7934040" y="150480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1069632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1485720" y="179064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3276360" y="179064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7934040" y="179064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48572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326700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792468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1069632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148572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1485720" y="206676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326700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3276360" y="206676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792468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7934040" y="206676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1069632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148572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1485720" y="235260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326700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3276360" y="235260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792468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7934040" y="235260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1069632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148572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1485720" y="263808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326700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3276360" y="263808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792468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7934040" y="2638080"/>
            <a:ext cx="2772360" cy="10080"/>
          </a:xfrm>
          <a:custGeom>
            <a:avLst/>
            <a:gdLst/>
            <a:ahLst/>
            <a:rect l="0" t="0" r="r" b="b"/>
            <a:pathLst>
              <a:path w="7701" h="28">
                <a:moveTo>
                  <a:pt x="0" y="0"/>
                </a:moveTo>
                <a:lnTo>
                  <a:pt x="7701" y="0"/>
                </a:lnTo>
                <a:lnTo>
                  <a:pt x="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069632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48572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1485720" y="291456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326700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3276360" y="291456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792468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7934040" y="291456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069632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148572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1485720" y="320004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326700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3276360" y="320004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792468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7934040" y="3200040"/>
            <a:ext cx="2772360" cy="10080"/>
          </a:xfrm>
          <a:custGeom>
            <a:avLst/>
            <a:gdLst/>
            <a:ahLst/>
            <a:rect l="0" t="0" r="r" b="b"/>
            <a:pathLst>
              <a:path w="7701" h="28">
                <a:moveTo>
                  <a:pt x="0" y="0"/>
                </a:moveTo>
                <a:lnTo>
                  <a:pt x="7701" y="0"/>
                </a:lnTo>
                <a:lnTo>
                  <a:pt x="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1069632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148572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1485720" y="348588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326700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3276360" y="348588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792468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7934040" y="3485880"/>
            <a:ext cx="2772360" cy="10080"/>
          </a:xfrm>
          <a:custGeom>
            <a:avLst/>
            <a:gdLst/>
            <a:ahLst/>
            <a:rect l="0" t="0" r="r" b="b"/>
            <a:pathLst>
              <a:path w="7701" h="28">
                <a:moveTo>
                  <a:pt x="0" y="0"/>
                </a:moveTo>
                <a:lnTo>
                  <a:pt x="7701" y="0"/>
                </a:lnTo>
                <a:lnTo>
                  <a:pt x="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10696320" y="34956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1485720" y="376236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3276360" y="376236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7934040" y="3762360"/>
            <a:ext cx="2772360" cy="9720"/>
          </a:xfrm>
          <a:custGeom>
            <a:avLst/>
            <a:gdLst/>
            <a:ahLst/>
            <a:rect l="0" t="0" r="r" b="b"/>
            <a:pathLst>
              <a:path w="7701" h="27">
                <a:moveTo>
                  <a:pt x="0" y="0"/>
                </a:moveTo>
                <a:lnTo>
                  <a:pt x="7701" y="0"/>
                </a:lnTo>
                <a:lnTo>
                  <a:pt x="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 txBox="1"/>
          <p:nvPr/>
        </p:nvSpPr>
        <p:spPr>
          <a:xfrm>
            <a:off x="38088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稳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 txBox="1"/>
          <p:nvPr/>
        </p:nvSpPr>
        <p:spPr>
          <a:xfrm>
            <a:off x="75492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健性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 txBox="1"/>
          <p:nvPr/>
        </p:nvSpPr>
        <p:spPr>
          <a:xfrm>
            <a:off x="150264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检验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225036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与内生性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 txBox="1"/>
          <p:nvPr/>
        </p:nvSpPr>
        <p:spPr>
          <a:xfrm>
            <a:off x="374580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411948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理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 txBox="1"/>
          <p:nvPr/>
        </p:nvSpPr>
        <p:spPr>
          <a:xfrm>
            <a:off x="2037600" y="15451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检验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 txBox="1"/>
          <p:nvPr/>
        </p:nvSpPr>
        <p:spPr>
          <a:xfrm>
            <a:off x="238140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思路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 txBox="1"/>
          <p:nvPr/>
        </p:nvSpPr>
        <p:spPr>
          <a:xfrm>
            <a:off x="5256720" y="156960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具体做法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8699040" y="1569600"/>
            <a:ext cx="970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L.Fintech </a:t>
            </a:r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系数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186588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2209680" y="18309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255348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 txBox="1"/>
          <p:nvPr/>
        </p:nvSpPr>
        <p:spPr>
          <a:xfrm>
            <a:off x="27252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 txBox="1"/>
          <p:nvPr/>
        </p:nvSpPr>
        <p:spPr>
          <a:xfrm>
            <a:off x="3988080" y="1855440"/>
            <a:ext cx="1603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2015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股灾年份，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568908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样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 txBox="1"/>
          <p:nvPr/>
        </p:nvSpPr>
        <p:spPr>
          <a:xfrm>
            <a:off x="5860800" y="1855440"/>
            <a:ext cx="1204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本限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2011—2014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905580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 txBox="1"/>
          <p:nvPr/>
        </p:nvSpPr>
        <p:spPr>
          <a:xfrm>
            <a:off x="941436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 txBox="1"/>
          <p:nvPr/>
        </p:nvSpPr>
        <p:spPr>
          <a:xfrm>
            <a:off x="1865880" y="213192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 txBox="1"/>
          <p:nvPr/>
        </p:nvSpPr>
        <p:spPr>
          <a:xfrm>
            <a:off x="238140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 txBox="1"/>
          <p:nvPr/>
        </p:nvSpPr>
        <p:spPr>
          <a:xfrm>
            <a:off x="255348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干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 txBox="1"/>
          <p:nvPr/>
        </p:nvSpPr>
        <p:spPr>
          <a:xfrm>
            <a:off x="272520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4311720" y="2131920"/>
            <a:ext cx="1121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剔除行政特殊性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551448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较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5686200" y="213192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强的直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 txBox="1"/>
          <p:nvPr/>
        </p:nvSpPr>
        <p:spPr>
          <a:xfrm>
            <a:off x="620172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辖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 txBox="1"/>
          <p:nvPr/>
        </p:nvSpPr>
        <p:spPr>
          <a:xfrm>
            <a:off x="637344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 txBox="1"/>
          <p:nvPr/>
        </p:nvSpPr>
        <p:spPr>
          <a:xfrm>
            <a:off x="654552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样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 txBox="1"/>
          <p:nvPr/>
        </p:nvSpPr>
        <p:spPr>
          <a:xfrm>
            <a:off x="671724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 txBox="1"/>
          <p:nvPr/>
        </p:nvSpPr>
        <p:spPr>
          <a:xfrm>
            <a:off x="905580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9414360" y="213192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 txBox="1"/>
          <p:nvPr/>
        </p:nvSpPr>
        <p:spPr>
          <a:xfrm>
            <a:off x="1865880" y="2417400"/>
            <a:ext cx="960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剔除披露失真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 txBox="1"/>
          <p:nvPr/>
        </p:nvSpPr>
        <p:spPr>
          <a:xfrm>
            <a:off x="4575600" y="24174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剔除年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 txBox="1"/>
          <p:nvPr/>
        </p:nvSpPr>
        <p:spPr>
          <a:xfrm>
            <a:off x="509112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 txBox="1"/>
          <p:nvPr/>
        </p:nvSpPr>
        <p:spPr>
          <a:xfrm>
            <a:off x="5262840" y="2417400"/>
            <a:ext cx="863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考核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C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 txBox="1"/>
          <p:nvPr/>
        </p:nvSpPr>
        <p:spPr>
          <a:xfrm>
            <a:off x="610956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 txBox="1"/>
          <p:nvPr/>
        </p:nvSpPr>
        <p:spPr>
          <a:xfrm>
            <a:off x="628164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 txBox="1"/>
          <p:nvPr/>
        </p:nvSpPr>
        <p:spPr>
          <a:xfrm>
            <a:off x="645336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 txBox="1"/>
          <p:nvPr/>
        </p:nvSpPr>
        <p:spPr>
          <a:xfrm>
            <a:off x="9055800" y="24174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 txBox="1"/>
          <p:nvPr/>
        </p:nvSpPr>
        <p:spPr>
          <a:xfrm>
            <a:off x="9414360" y="241740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 txBox="1"/>
          <p:nvPr/>
        </p:nvSpPr>
        <p:spPr>
          <a:xfrm>
            <a:off x="186588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换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 txBox="1"/>
          <p:nvPr/>
        </p:nvSpPr>
        <p:spPr>
          <a:xfrm>
            <a:off x="2037960" y="27032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被解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 txBox="1"/>
          <p:nvPr/>
        </p:nvSpPr>
        <p:spPr>
          <a:xfrm>
            <a:off x="2381400" y="26787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 txBox="1"/>
          <p:nvPr/>
        </p:nvSpPr>
        <p:spPr>
          <a:xfrm>
            <a:off x="272520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 txBox="1"/>
          <p:nvPr/>
        </p:nvSpPr>
        <p:spPr>
          <a:xfrm>
            <a:off x="3410640" y="27032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分解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 txBox="1"/>
          <p:nvPr/>
        </p:nvSpPr>
        <p:spPr>
          <a:xfrm>
            <a:off x="375408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 txBox="1"/>
          <p:nvPr/>
        </p:nvSpPr>
        <p:spPr>
          <a:xfrm>
            <a:off x="3926160" y="2703240"/>
            <a:ext cx="1217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AI / DT / ADT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5384520" y="26787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块链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 txBox="1"/>
          <p:nvPr/>
        </p:nvSpPr>
        <p:spPr>
          <a:xfrm>
            <a:off x="5728320" y="27032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607176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 txBox="1"/>
          <p:nvPr/>
        </p:nvSpPr>
        <p:spPr>
          <a:xfrm>
            <a:off x="6243840" y="27032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算因技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675936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693108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710280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727488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 txBox="1"/>
          <p:nvPr/>
        </p:nvSpPr>
        <p:spPr>
          <a:xfrm>
            <a:off x="744660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 txBox="1"/>
          <p:nvPr/>
        </p:nvSpPr>
        <p:spPr>
          <a:xfrm>
            <a:off x="761832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 txBox="1"/>
          <p:nvPr/>
        </p:nvSpPr>
        <p:spPr>
          <a:xfrm>
            <a:off x="8210520" y="27032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 txBox="1"/>
          <p:nvPr/>
        </p:nvSpPr>
        <p:spPr>
          <a:xfrm>
            <a:off x="8568720" y="2703240"/>
            <a:ext cx="37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 txBox="1"/>
          <p:nvPr/>
        </p:nvSpPr>
        <p:spPr>
          <a:xfrm>
            <a:off x="9099360" y="27032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 txBox="1"/>
          <p:nvPr/>
        </p:nvSpPr>
        <p:spPr>
          <a:xfrm>
            <a:off x="9457560" y="2703240"/>
            <a:ext cx="2905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 txBox="1"/>
          <p:nvPr/>
        </p:nvSpPr>
        <p:spPr>
          <a:xfrm>
            <a:off x="9901440" y="27032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 txBox="1"/>
          <p:nvPr/>
        </p:nvSpPr>
        <p:spPr>
          <a:xfrm>
            <a:off x="10260000" y="27032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 txBox="1"/>
          <p:nvPr/>
        </p:nvSpPr>
        <p:spPr>
          <a:xfrm>
            <a:off x="1780200" y="29548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换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 txBox="1"/>
          <p:nvPr/>
        </p:nvSpPr>
        <p:spPr>
          <a:xfrm>
            <a:off x="1951920" y="29793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核心解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 txBox="1"/>
          <p:nvPr/>
        </p:nvSpPr>
        <p:spPr>
          <a:xfrm>
            <a:off x="2467440" y="295488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释变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 txBox="1"/>
          <p:nvPr/>
        </p:nvSpPr>
        <p:spPr>
          <a:xfrm>
            <a:off x="281124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 txBox="1"/>
          <p:nvPr/>
        </p:nvSpPr>
        <p:spPr>
          <a:xfrm>
            <a:off x="4127760" y="29793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两个新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 txBox="1"/>
          <p:nvPr/>
        </p:nvSpPr>
        <p:spPr>
          <a:xfrm>
            <a:off x="4642920" y="295488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闻词频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 txBox="1"/>
          <p:nvPr/>
        </p:nvSpPr>
        <p:spPr>
          <a:xfrm>
            <a:off x="5158440" y="2979360"/>
            <a:ext cx="1838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指数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+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北大普惠金融指数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 txBox="1"/>
          <p:nvPr/>
        </p:nvSpPr>
        <p:spPr>
          <a:xfrm>
            <a:off x="8167320" y="297936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 txBox="1"/>
          <p:nvPr/>
        </p:nvSpPr>
        <p:spPr>
          <a:xfrm>
            <a:off x="8525520" y="2979360"/>
            <a:ext cx="37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 txBox="1"/>
          <p:nvPr/>
        </p:nvSpPr>
        <p:spPr>
          <a:xfrm>
            <a:off x="9056160" y="297936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 txBox="1"/>
          <p:nvPr/>
        </p:nvSpPr>
        <p:spPr>
          <a:xfrm>
            <a:off x="9414360" y="2979360"/>
            <a:ext cx="37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 txBox="1"/>
          <p:nvPr/>
        </p:nvSpPr>
        <p:spPr>
          <a:xfrm>
            <a:off x="9945000" y="297936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 txBox="1"/>
          <p:nvPr/>
        </p:nvSpPr>
        <p:spPr>
          <a:xfrm>
            <a:off x="10303200" y="297936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1865880" y="324072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边际弹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 txBox="1"/>
          <p:nvPr/>
        </p:nvSpPr>
        <p:spPr>
          <a:xfrm>
            <a:off x="2381400" y="32652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2553480" y="32407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检验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 txBox="1"/>
          <p:nvPr/>
        </p:nvSpPr>
        <p:spPr>
          <a:xfrm>
            <a:off x="4409280" y="32407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边际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 txBox="1"/>
          <p:nvPr/>
        </p:nvSpPr>
        <p:spPr>
          <a:xfrm>
            <a:off x="4752720" y="32652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影响始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 txBox="1"/>
          <p:nvPr/>
        </p:nvSpPr>
        <p:spPr>
          <a:xfrm>
            <a:off x="5268240" y="32407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终为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 txBox="1"/>
          <p:nvPr/>
        </p:nvSpPr>
        <p:spPr>
          <a:xfrm>
            <a:off x="5612040" y="326520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正斜率（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 txBox="1"/>
          <p:nvPr/>
        </p:nvSpPr>
        <p:spPr>
          <a:xfrm>
            <a:off x="629928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6471000" y="3265200"/>
            <a:ext cx="310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4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897120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 txBox="1"/>
          <p:nvPr/>
        </p:nvSpPr>
        <p:spPr>
          <a:xfrm>
            <a:off x="9142920" y="32652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 txBox="1"/>
          <p:nvPr/>
        </p:nvSpPr>
        <p:spPr>
          <a:xfrm>
            <a:off x="931464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 txBox="1"/>
          <p:nvPr/>
        </p:nvSpPr>
        <p:spPr>
          <a:xfrm>
            <a:off x="9486720" y="32652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 txBox="1"/>
          <p:nvPr/>
        </p:nvSpPr>
        <p:spPr>
          <a:xfrm>
            <a:off x="1628640" y="35510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准自然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 txBox="1"/>
          <p:nvPr/>
        </p:nvSpPr>
        <p:spPr>
          <a:xfrm>
            <a:off x="2144160" y="352656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 txBox="1"/>
          <p:nvPr/>
        </p:nvSpPr>
        <p:spPr>
          <a:xfrm>
            <a:off x="2487960" y="3551040"/>
            <a:ext cx="6285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（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DID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 txBox="1"/>
          <p:nvPr/>
        </p:nvSpPr>
        <p:spPr>
          <a:xfrm>
            <a:off x="4250880" y="35510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 txBox="1"/>
          <p:nvPr/>
        </p:nvSpPr>
        <p:spPr>
          <a:xfrm>
            <a:off x="4574520" y="3551040"/>
            <a:ext cx="208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 txBox="1"/>
          <p:nvPr/>
        </p:nvSpPr>
        <p:spPr>
          <a:xfrm>
            <a:off x="4794120" y="35265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 txBox="1"/>
          <p:nvPr/>
        </p:nvSpPr>
        <p:spPr>
          <a:xfrm>
            <a:off x="4965840" y="35510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5137560" y="35265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5309280" y="3551040"/>
            <a:ext cx="1520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×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金融落后区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 </a:t>
            </a:r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西部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8167320" y="35510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8525520" y="3551040"/>
            <a:ext cx="37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9056160" y="35510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 txBox="1"/>
          <p:nvPr/>
        </p:nvSpPr>
        <p:spPr>
          <a:xfrm>
            <a:off x="9414360" y="3551040"/>
            <a:ext cx="37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 / 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9945000" y="35510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10303200" y="35510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380880" y="4092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内生性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 txBox="1"/>
          <p:nvPr/>
        </p:nvSpPr>
        <p:spPr>
          <a:xfrm>
            <a:off x="1216800" y="40518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设计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 txBox="1"/>
          <p:nvPr/>
        </p:nvSpPr>
        <p:spPr>
          <a:xfrm>
            <a:off x="1774080" y="4092480"/>
            <a:ext cx="1922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以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2016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年《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3980160" y="4092480"/>
            <a:ext cx="1946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数字普惠金融高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 txBox="1"/>
          <p:nvPr/>
        </p:nvSpPr>
        <p:spPr>
          <a:xfrm>
            <a:off x="6001920" y="40518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6280560" y="4092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 txBox="1"/>
          <p:nvPr/>
        </p:nvSpPr>
        <p:spPr>
          <a:xfrm>
            <a:off x="6559200" y="40518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6837840" y="4092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》出台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 txBox="1"/>
          <p:nvPr/>
        </p:nvSpPr>
        <p:spPr>
          <a:xfrm>
            <a:off x="7673400" y="40518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 txBox="1"/>
          <p:nvPr/>
        </p:nvSpPr>
        <p:spPr>
          <a:xfrm>
            <a:off x="7952040" y="40924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外生冲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 txBox="1"/>
          <p:nvPr/>
        </p:nvSpPr>
        <p:spPr>
          <a:xfrm>
            <a:off x="8787960" y="40518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击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9066600" y="4092480"/>
            <a:ext cx="613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，将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 txBox="1"/>
          <p:nvPr/>
        </p:nvSpPr>
        <p:spPr>
          <a:xfrm>
            <a:off x="10823400" y="4092480"/>
            <a:ext cx="879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与金融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380880" y="45021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落后地区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 txBox="1"/>
          <p:nvPr/>
        </p:nvSpPr>
        <p:spPr>
          <a:xfrm>
            <a:off x="1495440" y="44611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1774080" y="4502160"/>
            <a:ext cx="169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量交互，构成“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 txBox="1"/>
          <p:nvPr/>
        </p:nvSpPr>
        <p:spPr>
          <a:xfrm>
            <a:off x="3584160" y="446112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实验组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4419720" y="4502160"/>
            <a:ext cx="2887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4670280" y="44611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 txBox="1"/>
          <p:nvPr/>
        </p:nvSpPr>
        <p:spPr>
          <a:xfrm>
            <a:off x="4948920" y="45021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 txBox="1"/>
          <p:nvPr/>
        </p:nvSpPr>
        <p:spPr>
          <a:xfrm>
            <a:off x="5227200" y="44611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5505840" y="4502160"/>
            <a:ext cx="11638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”双重差分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 txBox="1"/>
          <p:nvPr/>
        </p:nvSpPr>
        <p:spPr>
          <a:xfrm>
            <a:off x="9695520" y="4110120"/>
            <a:ext cx="3222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40" b="0" i="1" u="none" strike="noStrike">
                <a:solidFill>
                  <a:srgbClr val="333333"/>
                </a:solidFill>
                <a:effectLst/>
                <a:uFillTx/>
                <a:latin typeface="KaTeX_Math"/>
                <a:ea typeface="KaTeX_Math"/>
              </a:rPr>
              <a:t>G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 txBox="1"/>
          <p:nvPr/>
        </p:nvSpPr>
        <p:spPr>
          <a:xfrm>
            <a:off x="9961200" y="4034520"/>
            <a:ext cx="41184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4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20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10823400" y="4325040"/>
            <a:ext cx="9000" cy="1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10307880" y="4181400"/>
            <a:ext cx="57456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79" b="0" u="none" strike="noStrike">
                <a:solidFill>
                  <a:srgbClr val="333333"/>
                </a:solidFill>
                <a:effectLst/>
                <a:uFillTx/>
                <a:latin typeface="KaTeX_Main"/>
                <a:ea typeface="KaTeX_Main"/>
              </a:rPr>
              <a:t>2016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4028760" y="1514160"/>
            <a:ext cx="962640" cy="276840"/>
          </a:xfrm>
          <a:custGeom>
            <a:avLst/>
            <a:gdLst/>
            <a:ahLst/>
            <a:rect l="0" t="0" r="r" b="b"/>
            <a:pathLst>
              <a:path w="2674" h="769">
                <a:moveTo>
                  <a:pt x="0" y="0"/>
                </a:moveTo>
                <a:lnTo>
                  <a:pt x="2674" y="0"/>
                </a:lnTo>
                <a:lnTo>
                  <a:pt x="2674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4991040" y="1514160"/>
            <a:ext cx="1305000" cy="276840"/>
          </a:xfrm>
          <a:custGeom>
            <a:avLst/>
            <a:gdLst/>
            <a:ahLst/>
            <a:rect l="0" t="0" r="r" b="b"/>
            <a:pathLst>
              <a:path w="3625" h="769">
                <a:moveTo>
                  <a:pt x="0" y="0"/>
                </a:moveTo>
                <a:lnTo>
                  <a:pt x="3625" y="0"/>
                </a:lnTo>
                <a:lnTo>
                  <a:pt x="3625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6295680" y="1514160"/>
            <a:ext cx="1867320" cy="276840"/>
          </a:xfrm>
          <a:custGeom>
            <a:avLst/>
            <a:gdLst/>
            <a:ahLst/>
            <a:rect l="0" t="0" r="r" b="b"/>
            <a:pathLst>
              <a:path w="5187" h="769">
                <a:moveTo>
                  <a:pt x="0" y="0"/>
                </a:moveTo>
                <a:lnTo>
                  <a:pt x="5187" y="0"/>
                </a:lnTo>
                <a:lnTo>
                  <a:pt x="5187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4028760" y="1790640"/>
            <a:ext cx="962640" cy="285840"/>
          </a:xfrm>
          <a:custGeom>
            <a:avLst/>
            <a:gdLst/>
            <a:ahLst/>
            <a:rect l="0" t="0" r="r" b="b"/>
            <a:pathLst>
              <a:path w="2674" h="794">
                <a:moveTo>
                  <a:pt x="0" y="0"/>
                </a:moveTo>
                <a:lnTo>
                  <a:pt x="2674" y="0"/>
                </a:lnTo>
                <a:lnTo>
                  <a:pt x="267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4991040" y="1790640"/>
            <a:ext cx="1305000" cy="285840"/>
          </a:xfrm>
          <a:custGeom>
            <a:avLst/>
            <a:gdLst/>
            <a:ahLst/>
            <a:rect l="0" t="0" r="r" b="b"/>
            <a:pathLst>
              <a:path w="3625" h="794">
                <a:moveTo>
                  <a:pt x="0" y="0"/>
                </a:moveTo>
                <a:lnTo>
                  <a:pt x="3625" y="0"/>
                </a:lnTo>
                <a:lnTo>
                  <a:pt x="3625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6295680" y="1790640"/>
            <a:ext cx="1867320" cy="285840"/>
          </a:xfrm>
          <a:custGeom>
            <a:avLst/>
            <a:gdLst/>
            <a:ahLst/>
            <a:rect l="0" t="0" r="r" b="b"/>
            <a:pathLst>
              <a:path w="5187" h="794">
                <a:moveTo>
                  <a:pt x="0" y="0"/>
                </a:moveTo>
                <a:lnTo>
                  <a:pt x="5187" y="0"/>
                </a:lnTo>
                <a:lnTo>
                  <a:pt x="5187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4028760" y="2361960"/>
            <a:ext cx="962640" cy="276480"/>
          </a:xfrm>
          <a:custGeom>
            <a:avLst/>
            <a:gdLst/>
            <a:ahLst/>
            <a:rect l="0" t="0" r="r" b="b"/>
            <a:pathLst>
              <a:path w="2674" h="768">
                <a:moveTo>
                  <a:pt x="0" y="0"/>
                </a:moveTo>
                <a:lnTo>
                  <a:pt x="2674" y="0"/>
                </a:lnTo>
                <a:lnTo>
                  <a:pt x="2674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4991040" y="2361960"/>
            <a:ext cx="1305000" cy="276480"/>
          </a:xfrm>
          <a:custGeom>
            <a:avLst/>
            <a:gdLst/>
            <a:ahLst/>
            <a:rect l="0" t="0" r="r" b="b"/>
            <a:pathLst>
              <a:path w="3625" h="768">
                <a:moveTo>
                  <a:pt x="0" y="0"/>
                </a:moveTo>
                <a:lnTo>
                  <a:pt x="3625" y="0"/>
                </a:lnTo>
                <a:lnTo>
                  <a:pt x="3625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6295680" y="2361960"/>
            <a:ext cx="1867320" cy="276480"/>
          </a:xfrm>
          <a:custGeom>
            <a:avLst/>
            <a:gdLst/>
            <a:ahLst/>
            <a:rect l="0" t="0" r="r" b="b"/>
            <a:pathLst>
              <a:path w="5187" h="768">
                <a:moveTo>
                  <a:pt x="0" y="0"/>
                </a:moveTo>
                <a:lnTo>
                  <a:pt x="5187" y="0"/>
                </a:lnTo>
                <a:lnTo>
                  <a:pt x="518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4028760" y="2923920"/>
            <a:ext cx="962640" cy="286200"/>
          </a:xfrm>
          <a:custGeom>
            <a:avLst/>
            <a:gdLst/>
            <a:ahLst/>
            <a:rect l="0" t="0" r="r" b="b"/>
            <a:pathLst>
              <a:path w="2674" h="795">
                <a:moveTo>
                  <a:pt x="0" y="0"/>
                </a:moveTo>
                <a:lnTo>
                  <a:pt x="2674" y="0"/>
                </a:lnTo>
                <a:lnTo>
                  <a:pt x="267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4991040" y="2923920"/>
            <a:ext cx="1305000" cy="286200"/>
          </a:xfrm>
          <a:custGeom>
            <a:avLst/>
            <a:gdLst/>
            <a:ahLst/>
            <a:rect l="0" t="0" r="r" b="b"/>
            <a:pathLst>
              <a:path w="3625" h="795">
                <a:moveTo>
                  <a:pt x="0" y="0"/>
                </a:moveTo>
                <a:lnTo>
                  <a:pt x="3625" y="0"/>
                </a:lnTo>
                <a:lnTo>
                  <a:pt x="362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6295680" y="2923920"/>
            <a:ext cx="1867320" cy="286200"/>
          </a:xfrm>
          <a:custGeom>
            <a:avLst/>
            <a:gdLst/>
            <a:ahLst/>
            <a:rect l="0" t="0" r="r" b="b"/>
            <a:pathLst>
              <a:path w="5187" h="795">
                <a:moveTo>
                  <a:pt x="0" y="0"/>
                </a:moveTo>
                <a:lnTo>
                  <a:pt x="5187" y="0"/>
                </a:lnTo>
                <a:lnTo>
                  <a:pt x="518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4028760" y="3485880"/>
            <a:ext cx="962640" cy="286200"/>
          </a:xfrm>
          <a:custGeom>
            <a:avLst/>
            <a:gdLst/>
            <a:ahLst/>
            <a:rect l="0" t="0" r="r" b="b"/>
            <a:pathLst>
              <a:path w="2674" h="795">
                <a:moveTo>
                  <a:pt x="0" y="0"/>
                </a:moveTo>
                <a:lnTo>
                  <a:pt x="2674" y="0"/>
                </a:lnTo>
                <a:lnTo>
                  <a:pt x="267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4991040" y="3485880"/>
            <a:ext cx="1305000" cy="286200"/>
          </a:xfrm>
          <a:custGeom>
            <a:avLst/>
            <a:gdLst/>
            <a:ahLst/>
            <a:rect l="0" t="0" r="r" b="b"/>
            <a:pathLst>
              <a:path w="3625" h="795">
                <a:moveTo>
                  <a:pt x="0" y="0"/>
                </a:moveTo>
                <a:lnTo>
                  <a:pt x="3625" y="0"/>
                </a:lnTo>
                <a:lnTo>
                  <a:pt x="362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295680" y="3485880"/>
            <a:ext cx="1867320" cy="286200"/>
          </a:xfrm>
          <a:custGeom>
            <a:avLst/>
            <a:gdLst/>
            <a:ahLst/>
            <a:rect l="0" t="0" r="r" b="b"/>
            <a:pathLst>
              <a:path w="5187" h="795">
                <a:moveTo>
                  <a:pt x="0" y="0"/>
                </a:moveTo>
                <a:lnTo>
                  <a:pt x="5187" y="0"/>
                </a:lnTo>
                <a:lnTo>
                  <a:pt x="518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402876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4028760" y="150480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499104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5000400" y="150480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629568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6305400" y="150480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815328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4028760" y="179064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5000400" y="179064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6305400" y="179064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402876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499104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629568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815328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402876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4028760" y="206676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499104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5000400" y="20667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629568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6305400" y="206676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815328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402876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4028760" y="235260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499104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5000400" y="235260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629568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6305400" y="235260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815328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402876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4028760" y="263808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499104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5000400" y="263808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629568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6305400" y="263808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815328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402876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4028760" y="291456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499104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5000400" y="29145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629568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6305400" y="291456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815328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402876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4028760" y="320004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499104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5000400" y="320004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629568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6305400" y="320004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815328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4028760" y="34956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4028760" y="348588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499104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5000400" y="348588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6295680" y="34956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6305400" y="3485880"/>
            <a:ext cx="1857600" cy="10080"/>
          </a:xfrm>
          <a:custGeom>
            <a:avLst/>
            <a:gdLst/>
            <a:ahLst/>
            <a:rect l="0" t="0" r="r" b="b"/>
            <a:pathLst>
              <a:path w="5160" h="28">
                <a:moveTo>
                  <a:pt x="0" y="0"/>
                </a:moveTo>
                <a:lnTo>
                  <a:pt x="5160" y="0"/>
                </a:lnTo>
                <a:lnTo>
                  <a:pt x="51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8153280" y="34956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4028760" y="376236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5000400" y="37623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6305400" y="3762360"/>
            <a:ext cx="1857600" cy="9720"/>
          </a:xfrm>
          <a:custGeom>
            <a:avLst/>
            <a:gdLst/>
            <a:ahLst/>
            <a:rect l="0" t="0" r="r" b="b"/>
            <a:pathLst>
              <a:path w="5160" h="27">
                <a:moveTo>
                  <a:pt x="0" y="0"/>
                </a:moveTo>
                <a:lnTo>
                  <a:pt x="5160" y="0"/>
                </a:lnTo>
                <a:lnTo>
                  <a:pt x="51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 txBox="1"/>
          <p:nvPr/>
        </p:nvSpPr>
        <p:spPr>
          <a:xfrm>
            <a:off x="38088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7549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质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 txBox="1"/>
          <p:nvPr/>
        </p:nvSpPr>
        <p:spPr>
          <a:xfrm>
            <a:off x="1128600" y="929880"/>
            <a:ext cx="22986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性：靶向三重“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 txBox="1"/>
          <p:nvPr/>
        </p:nvSpPr>
        <p:spPr>
          <a:xfrm>
            <a:off x="359136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纠错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4339080" y="929880"/>
            <a:ext cx="49248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配”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416736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4339080" y="15696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配类型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547452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分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564624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 txBox="1"/>
          <p:nvPr/>
        </p:nvSpPr>
        <p:spPr>
          <a:xfrm>
            <a:off x="6615720" y="1569600"/>
            <a:ext cx="970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L.Fintech </a:t>
            </a:r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系数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 txBox="1"/>
          <p:nvPr/>
        </p:nvSpPr>
        <p:spPr>
          <a:xfrm>
            <a:off x="416736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属性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 txBox="1"/>
          <p:nvPr/>
        </p:nvSpPr>
        <p:spPr>
          <a:xfrm>
            <a:off x="45108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 txBox="1"/>
          <p:nvPr/>
        </p:nvSpPr>
        <p:spPr>
          <a:xfrm>
            <a:off x="4682520" y="18554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5216760" y="185544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非国有企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 txBox="1"/>
          <p:nvPr/>
        </p:nvSpPr>
        <p:spPr>
          <a:xfrm>
            <a:off x="5904000" y="18309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 txBox="1"/>
          <p:nvPr/>
        </p:nvSpPr>
        <p:spPr>
          <a:xfrm>
            <a:off x="697248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 txBox="1"/>
          <p:nvPr/>
        </p:nvSpPr>
        <p:spPr>
          <a:xfrm>
            <a:off x="733104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 txBox="1"/>
          <p:nvPr/>
        </p:nvSpPr>
        <p:spPr>
          <a:xfrm>
            <a:off x="5302440" y="213192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国有企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 txBox="1"/>
          <p:nvPr/>
        </p:nvSpPr>
        <p:spPr>
          <a:xfrm>
            <a:off x="581796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 txBox="1"/>
          <p:nvPr/>
        </p:nvSpPr>
        <p:spPr>
          <a:xfrm>
            <a:off x="643824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 txBox="1"/>
          <p:nvPr/>
        </p:nvSpPr>
        <p:spPr>
          <a:xfrm>
            <a:off x="660996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 txBox="1"/>
          <p:nvPr/>
        </p:nvSpPr>
        <p:spPr>
          <a:xfrm>
            <a:off x="6781680" y="2131920"/>
            <a:ext cx="722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著（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t = − 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 txBox="1"/>
          <p:nvPr/>
        </p:nvSpPr>
        <p:spPr>
          <a:xfrm>
            <a:off x="785268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 txBox="1"/>
          <p:nvPr/>
        </p:nvSpPr>
        <p:spPr>
          <a:xfrm>
            <a:off x="416736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领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 txBox="1"/>
          <p:nvPr/>
        </p:nvSpPr>
        <p:spPr>
          <a:xfrm>
            <a:off x="433908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 txBox="1"/>
          <p:nvPr/>
        </p:nvSpPr>
        <p:spPr>
          <a:xfrm>
            <a:off x="451080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 txBox="1"/>
          <p:nvPr/>
        </p:nvSpPr>
        <p:spPr>
          <a:xfrm>
            <a:off x="468252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 txBox="1"/>
          <p:nvPr/>
        </p:nvSpPr>
        <p:spPr>
          <a:xfrm>
            <a:off x="5216760" y="2417400"/>
            <a:ext cx="64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高科技企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 txBox="1"/>
          <p:nvPr/>
        </p:nvSpPr>
        <p:spPr>
          <a:xfrm>
            <a:off x="590400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 txBox="1"/>
          <p:nvPr/>
        </p:nvSpPr>
        <p:spPr>
          <a:xfrm>
            <a:off x="6972480" y="24174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 txBox="1"/>
          <p:nvPr/>
        </p:nvSpPr>
        <p:spPr>
          <a:xfrm>
            <a:off x="7331040" y="241740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5130720" y="270324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非高科技企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 txBox="1"/>
          <p:nvPr/>
        </p:nvSpPr>
        <p:spPr>
          <a:xfrm>
            <a:off x="599004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 txBox="1"/>
          <p:nvPr/>
        </p:nvSpPr>
        <p:spPr>
          <a:xfrm>
            <a:off x="643824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660996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6781680" y="2703240"/>
            <a:ext cx="722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著（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t = − 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7852680" y="27032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4167360" y="29548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 txBox="1"/>
          <p:nvPr/>
        </p:nvSpPr>
        <p:spPr>
          <a:xfrm>
            <a:off x="433908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段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4510800" y="29548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468252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5388480" y="29793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成长期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 txBox="1"/>
          <p:nvPr/>
        </p:nvSpPr>
        <p:spPr>
          <a:xfrm>
            <a:off x="6972480" y="297936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7331040" y="297936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5388480" y="326520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成熟期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6972480" y="32652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 txBox="1"/>
          <p:nvPr/>
        </p:nvSpPr>
        <p:spPr>
          <a:xfrm>
            <a:off x="7331040" y="326520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5388480" y="35510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衰退期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 txBox="1"/>
          <p:nvPr/>
        </p:nvSpPr>
        <p:spPr>
          <a:xfrm>
            <a:off x="6438240" y="35510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 txBox="1"/>
          <p:nvPr/>
        </p:nvSpPr>
        <p:spPr>
          <a:xfrm>
            <a:off x="6609960" y="35265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 txBox="1"/>
          <p:nvPr/>
        </p:nvSpPr>
        <p:spPr>
          <a:xfrm>
            <a:off x="6781680" y="3551040"/>
            <a:ext cx="722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著（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t = − 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 txBox="1"/>
          <p:nvPr/>
        </p:nvSpPr>
        <p:spPr>
          <a:xfrm>
            <a:off x="7852680" y="355104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 txBox="1"/>
          <p:nvPr/>
        </p:nvSpPr>
        <p:spPr>
          <a:xfrm>
            <a:off x="380880" y="40831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解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 txBox="1"/>
          <p:nvPr/>
        </p:nvSpPr>
        <p:spPr>
          <a:xfrm>
            <a:off x="659520" y="40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读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 txBox="1"/>
          <p:nvPr/>
        </p:nvSpPr>
        <p:spPr>
          <a:xfrm>
            <a:off x="938160" y="4083120"/>
            <a:ext cx="879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国有企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 txBox="1"/>
          <p:nvPr/>
        </p:nvSpPr>
        <p:spPr>
          <a:xfrm>
            <a:off x="1845720" y="40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 txBox="1"/>
          <p:nvPr/>
        </p:nvSpPr>
        <p:spPr>
          <a:xfrm>
            <a:off x="2403000" y="4083120"/>
            <a:ext cx="2934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源可得性强、非高科技企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 txBox="1"/>
          <p:nvPr/>
        </p:nvSpPr>
        <p:spPr>
          <a:xfrm>
            <a:off x="5467680" y="40420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 txBox="1"/>
          <p:nvPr/>
        </p:nvSpPr>
        <p:spPr>
          <a:xfrm>
            <a:off x="6024600" y="40831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6303240" y="40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 txBox="1"/>
          <p:nvPr/>
        </p:nvSpPr>
        <p:spPr>
          <a:xfrm>
            <a:off x="6581880" y="408312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力弱、衰退期企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 txBox="1"/>
          <p:nvPr/>
        </p:nvSpPr>
        <p:spPr>
          <a:xfrm>
            <a:off x="8532360" y="40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 txBox="1"/>
          <p:nvPr/>
        </p:nvSpPr>
        <p:spPr>
          <a:xfrm>
            <a:off x="8811000" y="40831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9089280" y="40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 txBox="1"/>
          <p:nvPr/>
        </p:nvSpPr>
        <p:spPr>
          <a:xfrm>
            <a:off x="9367920" y="408312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型需求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10662840" y="40831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 txBox="1"/>
          <p:nvPr/>
        </p:nvSpPr>
        <p:spPr>
          <a:xfrm>
            <a:off x="380880" y="444492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的效力恰好落在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 txBox="1"/>
          <p:nvPr/>
        </p:nvSpPr>
        <p:spPr>
          <a:xfrm>
            <a:off x="2331360" y="4404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2610000" y="444492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源缺口大且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 txBox="1"/>
          <p:nvPr/>
        </p:nvSpPr>
        <p:spPr>
          <a:xfrm>
            <a:off x="4002840" y="44042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 txBox="1"/>
          <p:nvPr/>
        </p:nvSpPr>
        <p:spPr>
          <a:xfrm>
            <a:off x="4281480" y="444492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型意愿强的主体上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2857320" y="1514160"/>
            <a:ext cx="619560" cy="276840"/>
          </a:xfrm>
          <a:custGeom>
            <a:avLst/>
            <a:gdLst/>
            <a:ahLst/>
            <a:rect l="0" t="0" r="r" b="b"/>
            <a:pathLst>
              <a:path w="1721" h="769">
                <a:moveTo>
                  <a:pt x="0" y="0"/>
                </a:moveTo>
                <a:lnTo>
                  <a:pt x="1721" y="0"/>
                </a:lnTo>
                <a:lnTo>
                  <a:pt x="1721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3476520" y="1514160"/>
            <a:ext cx="2705400" cy="276840"/>
          </a:xfrm>
          <a:custGeom>
            <a:avLst/>
            <a:gdLst/>
            <a:ahLst/>
            <a:rect l="0" t="0" r="r" b="b"/>
            <a:pathLst>
              <a:path w="7515" h="769">
                <a:moveTo>
                  <a:pt x="0" y="0"/>
                </a:moveTo>
                <a:lnTo>
                  <a:pt x="7515" y="0"/>
                </a:lnTo>
                <a:lnTo>
                  <a:pt x="7515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6181560" y="1514160"/>
            <a:ext cx="1505160" cy="276840"/>
          </a:xfrm>
          <a:custGeom>
            <a:avLst/>
            <a:gdLst/>
            <a:ahLst/>
            <a:rect l="0" t="0" r="r" b="b"/>
            <a:pathLst>
              <a:path w="4181" h="769">
                <a:moveTo>
                  <a:pt x="0" y="0"/>
                </a:moveTo>
                <a:lnTo>
                  <a:pt x="4181" y="0"/>
                </a:lnTo>
                <a:lnTo>
                  <a:pt x="4181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7686360" y="1514160"/>
            <a:ext cx="1648440" cy="276840"/>
          </a:xfrm>
          <a:custGeom>
            <a:avLst/>
            <a:gdLst/>
            <a:ahLst/>
            <a:rect l="0" t="0" r="r" b="b"/>
            <a:pathLst>
              <a:path w="4579" h="769">
                <a:moveTo>
                  <a:pt x="0" y="0"/>
                </a:moveTo>
                <a:lnTo>
                  <a:pt x="4579" y="0"/>
                </a:lnTo>
                <a:lnTo>
                  <a:pt x="4579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2857320" y="1790640"/>
            <a:ext cx="619560" cy="285840"/>
          </a:xfrm>
          <a:custGeom>
            <a:avLst/>
            <a:gdLst/>
            <a:ahLst/>
            <a:rect l="0" t="0" r="r" b="b"/>
            <a:pathLst>
              <a:path w="1721" h="794">
                <a:moveTo>
                  <a:pt x="0" y="0"/>
                </a:moveTo>
                <a:lnTo>
                  <a:pt x="1721" y="0"/>
                </a:lnTo>
                <a:lnTo>
                  <a:pt x="172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3476520" y="1790640"/>
            <a:ext cx="2705400" cy="285840"/>
          </a:xfrm>
          <a:custGeom>
            <a:avLst/>
            <a:gdLst/>
            <a:ahLst/>
            <a:rect l="0" t="0" r="r" b="b"/>
            <a:pathLst>
              <a:path w="7515" h="794">
                <a:moveTo>
                  <a:pt x="0" y="0"/>
                </a:moveTo>
                <a:lnTo>
                  <a:pt x="7515" y="0"/>
                </a:lnTo>
                <a:lnTo>
                  <a:pt x="7515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6181560" y="1790640"/>
            <a:ext cx="1505160" cy="285840"/>
          </a:xfrm>
          <a:custGeom>
            <a:avLst/>
            <a:gdLst/>
            <a:ahLst/>
            <a:rect l="0" t="0" r="r" b="b"/>
            <a:pathLst>
              <a:path w="4181" h="794">
                <a:moveTo>
                  <a:pt x="0" y="0"/>
                </a:moveTo>
                <a:lnTo>
                  <a:pt x="4181" y="0"/>
                </a:lnTo>
                <a:lnTo>
                  <a:pt x="418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7686360" y="1790640"/>
            <a:ext cx="1648440" cy="285840"/>
          </a:xfrm>
          <a:custGeom>
            <a:avLst/>
            <a:gdLst/>
            <a:ahLst/>
            <a:rect l="0" t="0" r="r" b="b"/>
            <a:pathLst>
              <a:path w="4579" h="794">
                <a:moveTo>
                  <a:pt x="0" y="0"/>
                </a:moveTo>
                <a:lnTo>
                  <a:pt x="4579" y="0"/>
                </a:lnTo>
                <a:lnTo>
                  <a:pt x="4579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2857320" y="236196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0"/>
                </a:moveTo>
                <a:lnTo>
                  <a:pt x="1721" y="0"/>
                </a:lnTo>
                <a:lnTo>
                  <a:pt x="172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3476520" y="2361960"/>
            <a:ext cx="2705400" cy="276480"/>
          </a:xfrm>
          <a:custGeom>
            <a:avLst/>
            <a:gdLst/>
            <a:ahLst/>
            <a:rect l="0" t="0" r="r" b="b"/>
            <a:pathLst>
              <a:path w="7515" h="768">
                <a:moveTo>
                  <a:pt x="0" y="0"/>
                </a:moveTo>
                <a:lnTo>
                  <a:pt x="7515" y="0"/>
                </a:lnTo>
                <a:lnTo>
                  <a:pt x="7515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6181560" y="2361960"/>
            <a:ext cx="1505160" cy="276480"/>
          </a:xfrm>
          <a:custGeom>
            <a:avLst/>
            <a:gdLst/>
            <a:ahLst/>
            <a:rect l="0" t="0" r="r" b="b"/>
            <a:pathLst>
              <a:path w="4181" h="768">
                <a:moveTo>
                  <a:pt x="0" y="0"/>
                </a:moveTo>
                <a:lnTo>
                  <a:pt x="4181" y="0"/>
                </a:lnTo>
                <a:lnTo>
                  <a:pt x="4181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7686360" y="2361960"/>
            <a:ext cx="1648440" cy="276480"/>
          </a:xfrm>
          <a:custGeom>
            <a:avLst/>
            <a:gdLst/>
            <a:ahLst/>
            <a:rect l="0" t="0" r="r" b="b"/>
            <a:pathLst>
              <a:path w="4579" h="768">
                <a:moveTo>
                  <a:pt x="0" y="0"/>
                </a:moveTo>
                <a:lnTo>
                  <a:pt x="4579" y="0"/>
                </a:lnTo>
                <a:lnTo>
                  <a:pt x="457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2857320" y="2923920"/>
            <a:ext cx="619560" cy="286200"/>
          </a:xfrm>
          <a:custGeom>
            <a:avLst/>
            <a:gdLst/>
            <a:ahLst/>
            <a:rect l="0" t="0" r="r" b="b"/>
            <a:pathLst>
              <a:path w="1721" h="795">
                <a:moveTo>
                  <a:pt x="0" y="0"/>
                </a:moveTo>
                <a:lnTo>
                  <a:pt x="1721" y="0"/>
                </a:lnTo>
                <a:lnTo>
                  <a:pt x="172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3476520" y="2923920"/>
            <a:ext cx="2705400" cy="286200"/>
          </a:xfrm>
          <a:custGeom>
            <a:avLst/>
            <a:gdLst/>
            <a:ahLst/>
            <a:rect l="0" t="0" r="r" b="b"/>
            <a:pathLst>
              <a:path w="7515" h="795">
                <a:moveTo>
                  <a:pt x="0" y="0"/>
                </a:moveTo>
                <a:lnTo>
                  <a:pt x="7515" y="0"/>
                </a:lnTo>
                <a:lnTo>
                  <a:pt x="751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6181560" y="2923920"/>
            <a:ext cx="1505160" cy="286200"/>
          </a:xfrm>
          <a:custGeom>
            <a:avLst/>
            <a:gdLst/>
            <a:ahLst/>
            <a:rect l="0" t="0" r="r" b="b"/>
            <a:pathLst>
              <a:path w="4181" h="795">
                <a:moveTo>
                  <a:pt x="0" y="0"/>
                </a:moveTo>
                <a:lnTo>
                  <a:pt x="4181" y="0"/>
                </a:lnTo>
                <a:lnTo>
                  <a:pt x="418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7686360" y="2923920"/>
            <a:ext cx="1648440" cy="286200"/>
          </a:xfrm>
          <a:custGeom>
            <a:avLst/>
            <a:gdLst/>
            <a:ahLst/>
            <a:rect l="0" t="0" r="r" b="b"/>
            <a:pathLst>
              <a:path w="4579" h="795">
                <a:moveTo>
                  <a:pt x="0" y="0"/>
                </a:moveTo>
                <a:lnTo>
                  <a:pt x="4579" y="0"/>
                </a:lnTo>
                <a:lnTo>
                  <a:pt x="457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284796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2847960" y="15048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346680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3476520" y="150480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617184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6181560" y="150480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7686360" y="1504800"/>
            <a:ext cx="10080" cy="295560"/>
          </a:xfrm>
          <a:custGeom>
            <a:avLst/>
            <a:gdLst/>
            <a:ah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7696080" y="150480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9334440" y="1504800"/>
            <a:ext cx="9720" cy="295560"/>
          </a:xfrm>
          <a:custGeom>
            <a:avLst/>
            <a:gdLst/>
            <a:ah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2847960" y="179064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3476520" y="179064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6181560" y="179064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7696080" y="179064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284796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346680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617184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7686360" y="18000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9334440" y="18000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284796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2847960" y="20667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346680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3476520" y="206676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617184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6181560" y="20667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7686360" y="20761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7696080" y="206676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9334440" y="20761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284796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2847960" y="23526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346680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3476520" y="235260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617184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6181560" y="235260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7686360" y="23619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7696080" y="235260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9334440" y="23619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284796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2847960" y="263808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346680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3476520" y="263808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617184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6181560" y="263808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7686360" y="264780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7696080" y="263808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9334440" y="264780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284796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2847960" y="29145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346680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3476520" y="291456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617184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6181560" y="29145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7686360" y="292392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7696080" y="2914560"/>
            <a:ext cx="1648080" cy="9720"/>
          </a:xfrm>
          <a:custGeom>
            <a:avLst/>
            <a:gdLst/>
            <a:ah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9334440" y="292392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284796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2847960" y="32000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346680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3476520" y="320004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617184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6181560" y="320004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7686360" y="3209760"/>
            <a:ext cx="10080" cy="286200"/>
          </a:xfrm>
          <a:custGeom>
            <a:avLst/>
            <a:gdLst/>
            <a:ahLst/>
            <a:rect l="0" t="0" r="r" b="b"/>
            <a:pathLst>
              <a:path w="28" h="795">
                <a:moveTo>
                  <a:pt x="0" y="0"/>
                </a:moveTo>
                <a:lnTo>
                  <a:pt x="28" y="0"/>
                </a:lnTo>
                <a:lnTo>
                  <a:pt x="28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7696080" y="320004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9334440" y="3209760"/>
            <a:ext cx="9720" cy="286200"/>
          </a:xfrm>
          <a:custGeom>
            <a:avLst/>
            <a:gdLst/>
            <a:ahLst/>
            <a:rect l="0" t="0" r="r" b="b"/>
            <a:pathLst>
              <a:path w="27" h="795">
                <a:moveTo>
                  <a:pt x="0" y="0"/>
                </a:moveTo>
                <a:lnTo>
                  <a:pt x="27" y="0"/>
                </a:lnTo>
                <a:lnTo>
                  <a:pt x="27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2847960" y="348588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3476520" y="348588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6181560" y="348588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7696080" y="3485880"/>
            <a:ext cx="1648080" cy="10080"/>
          </a:xfrm>
          <a:custGeom>
            <a:avLst/>
            <a:gdLst/>
            <a:ah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 txBox="1"/>
          <p:nvPr/>
        </p:nvSpPr>
        <p:spPr>
          <a:xfrm>
            <a:off x="38088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五、机制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 txBox="1"/>
          <p:nvPr/>
        </p:nvSpPr>
        <p:spPr>
          <a:xfrm>
            <a:off x="18763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识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 txBox="1"/>
          <p:nvPr/>
        </p:nvSpPr>
        <p:spPr>
          <a:xfrm>
            <a:off x="2250360" y="929880"/>
            <a:ext cx="25290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别：三条渠道的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 txBox="1"/>
          <p:nvPr/>
        </p:nvSpPr>
        <p:spPr>
          <a:xfrm>
            <a:off x="4867200" y="874440"/>
            <a:ext cx="108432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实证证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 txBox="1"/>
          <p:nvPr/>
        </p:nvSpPr>
        <p:spPr>
          <a:xfrm>
            <a:off x="5988960" y="929880"/>
            <a:ext cx="3618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 txBox="1"/>
          <p:nvPr/>
        </p:nvSpPr>
        <p:spPr>
          <a:xfrm>
            <a:off x="299124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渠道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 txBox="1"/>
          <p:nvPr/>
        </p:nvSpPr>
        <p:spPr>
          <a:xfrm>
            <a:off x="4483080" y="15696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代理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 txBox="1"/>
          <p:nvPr/>
        </p:nvSpPr>
        <p:spPr>
          <a:xfrm>
            <a:off x="482652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变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 txBox="1"/>
          <p:nvPr/>
        </p:nvSpPr>
        <p:spPr>
          <a:xfrm>
            <a:off x="499860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 txBox="1"/>
          <p:nvPr/>
        </p:nvSpPr>
        <p:spPr>
          <a:xfrm>
            <a:off x="6318720" y="1569600"/>
            <a:ext cx="970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L.Fintech </a:t>
            </a:r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系数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 txBox="1"/>
          <p:nvPr/>
        </p:nvSpPr>
        <p:spPr>
          <a:xfrm>
            <a:off x="8341200" y="15696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含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 txBox="1"/>
          <p:nvPr/>
        </p:nvSpPr>
        <p:spPr>
          <a:xfrm>
            <a:off x="8513280" y="15451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义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 txBox="1"/>
          <p:nvPr/>
        </p:nvSpPr>
        <p:spPr>
          <a:xfrm>
            <a:off x="2991240" y="18554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信息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 txBox="1"/>
          <p:nvPr/>
        </p:nvSpPr>
        <p:spPr>
          <a:xfrm>
            <a:off x="4171680" y="1855440"/>
            <a:ext cx="12142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信息披露指数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ICI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 txBox="1"/>
          <p:nvPr/>
        </p:nvSpPr>
        <p:spPr>
          <a:xfrm>
            <a:off x="6675480" y="185544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 txBox="1"/>
          <p:nvPr/>
        </p:nvSpPr>
        <p:spPr>
          <a:xfrm>
            <a:off x="7033680" y="185544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 txBox="1"/>
          <p:nvPr/>
        </p:nvSpPr>
        <p:spPr>
          <a:xfrm>
            <a:off x="7826040" y="1855440"/>
            <a:ext cx="1280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提升信息披露水平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 txBox="1"/>
          <p:nvPr/>
        </p:nvSpPr>
        <p:spPr>
          <a:xfrm>
            <a:off x="3946320" y="213192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正面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 txBox="1"/>
          <p:nvPr/>
        </p:nvSpPr>
        <p:spPr>
          <a:xfrm>
            <a:off x="429012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 txBox="1"/>
          <p:nvPr/>
        </p:nvSpPr>
        <p:spPr>
          <a:xfrm>
            <a:off x="4461840" y="2131920"/>
            <a:ext cx="1068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道占比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Positive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 txBox="1"/>
          <p:nvPr/>
        </p:nvSpPr>
        <p:spPr>
          <a:xfrm>
            <a:off x="6675480" y="213192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 txBox="1"/>
          <p:nvPr/>
        </p:nvSpPr>
        <p:spPr>
          <a:xfrm>
            <a:off x="7033680" y="213192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 txBox="1"/>
          <p:nvPr/>
        </p:nvSpPr>
        <p:spPr>
          <a:xfrm>
            <a:off x="7826040" y="213192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改善市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 txBox="1"/>
          <p:nvPr/>
        </p:nvSpPr>
        <p:spPr>
          <a:xfrm>
            <a:off x="8341560" y="210744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场积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 txBox="1"/>
          <p:nvPr/>
        </p:nvSpPr>
        <p:spPr>
          <a:xfrm>
            <a:off x="868500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 txBox="1"/>
          <p:nvPr/>
        </p:nvSpPr>
        <p:spPr>
          <a:xfrm>
            <a:off x="8857080" y="210744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 txBox="1"/>
          <p:nvPr/>
        </p:nvSpPr>
        <p:spPr>
          <a:xfrm>
            <a:off x="9028800" y="213192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 txBox="1"/>
          <p:nvPr/>
        </p:nvSpPr>
        <p:spPr>
          <a:xfrm>
            <a:off x="2991240" y="23929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 txBox="1"/>
          <p:nvPr/>
        </p:nvSpPr>
        <p:spPr>
          <a:xfrm>
            <a:off x="4353120" y="241740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 txBox="1"/>
          <p:nvPr/>
        </p:nvSpPr>
        <p:spPr>
          <a:xfrm>
            <a:off x="4524840" y="23929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动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 txBox="1"/>
          <p:nvPr/>
        </p:nvSpPr>
        <p:spPr>
          <a:xfrm>
            <a:off x="4696560" y="2417400"/>
            <a:ext cx="562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比率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LR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 txBox="1"/>
          <p:nvPr/>
        </p:nvSpPr>
        <p:spPr>
          <a:xfrm>
            <a:off x="6718680" y="241740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 txBox="1"/>
          <p:nvPr/>
        </p:nvSpPr>
        <p:spPr>
          <a:xfrm>
            <a:off x="7077240" y="2417400"/>
            <a:ext cx="1602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 txBox="1"/>
          <p:nvPr/>
        </p:nvSpPr>
        <p:spPr>
          <a:xfrm>
            <a:off x="799776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提升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 txBox="1"/>
          <p:nvPr/>
        </p:nvSpPr>
        <p:spPr>
          <a:xfrm>
            <a:off x="8341560" y="239292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偿债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 txBox="1"/>
          <p:nvPr/>
        </p:nvSpPr>
        <p:spPr>
          <a:xfrm>
            <a:off x="8685000" y="24174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能力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 txBox="1"/>
          <p:nvPr/>
        </p:nvSpPr>
        <p:spPr>
          <a:xfrm>
            <a:off x="3611160" y="2703240"/>
            <a:ext cx="801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利息支出占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 txBox="1"/>
          <p:nvPr/>
        </p:nvSpPr>
        <p:spPr>
          <a:xfrm>
            <a:off x="4470480" y="2678760"/>
            <a:ext cx="480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总负债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 txBox="1"/>
          <p:nvPr/>
        </p:nvSpPr>
        <p:spPr>
          <a:xfrm>
            <a:off x="4985640" y="2703240"/>
            <a:ext cx="912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比重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Interest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 txBox="1"/>
          <p:nvPr/>
        </p:nvSpPr>
        <p:spPr>
          <a:xfrm>
            <a:off x="6524280" y="2703240"/>
            <a:ext cx="682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−0.001***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 txBox="1"/>
          <p:nvPr/>
        </p:nvSpPr>
        <p:spPr>
          <a:xfrm>
            <a:off x="7997760" y="270324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降低融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 txBox="1"/>
          <p:nvPr/>
        </p:nvSpPr>
        <p:spPr>
          <a:xfrm>
            <a:off x="8513280" y="267876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 txBox="1"/>
          <p:nvPr/>
        </p:nvSpPr>
        <p:spPr>
          <a:xfrm>
            <a:off x="8685000" y="270324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 txBox="1"/>
          <p:nvPr/>
        </p:nvSpPr>
        <p:spPr>
          <a:xfrm>
            <a:off x="299124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 txBox="1"/>
          <p:nvPr/>
        </p:nvSpPr>
        <p:spPr>
          <a:xfrm>
            <a:off x="3162960" y="295488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 txBox="1"/>
          <p:nvPr/>
        </p:nvSpPr>
        <p:spPr>
          <a:xfrm>
            <a:off x="4178160" y="2979360"/>
            <a:ext cx="160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 txBox="1"/>
          <p:nvPr/>
        </p:nvSpPr>
        <p:spPr>
          <a:xfrm>
            <a:off x="4349880" y="295488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 txBox="1"/>
          <p:nvPr/>
        </p:nvSpPr>
        <p:spPr>
          <a:xfrm>
            <a:off x="4693680" y="2979360"/>
            <a:ext cx="732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置能力 </a:t>
            </a:r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RT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 txBox="1"/>
          <p:nvPr/>
        </p:nvSpPr>
        <p:spPr>
          <a:xfrm>
            <a:off x="6675480" y="2979360"/>
            <a:ext cx="15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 txBox="1"/>
          <p:nvPr/>
        </p:nvSpPr>
        <p:spPr>
          <a:xfrm>
            <a:off x="7033680" y="2979360"/>
            <a:ext cx="239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***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 txBox="1"/>
          <p:nvPr/>
        </p:nvSpPr>
        <p:spPr>
          <a:xfrm>
            <a:off x="7826040" y="29793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提升风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 txBox="1"/>
          <p:nvPr/>
        </p:nvSpPr>
        <p:spPr>
          <a:xfrm>
            <a:off x="8341560" y="2954880"/>
            <a:ext cx="32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 txBox="1"/>
          <p:nvPr/>
        </p:nvSpPr>
        <p:spPr>
          <a:xfrm>
            <a:off x="8685000" y="2979360"/>
            <a:ext cx="480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置能力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 txBox="1"/>
          <p:nvPr/>
        </p:nvSpPr>
        <p:spPr>
          <a:xfrm>
            <a:off x="437292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 txBox="1"/>
          <p:nvPr/>
        </p:nvSpPr>
        <p:spPr>
          <a:xfrm>
            <a:off x="4545000" y="32652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 txBox="1"/>
          <p:nvPr/>
        </p:nvSpPr>
        <p:spPr>
          <a:xfrm>
            <a:off x="488844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 txBox="1"/>
          <p:nvPr/>
        </p:nvSpPr>
        <p:spPr>
          <a:xfrm>
            <a:off x="5060520" y="3265200"/>
            <a:ext cx="1612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IR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 txBox="1"/>
          <p:nvPr/>
        </p:nvSpPr>
        <p:spPr>
          <a:xfrm>
            <a:off x="6567480" y="3265200"/>
            <a:ext cx="603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−0.031**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 txBox="1"/>
          <p:nvPr/>
        </p:nvSpPr>
        <p:spPr>
          <a:xfrm>
            <a:off x="7997760" y="32652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抑制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 txBox="1"/>
          <p:nvPr/>
        </p:nvSpPr>
        <p:spPr>
          <a:xfrm>
            <a:off x="834156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创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 txBox="1"/>
          <p:nvPr/>
        </p:nvSpPr>
        <p:spPr>
          <a:xfrm>
            <a:off x="8513280" y="3265200"/>
            <a:ext cx="320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新风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 txBox="1"/>
          <p:nvPr/>
        </p:nvSpPr>
        <p:spPr>
          <a:xfrm>
            <a:off x="8856720" y="3240720"/>
            <a:ext cx="160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26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 txBox="1"/>
          <p:nvPr/>
        </p:nvSpPr>
        <p:spPr>
          <a:xfrm>
            <a:off x="380880" y="380664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三条渠道同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 txBox="1"/>
          <p:nvPr/>
        </p:nvSpPr>
        <p:spPr>
          <a:xfrm>
            <a:off x="1774080" y="3765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 txBox="1"/>
          <p:nvPr/>
        </p:nvSpPr>
        <p:spPr>
          <a:xfrm>
            <a:off x="2052720" y="3806640"/>
            <a:ext cx="320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成立，由此打开了金融科技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 txBox="1"/>
          <p:nvPr/>
        </p:nvSpPr>
        <p:spPr>
          <a:xfrm>
            <a:off x="5396040" y="37659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驱动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 txBox="1"/>
          <p:nvPr/>
        </p:nvSpPr>
        <p:spPr>
          <a:xfrm>
            <a:off x="5952960" y="38066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 txBox="1"/>
          <p:nvPr/>
        </p:nvSpPr>
        <p:spPr>
          <a:xfrm>
            <a:off x="6231600" y="3765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 txBox="1"/>
          <p:nvPr/>
        </p:nvSpPr>
        <p:spPr>
          <a:xfrm>
            <a:off x="6510240" y="380664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 txBox="1"/>
          <p:nvPr/>
        </p:nvSpPr>
        <p:spPr>
          <a:xfrm>
            <a:off x="7346160" y="37659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 txBox="1"/>
          <p:nvPr/>
        </p:nvSpPr>
        <p:spPr>
          <a:xfrm>
            <a:off x="7624800" y="380664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型的机制黑箱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380880" y="6210000"/>
            <a:ext cx="7944120" cy="10440"/>
          </a:xfrm>
          <a:custGeom>
            <a:avLst/>
            <a:gdLst/>
            <a:ahLst/>
            <a:rect l="0" t="0" r="r" b="b"/>
            <a:pathLst>
              <a:path w="22067" h="29">
                <a:moveTo>
                  <a:pt x="0" y="0"/>
                </a:moveTo>
                <a:lnTo>
                  <a:pt x="79" y="0"/>
                </a:lnTo>
                <a:lnTo>
                  <a:pt x="79" y="29"/>
                </a:lnTo>
                <a:lnTo>
                  <a:pt x="0" y="29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9"/>
                </a:lnTo>
                <a:lnTo>
                  <a:pt x="132" y="29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9"/>
                </a:lnTo>
                <a:lnTo>
                  <a:pt x="397" y="29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9"/>
                </a:lnTo>
                <a:lnTo>
                  <a:pt x="530" y="29"/>
                </a:lnTo>
                <a:lnTo>
                  <a:pt x="530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9"/>
                </a:lnTo>
                <a:lnTo>
                  <a:pt x="662" y="29"/>
                </a:lnTo>
                <a:lnTo>
                  <a:pt x="662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9"/>
                </a:lnTo>
                <a:lnTo>
                  <a:pt x="795" y="29"/>
                </a:lnTo>
                <a:lnTo>
                  <a:pt x="795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9"/>
                </a:lnTo>
                <a:lnTo>
                  <a:pt x="927" y="29"/>
                </a:lnTo>
                <a:lnTo>
                  <a:pt x="927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9"/>
                </a:lnTo>
                <a:lnTo>
                  <a:pt x="1059" y="29"/>
                </a:lnTo>
                <a:lnTo>
                  <a:pt x="1059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9"/>
                </a:lnTo>
                <a:lnTo>
                  <a:pt x="1192" y="29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9"/>
                </a:lnTo>
                <a:lnTo>
                  <a:pt x="1324" y="29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9"/>
                </a:lnTo>
                <a:lnTo>
                  <a:pt x="1457" y="29"/>
                </a:lnTo>
                <a:lnTo>
                  <a:pt x="1457" y="0"/>
                </a:lnTo>
                <a:moveTo>
                  <a:pt x="1589" y="0"/>
                </a:moveTo>
                <a:lnTo>
                  <a:pt x="1669" y="0"/>
                </a:lnTo>
                <a:lnTo>
                  <a:pt x="1669" y="29"/>
                </a:lnTo>
                <a:lnTo>
                  <a:pt x="1589" y="29"/>
                </a:lnTo>
                <a:lnTo>
                  <a:pt x="1589" y="0"/>
                </a:lnTo>
                <a:moveTo>
                  <a:pt x="1722" y="0"/>
                </a:moveTo>
                <a:lnTo>
                  <a:pt x="1801" y="0"/>
                </a:lnTo>
                <a:lnTo>
                  <a:pt x="1801" y="29"/>
                </a:lnTo>
                <a:lnTo>
                  <a:pt x="1722" y="29"/>
                </a:lnTo>
                <a:lnTo>
                  <a:pt x="1722" y="0"/>
                </a:lnTo>
                <a:moveTo>
                  <a:pt x="1854" y="0"/>
                </a:moveTo>
                <a:lnTo>
                  <a:pt x="1934" y="0"/>
                </a:lnTo>
                <a:lnTo>
                  <a:pt x="1934" y="29"/>
                </a:lnTo>
                <a:lnTo>
                  <a:pt x="1854" y="29"/>
                </a:lnTo>
                <a:lnTo>
                  <a:pt x="1854" y="0"/>
                </a:lnTo>
                <a:moveTo>
                  <a:pt x="1987" y="0"/>
                </a:moveTo>
                <a:lnTo>
                  <a:pt x="2066" y="0"/>
                </a:lnTo>
                <a:lnTo>
                  <a:pt x="2066" y="29"/>
                </a:lnTo>
                <a:lnTo>
                  <a:pt x="1987" y="29"/>
                </a:lnTo>
                <a:lnTo>
                  <a:pt x="1987" y="0"/>
                </a:lnTo>
                <a:moveTo>
                  <a:pt x="2119" y="0"/>
                </a:moveTo>
                <a:lnTo>
                  <a:pt x="2198" y="0"/>
                </a:lnTo>
                <a:lnTo>
                  <a:pt x="2198" y="29"/>
                </a:lnTo>
                <a:lnTo>
                  <a:pt x="2119" y="29"/>
                </a:lnTo>
                <a:lnTo>
                  <a:pt x="2119" y="0"/>
                </a:lnTo>
                <a:moveTo>
                  <a:pt x="2252" y="0"/>
                </a:moveTo>
                <a:lnTo>
                  <a:pt x="2331" y="0"/>
                </a:lnTo>
                <a:lnTo>
                  <a:pt x="2331" y="29"/>
                </a:lnTo>
                <a:lnTo>
                  <a:pt x="2252" y="29"/>
                </a:lnTo>
                <a:lnTo>
                  <a:pt x="2252" y="0"/>
                </a:lnTo>
                <a:moveTo>
                  <a:pt x="2384" y="0"/>
                </a:moveTo>
                <a:lnTo>
                  <a:pt x="2463" y="0"/>
                </a:lnTo>
                <a:lnTo>
                  <a:pt x="2463" y="29"/>
                </a:lnTo>
                <a:lnTo>
                  <a:pt x="2384" y="29"/>
                </a:lnTo>
                <a:lnTo>
                  <a:pt x="2384" y="0"/>
                </a:lnTo>
                <a:moveTo>
                  <a:pt x="2516" y="0"/>
                </a:moveTo>
                <a:lnTo>
                  <a:pt x="2596" y="0"/>
                </a:lnTo>
                <a:lnTo>
                  <a:pt x="2596" y="29"/>
                </a:lnTo>
                <a:lnTo>
                  <a:pt x="2516" y="29"/>
                </a:lnTo>
                <a:lnTo>
                  <a:pt x="2516" y="0"/>
                </a:lnTo>
                <a:moveTo>
                  <a:pt x="2649" y="0"/>
                </a:moveTo>
                <a:lnTo>
                  <a:pt x="2728" y="0"/>
                </a:lnTo>
                <a:lnTo>
                  <a:pt x="2728" y="29"/>
                </a:lnTo>
                <a:lnTo>
                  <a:pt x="2649" y="29"/>
                </a:lnTo>
                <a:lnTo>
                  <a:pt x="2649" y="0"/>
                </a:lnTo>
                <a:moveTo>
                  <a:pt x="2781" y="0"/>
                </a:moveTo>
                <a:lnTo>
                  <a:pt x="2861" y="0"/>
                </a:lnTo>
                <a:lnTo>
                  <a:pt x="2861" y="29"/>
                </a:lnTo>
                <a:lnTo>
                  <a:pt x="2781" y="29"/>
                </a:lnTo>
                <a:lnTo>
                  <a:pt x="2781" y="0"/>
                </a:lnTo>
                <a:moveTo>
                  <a:pt x="2914" y="0"/>
                </a:moveTo>
                <a:lnTo>
                  <a:pt x="2993" y="0"/>
                </a:lnTo>
                <a:lnTo>
                  <a:pt x="2993" y="29"/>
                </a:lnTo>
                <a:lnTo>
                  <a:pt x="2914" y="29"/>
                </a:lnTo>
                <a:lnTo>
                  <a:pt x="2914" y="0"/>
                </a:lnTo>
                <a:moveTo>
                  <a:pt x="3046" y="0"/>
                </a:moveTo>
                <a:lnTo>
                  <a:pt x="3126" y="0"/>
                </a:lnTo>
                <a:lnTo>
                  <a:pt x="3126" y="29"/>
                </a:lnTo>
                <a:lnTo>
                  <a:pt x="3046" y="29"/>
                </a:lnTo>
                <a:lnTo>
                  <a:pt x="3046" y="0"/>
                </a:lnTo>
                <a:moveTo>
                  <a:pt x="3179" y="0"/>
                </a:moveTo>
                <a:lnTo>
                  <a:pt x="3258" y="0"/>
                </a:lnTo>
                <a:lnTo>
                  <a:pt x="3258" y="29"/>
                </a:lnTo>
                <a:lnTo>
                  <a:pt x="3179" y="29"/>
                </a:lnTo>
                <a:lnTo>
                  <a:pt x="3179" y="0"/>
                </a:lnTo>
                <a:moveTo>
                  <a:pt x="3311" y="0"/>
                </a:moveTo>
                <a:lnTo>
                  <a:pt x="3390" y="0"/>
                </a:lnTo>
                <a:lnTo>
                  <a:pt x="3390" y="29"/>
                </a:lnTo>
                <a:lnTo>
                  <a:pt x="3311" y="29"/>
                </a:lnTo>
                <a:lnTo>
                  <a:pt x="3311" y="0"/>
                </a:lnTo>
                <a:moveTo>
                  <a:pt x="3444" y="0"/>
                </a:moveTo>
                <a:lnTo>
                  <a:pt x="3523" y="0"/>
                </a:lnTo>
                <a:lnTo>
                  <a:pt x="3523" y="29"/>
                </a:lnTo>
                <a:lnTo>
                  <a:pt x="3444" y="29"/>
                </a:lnTo>
                <a:lnTo>
                  <a:pt x="3444" y="0"/>
                </a:lnTo>
                <a:moveTo>
                  <a:pt x="3576" y="0"/>
                </a:moveTo>
                <a:lnTo>
                  <a:pt x="3655" y="0"/>
                </a:lnTo>
                <a:lnTo>
                  <a:pt x="3655" y="29"/>
                </a:lnTo>
                <a:lnTo>
                  <a:pt x="3576" y="29"/>
                </a:lnTo>
                <a:lnTo>
                  <a:pt x="3576" y="0"/>
                </a:lnTo>
                <a:moveTo>
                  <a:pt x="3708" y="0"/>
                </a:moveTo>
                <a:lnTo>
                  <a:pt x="3788" y="0"/>
                </a:lnTo>
                <a:lnTo>
                  <a:pt x="3788" y="29"/>
                </a:lnTo>
                <a:lnTo>
                  <a:pt x="3708" y="29"/>
                </a:lnTo>
                <a:lnTo>
                  <a:pt x="3708" y="0"/>
                </a:lnTo>
                <a:moveTo>
                  <a:pt x="3841" y="0"/>
                </a:moveTo>
                <a:lnTo>
                  <a:pt x="3920" y="0"/>
                </a:lnTo>
                <a:lnTo>
                  <a:pt x="3920" y="29"/>
                </a:lnTo>
                <a:lnTo>
                  <a:pt x="3841" y="29"/>
                </a:lnTo>
                <a:lnTo>
                  <a:pt x="3841" y="0"/>
                </a:lnTo>
                <a:moveTo>
                  <a:pt x="3973" y="0"/>
                </a:moveTo>
                <a:lnTo>
                  <a:pt x="4053" y="0"/>
                </a:lnTo>
                <a:lnTo>
                  <a:pt x="4053" y="29"/>
                </a:lnTo>
                <a:lnTo>
                  <a:pt x="3973" y="29"/>
                </a:lnTo>
                <a:lnTo>
                  <a:pt x="3973" y="0"/>
                </a:lnTo>
                <a:moveTo>
                  <a:pt x="4106" y="0"/>
                </a:moveTo>
                <a:lnTo>
                  <a:pt x="4185" y="0"/>
                </a:lnTo>
                <a:lnTo>
                  <a:pt x="4185" y="29"/>
                </a:lnTo>
                <a:lnTo>
                  <a:pt x="4106" y="29"/>
                </a:lnTo>
                <a:lnTo>
                  <a:pt x="4106" y="0"/>
                </a:lnTo>
                <a:moveTo>
                  <a:pt x="4238" y="0"/>
                </a:moveTo>
                <a:lnTo>
                  <a:pt x="4318" y="0"/>
                </a:lnTo>
                <a:lnTo>
                  <a:pt x="4318" y="29"/>
                </a:lnTo>
                <a:lnTo>
                  <a:pt x="4238" y="29"/>
                </a:lnTo>
                <a:lnTo>
                  <a:pt x="4238" y="0"/>
                </a:lnTo>
                <a:moveTo>
                  <a:pt x="4371" y="0"/>
                </a:moveTo>
                <a:lnTo>
                  <a:pt x="4450" y="0"/>
                </a:lnTo>
                <a:lnTo>
                  <a:pt x="4450" y="29"/>
                </a:lnTo>
                <a:lnTo>
                  <a:pt x="4371" y="29"/>
                </a:lnTo>
                <a:lnTo>
                  <a:pt x="4371" y="0"/>
                </a:lnTo>
                <a:moveTo>
                  <a:pt x="4503" y="0"/>
                </a:moveTo>
                <a:lnTo>
                  <a:pt x="4583" y="0"/>
                </a:lnTo>
                <a:lnTo>
                  <a:pt x="4583" y="29"/>
                </a:lnTo>
                <a:lnTo>
                  <a:pt x="4503" y="29"/>
                </a:lnTo>
                <a:lnTo>
                  <a:pt x="4503" y="0"/>
                </a:lnTo>
                <a:moveTo>
                  <a:pt x="4636" y="0"/>
                </a:moveTo>
                <a:lnTo>
                  <a:pt x="4715" y="0"/>
                </a:lnTo>
                <a:lnTo>
                  <a:pt x="4715" y="29"/>
                </a:lnTo>
                <a:lnTo>
                  <a:pt x="4636" y="29"/>
                </a:lnTo>
                <a:lnTo>
                  <a:pt x="4636" y="0"/>
                </a:lnTo>
                <a:moveTo>
                  <a:pt x="4768" y="0"/>
                </a:moveTo>
                <a:lnTo>
                  <a:pt x="4847" y="0"/>
                </a:lnTo>
                <a:lnTo>
                  <a:pt x="4847" y="29"/>
                </a:lnTo>
                <a:lnTo>
                  <a:pt x="4768" y="29"/>
                </a:lnTo>
                <a:lnTo>
                  <a:pt x="4768" y="0"/>
                </a:lnTo>
                <a:moveTo>
                  <a:pt x="4901" y="0"/>
                </a:moveTo>
                <a:lnTo>
                  <a:pt x="4980" y="0"/>
                </a:lnTo>
                <a:lnTo>
                  <a:pt x="4980" y="29"/>
                </a:lnTo>
                <a:lnTo>
                  <a:pt x="4901" y="29"/>
                </a:lnTo>
                <a:lnTo>
                  <a:pt x="4901" y="0"/>
                </a:lnTo>
                <a:moveTo>
                  <a:pt x="5033" y="0"/>
                </a:moveTo>
                <a:lnTo>
                  <a:pt x="5112" y="0"/>
                </a:lnTo>
                <a:lnTo>
                  <a:pt x="5112" y="29"/>
                </a:lnTo>
                <a:lnTo>
                  <a:pt x="5033" y="29"/>
                </a:lnTo>
                <a:lnTo>
                  <a:pt x="5033" y="0"/>
                </a:lnTo>
                <a:moveTo>
                  <a:pt x="5165" y="0"/>
                </a:moveTo>
                <a:lnTo>
                  <a:pt x="5245" y="0"/>
                </a:lnTo>
                <a:lnTo>
                  <a:pt x="5245" y="29"/>
                </a:lnTo>
                <a:lnTo>
                  <a:pt x="5165" y="29"/>
                </a:lnTo>
                <a:lnTo>
                  <a:pt x="5165" y="0"/>
                </a:lnTo>
                <a:moveTo>
                  <a:pt x="5298" y="0"/>
                </a:moveTo>
                <a:lnTo>
                  <a:pt x="5377" y="0"/>
                </a:lnTo>
                <a:lnTo>
                  <a:pt x="5377" y="29"/>
                </a:lnTo>
                <a:lnTo>
                  <a:pt x="5298" y="29"/>
                </a:lnTo>
                <a:lnTo>
                  <a:pt x="5298" y="0"/>
                </a:lnTo>
                <a:moveTo>
                  <a:pt x="5430" y="0"/>
                </a:moveTo>
                <a:lnTo>
                  <a:pt x="5510" y="0"/>
                </a:lnTo>
                <a:lnTo>
                  <a:pt x="5510" y="29"/>
                </a:lnTo>
                <a:lnTo>
                  <a:pt x="5430" y="29"/>
                </a:lnTo>
                <a:lnTo>
                  <a:pt x="5430" y="0"/>
                </a:lnTo>
                <a:moveTo>
                  <a:pt x="5563" y="0"/>
                </a:moveTo>
                <a:lnTo>
                  <a:pt x="5642" y="0"/>
                </a:lnTo>
                <a:lnTo>
                  <a:pt x="5642" y="29"/>
                </a:lnTo>
                <a:lnTo>
                  <a:pt x="5563" y="29"/>
                </a:lnTo>
                <a:lnTo>
                  <a:pt x="5563" y="0"/>
                </a:lnTo>
                <a:moveTo>
                  <a:pt x="5695" y="0"/>
                </a:moveTo>
                <a:lnTo>
                  <a:pt x="5775" y="0"/>
                </a:lnTo>
                <a:lnTo>
                  <a:pt x="5775" y="29"/>
                </a:lnTo>
                <a:lnTo>
                  <a:pt x="5695" y="29"/>
                </a:lnTo>
                <a:lnTo>
                  <a:pt x="5695" y="0"/>
                </a:lnTo>
                <a:moveTo>
                  <a:pt x="5828" y="0"/>
                </a:moveTo>
                <a:lnTo>
                  <a:pt x="5907" y="0"/>
                </a:lnTo>
                <a:lnTo>
                  <a:pt x="5907" y="29"/>
                </a:lnTo>
                <a:lnTo>
                  <a:pt x="5828" y="29"/>
                </a:lnTo>
                <a:lnTo>
                  <a:pt x="5828" y="0"/>
                </a:lnTo>
                <a:moveTo>
                  <a:pt x="5960" y="0"/>
                </a:moveTo>
                <a:lnTo>
                  <a:pt x="6040" y="0"/>
                </a:lnTo>
                <a:lnTo>
                  <a:pt x="6040" y="29"/>
                </a:lnTo>
                <a:lnTo>
                  <a:pt x="5960" y="29"/>
                </a:lnTo>
                <a:lnTo>
                  <a:pt x="5960" y="0"/>
                </a:lnTo>
                <a:moveTo>
                  <a:pt x="6093" y="0"/>
                </a:moveTo>
                <a:lnTo>
                  <a:pt x="6172" y="0"/>
                </a:lnTo>
                <a:lnTo>
                  <a:pt x="6172" y="29"/>
                </a:lnTo>
                <a:lnTo>
                  <a:pt x="6093" y="29"/>
                </a:lnTo>
                <a:lnTo>
                  <a:pt x="6093" y="0"/>
                </a:lnTo>
                <a:moveTo>
                  <a:pt x="6225" y="0"/>
                </a:moveTo>
                <a:lnTo>
                  <a:pt x="6304" y="0"/>
                </a:lnTo>
                <a:lnTo>
                  <a:pt x="6304" y="29"/>
                </a:lnTo>
                <a:lnTo>
                  <a:pt x="6225" y="29"/>
                </a:lnTo>
                <a:lnTo>
                  <a:pt x="6225" y="0"/>
                </a:lnTo>
                <a:moveTo>
                  <a:pt x="6357" y="0"/>
                </a:moveTo>
                <a:lnTo>
                  <a:pt x="6437" y="0"/>
                </a:lnTo>
                <a:lnTo>
                  <a:pt x="6437" y="29"/>
                </a:lnTo>
                <a:lnTo>
                  <a:pt x="6357" y="29"/>
                </a:lnTo>
                <a:lnTo>
                  <a:pt x="6357" y="0"/>
                </a:lnTo>
                <a:moveTo>
                  <a:pt x="6490" y="0"/>
                </a:moveTo>
                <a:lnTo>
                  <a:pt x="6569" y="0"/>
                </a:lnTo>
                <a:lnTo>
                  <a:pt x="6569" y="29"/>
                </a:lnTo>
                <a:lnTo>
                  <a:pt x="6490" y="29"/>
                </a:lnTo>
                <a:lnTo>
                  <a:pt x="6490" y="0"/>
                </a:lnTo>
                <a:moveTo>
                  <a:pt x="6622" y="0"/>
                </a:moveTo>
                <a:lnTo>
                  <a:pt x="6702" y="0"/>
                </a:lnTo>
                <a:lnTo>
                  <a:pt x="6702" y="29"/>
                </a:lnTo>
                <a:lnTo>
                  <a:pt x="6622" y="29"/>
                </a:lnTo>
                <a:lnTo>
                  <a:pt x="6622" y="0"/>
                </a:lnTo>
                <a:moveTo>
                  <a:pt x="6755" y="0"/>
                </a:moveTo>
                <a:lnTo>
                  <a:pt x="6834" y="0"/>
                </a:lnTo>
                <a:lnTo>
                  <a:pt x="6834" y="29"/>
                </a:lnTo>
                <a:lnTo>
                  <a:pt x="6755" y="29"/>
                </a:lnTo>
                <a:lnTo>
                  <a:pt x="6755" y="0"/>
                </a:lnTo>
                <a:moveTo>
                  <a:pt x="6887" y="0"/>
                </a:moveTo>
                <a:lnTo>
                  <a:pt x="6967" y="0"/>
                </a:lnTo>
                <a:lnTo>
                  <a:pt x="6967" y="29"/>
                </a:lnTo>
                <a:lnTo>
                  <a:pt x="6887" y="29"/>
                </a:lnTo>
                <a:lnTo>
                  <a:pt x="6887" y="0"/>
                </a:lnTo>
                <a:moveTo>
                  <a:pt x="7020" y="0"/>
                </a:moveTo>
                <a:lnTo>
                  <a:pt x="7099" y="0"/>
                </a:lnTo>
                <a:lnTo>
                  <a:pt x="7099" y="29"/>
                </a:lnTo>
                <a:lnTo>
                  <a:pt x="7020" y="29"/>
                </a:lnTo>
                <a:lnTo>
                  <a:pt x="7020" y="0"/>
                </a:lnTo>
                <a:moveTo>
                  <a:pt x="7152" y="0"/>
                </a:moveTo>
                <a:lnTo>
                  <a:pt x="7232" y="0"/>
                </a:lnTo>
                <a:lnTo>
                  <a:pt x="7232" y="29"/>
                </a:lnTo>
                <a:lnTo>
                  <a:pt x="7152" y="29"/>
                </a:lnTo>
                <a:lnTo>
                  <a:pt x="7152" y="0"/>
                </a:lnTo>
                <a:moveTo>
                  <a:pt x="7285" y="0"/>
                </a:moveTo>
                <a:lnTo>
                  <a:pt x="7364" y="0"/>
                </a:lnTo>
                <a:lnTo>
                  <a:pt x="7364" y="29"/>
                </a:lnTo>
                <a:lnTo>
                  <a:pt x="7285" y="29"/>
                </a:lnTo>
                <a:lnTo>
                  <a:pt x="7285" y="0"/>
                </a:lnTo>
                <a:moveTo>
                  <a:pt x="7417" y="0"/>
                </a:moveTo>
                <a:lnTo>
                  <a:pt x="7496" y="0"/>
                </a:lnTo>
                <a:lnTo>
                  <a:pt x="7496" y="29"/>
                </a:lnTo>
                <a:lnTo>
                  <a:pt x="7417" y="29"/>
                </a:lnTo>
                <a:lnTo>
                  <a:pt x="7417" y="0"/>
                </a:lnTo>
                <a:moveTo>
                  <a:pt x="7550" y="0"/>
                </a:moveTo>
                <a:lnTo>
                  <a:pt x="7629" y="0"/>
                </a:lnTo>
                <a:lnTo>
                  <a:pt x="7629" y="29"/>
                </a:lnTo>
                <a:lnTo>
                  <a:pt x="7550" y="29"/>
                </a:lnTo>
                <a:lnTo>
                  <a:pt x="7550" y="0"/>
                </a:lnTo>
                <a:moveTo>
                  <a:pt x="7682" y="0"/>
                </a:moveTo>
                <a:lnTo>
                  <a:pt x="7761" y="0"/>
                </a:lnTo>
                <a:lnTo>
                  <a:pt x="7761" y="29"/>
                </a:lnTo>
                <a:lnTo>
                  <a:pt x="7682" y="29"/>
                </a:lnTo>
                <a:lnTo>
                  <a:pt x="7682" y="0"/>
                </a:lnTo>
                <a:moveTo>
                  <a:pt x="7814" y="0"/>
                </a:moveTo>
                <a:lnTo>
                  <a:pt x="7894" y="0"/>
                </a:lnTo>
                <a:lnTo>
                  <a:pt x="7894" y="29"/>
                </a:lnTo>
                <a:lnTo>
                  <a:pt x="7814" y="29"/>
                </a:lnTo>
                <a:lnTo>
                  <a:pt x="7814" y="0"/>
                </a:lnTo>
                <a:moveTo>
                  <a:pt x="7947" y="0"/>
                </a:moveTo>
                <a:lnTo>
                  <a:pt x="8026" y="0"/>
                </a:lnTo>
                <a:lnTo>
                  <a:pt x="8026" y="29"/>
                </a:lnTo>
                <a:lnTo>
                  <a:pt x="7947" y="29"/>
                </a:lnTo>
                <a:lnTo>
                  <a:pt x="7947" y="0"/>
                </a:lnTo>
                <a:moveTo>
                  <a:pt x="8079" y="0"/>
                </a:moveTo>
                <a:lnTo>
                  <a:pt x="8159" y="0"/>
                </a:lnTo>
                <a:lnTo>
                  <a:pt x="8159" y="29"/>
                </a:lnTo>
                <a:lnTo>
                  <a:pt x="8079" y="29"/>
                </a:lnTo>
                <a:lnTo>
                  <a:pt x="8079" y="0"/>
                </a:lnTo>
                <a:moveTo>
                  <a:pt x="8212" y="0"/>
                </a:moveTo>
                <a:lnTo>
                  <a:pt x="8291" y="0"/>
                </a:lnTo>
                <a:lnTo>
                  <a:pt x="8291" y="29"/>
                </a:lnTo>
                <a:lnTo>
                  <a:pt x="8212" y="29"/>
                </a:lnTo>
                <a:lnTo>
                  <a:pt x="8212" y="0"/>
                </a:lnTo>
                <a:moveTo>
                  <a:pt x="8344" y="0"/>
                </a:moveTo>
                <a:lnTo>
                  <a:pt x="8424" y="0"/>
                </a:lnTo>
                <a:lnTo>
                  <a:pt x="8424" y="29"/>
                </a:lnTo>
                <a:lnTo>
                  <a:pt x="8344" y="29"/>
                </a:lnTo>
                <a:lnTo>
                  <a:pt x="8344" y="0"/>
                </a:lnTo>
                <a:moveTo>
                  <a:pt x="8477" y="0"/>
                </a:moveTo>
                <a:lnTo>
                  <a:pt x="8556" y="0"/>
                </a:lnTo>
                <a:lnTo>
                  <a:pt x="8556" y="29"/>
                </a:lnTo>
                <a:lnTo>
                  <a:pt x="8477" y="29"/>
                </a:lnTo>
                <a:lnTo>
                  <a:pt x="8477" y="0"/>
                </a:lnTo>
                <a:moveTo>
                  <a:pt x="8609" y="0"/>
                </a:moveTo>
                <a:lnTo>
                  <a:pt x="8689" y="0"/>
                </a:lnTo>
                <a:lnTo>
                  <a:pt x="8689" y="29"/>
                </a:lnTo>
                <a:lnTo>
                  <a:pt x="8609" y="29"/>
                </a:lnTo>
                <a:lnTo>
                  <a:pt x="8609" y="0"/>
                </a:lnTo>
                <a:moveTo>
                  <a:pt x="8742" y="0"/>
                </a:moveTo>
                <a:lnTo>
                  <a:pt x="8821" y="0"/>
                </a:lnTo>
                <a:lnTo>
                  <a:pt x="8821" y="29"/>
                </a:lnTo>
                <a:lnTo>
                  <a:pt x="8742" y="29"/>
                </a:lnTo>
                <a:lnTo>
                  <a:pt x="8742" y="0"/>
                </a:lnTo>
                <a:moveTo>
                  <a:pt x="8874" y="0"/>
                </a:moveTo>
                <a:lnTo>
                  <a:pt x="8953" y="0"/>
                </a:lnTo>
                <a:lnTo>
                  <a:pt x="8953" y="29"/>
                </a:lnTo>
                <a:lnTo>
                  <a:pt x="8874" y="29"/>
                </a:lnTo>
                <a:lnTo>
                  <a:pt x="8874" y="0"/>
                </a:lnTo>
                <a:moveTo>
                  <a:pt x="9007" y="0"/>
                </a:moveTo>
                <a:lnTo>
                  <a:pt x="9086" y="0"/>
                </a:lnTo>
                <a:lnTo>
                  <a:pt x="9086" y="29"/>
                </a:lnTo>
                <a:lnTo>
                  <a:pt x="9007" y="29"/>
                </a:lnTo>
                <a:lnTo>
                  <a:pt x="9007" y="0"/>
                </a:lnTo>
                <a:moveTo>
                  <a:pt x="9139" y="0"/>
                </a:moveTo>
                <a:lnTo>
                  <a:pt x="9218" y="0"/>
                </a:lnTo>
                <a:lnTo>
                  <a:pt x="9218" y="29"/>
                </a:lnTo>
                <a:lnTo>
                  <a:pt x="9139" y="29"/>
                </a:lnTo>
                <a:lnTo>
                  <a:pt x="9139" y="0"/>
                </a:lnTo>
                <a:moveTo>
                  <a:pt x="9271" y="0"/>
                </a:moveTo>
                <a:lnTo>
                  <a:pt x="9351" y="0"/>
                </a:lnTo>
                <a:lnTo>
                  <a:pt x="9351" y="29"/>
                </a:lnTo>
                <a:lnTo>
                  <a:pt x="9271" y="29"/>
                </a:lnTo>
                <a:lnTo>
                  <a:pt x="9271" y="0"/>
                </a:lnTo>
                <a:moveTo>
                  <a:pt x="9404" y="0"/>
                </a:moveTo>
                <a:lnTo>
                  <a:pt x="9483" y="0"/>
                </a:lnTo>
                <a:lnTo>
                  <a:pt x="9483" y="29"/>
                </a:lnTo>
                <a:lnTo>
                  <a:pt x="9404" y="29"/>
                </a:lnTo>
                <a:lnTo>
                  <a:pt x="9404" y="0"/>
                </a:lnTo>
                <a:moveTo>
                  <a:pt x="9536" y="0"/>
                </a:moveTo>
                <a:lnTo>
                  <a:pt x="9616" y="0"/>
                </a:lnTo>
                <a:lnTo>
                  <a:pt x="9616" y="29"/>
                </a:lnTo>
                <a:lnTo>
                  <a:pt x="9536" y="29"/>
                </a:lnTo>
                <a:lnTo>
                  <a:pt x="9536" y="0"/>
                </a:lnTo>
                <a:moveTo>
                  <a:pt x="9669" y="0"/>
                </a:moveTo>
                <a:lnTo>
                  <a:pt x="9748" y="0"/>
                </a:lnTo>
                <a:lnTo>
                  <a:pt x="9748" y="29"/>
                </a:lnTo>
                <a:lnTo>
                  <a:pt x="9669" y="29"/>
                </a:lnTo>
                <a:lnTo>
                  <a:pt x="9669" y="0"/>
                </a:lnTo>
                <a:moveTo>
                  <a:pt x="9801" y="0"/>
                </a:moveTo>
                <a:lnTo>
                  <a:pt x="9881" y="0"/>
                </a:lnTo>
                <a:lnTo>
                  <a:pt x="9881" y="29"/>
                </a:lnTo>
                <a:lnTo>
                  <a:pt x="9801" y="29"/>
                </a:lnTo>
                <a:lnTo>
                  <a:pt x="9801" y="0"/>
                </a:lnTo>
                <a:moveTo>
                  <a:pt x="9934" y="0"/>
                </a:moveTo>
                <a:lnTo>
                  <a:pt x="10014" y="0"/>
                </a:lnTo>
                <a:lnTo>
                  <a:pt x="10014" y="29"/>
                </a:lnTo>
                <a:lnTo>
                  <a:pt x="9934" y="29"/>
                </a:lnTo>
                <a:lnTo>
                  <a:pt x="9934" y="0"/>
                </a:lnTo>
                <a:moveTo>
                  <a:pt x="10067" y="0"/>
                </a:moveTo>
                <a:lnTo>
                  <a:pt x="10146" y="0"/>
                </a:lnTo>
                <a:lnTo>
                  <a:pt x="10146" y="29"/>
                </a:lnTo>
                <a:lnTo>
                  <a:pt x="10067" y="29"/>
                </a:lnTo>
                <a:lnTo>
                  <a:pt x="10067" y="0"/>
                </a:lnTo>
                <a:moveTo>
                  <a:pt x="10200" y="0"/>
                </a:moveTo>
                <a:lnTo>
                  <a:pt x="10279" y="0"/>
                </a:lnTo>
                <a:lnTo>
                  <a:pt x="10279" y="29"/>
                </a:lnTo>
                <a:lnTo>
                  <a:pt x="10200" y="29"/>
                </a:lnTo>
                <a:lnTo>
                  <a:pt x="10200" y="0"/>
                </a:lnTo>
                <a:moveTo>
                  <a:pt x="10332" y="0"/>
                </a:moveTo>
                <a:lnTo>
                  <a:pt x="10411" y="0"/>
                </a:lnTo>
                <a:lnTo>
                  <a:pt x="10411" y="29"/>
                </a:lnTo>
                <a:lnTo>
                  <a:pt x="10332" y="29"/>
                </a:lnTo>
                <a:lnTo>
                  <a:pt x="10332" y="0"/>
                </a:lnTo>
                <a:moveTo>
                  <a:pt x="10464" y="0"/>
                </a:moveTo>
                <a:lnTo>
                  <a:pt x="10544" y="0"/>
                </a:lnTo>
                <a:lnTo>
                  <a:pt x="10544" y="29"/>
                </a:lnTo>
                <a:lnTo>
                  <a:pt x="10464" y="29"/>
                </a:lnTo>
                <a:lnTo>
                  <a:pt x="10464" y="0"/>
                </a:lnTo>
                <a:moveTo>
                  <a:pt x="10597" y="0"/>
                </a:moveTo>
                <a:lnTo>
                  <a:pt x="10676" y="0"/>
                </a:lnTo>
                <a:lnTo>
                  <a:pt x="10676" y="29"/>
                </a:lnTo>
                <a:lnTo>
                  <a:pt x="10597" y="29"/>
                </a:lnTo>
                <a:lnTo>
                  <a:pt x="10597" y="0"/>
                </a:lnTo>
                <a:moveTo>
                  <a:pt x="10729" y="0"/>
                </a:moveTo>
                <a:lnTo>
                  <a:pt x="10809" y="0"/>
                </a:lnTo>
                <a:lnTo>
                  <a:pt x="10809" y="29"/>
                </a:lnTo>
                <a:lnTo>
                  <a:pt x="10729" y="29"/>
                </a:lnTo>
                <a:lnTo>
                  <a:pt x="10729" y="0"/>
                </a:lnTo>
                <a:moveTo>
                  <a:pt x="10862" y="0"/>
                </a:moveTo>
                <a:lnTo>
                  <a:pt x="10941" y="0"/>
                </a:lnTo>
                <a:lnTo>
                  <a:pt x="10941" y="29"/>
                </a:lnTo>
                <a:lnTo>
                  <a:pt x="10862" y="29"/>
                </a:lnTo>
                <a:lnTo>
                  <a:pt x="10862" y="0"/>
                </a:lnTo>
                <a:moveTo>
                  <a:pt x="10994" y="0"/>
                </a:moveTo>
                <a:lnTo>
                  <a:pt x="11074" y="0"/>
                </a:lnTo>
                <a:lnTo>
                  <a:pt x="11074" y="29"/>
                </a:lnTo>
                <a:lnTo>
                  <a:pt x="10994" y="29"/>
                </a:lnTo>
                <a:lnTo>
                  <a:pt x="10994" y="0"/>
                </a:lnTo>
                <a:moveTo>
                  <a:pt x="11127" y="0"/>
                </a:moveTo>
                <a:lnTo>
                  <a:pt x="11206" y="0"/>
                </a:lnTo>
                <a:lnTo>
                  <a:pt x="11206" y="29"/>
                </a:lnTo>
                <a:lnTo>
                  <a:pt x="11127" y="29"/>
                </a:lnTo>
                <a:lnTo>
                  <a:pt x="11127" y="0"/>
                </a:lnTo>
                <a:moveTo>
                  <a:pt x="11259" y="0"/>
                </a:moveTo>
                <a:lnTo>
                  <a:pt x="11339" y="0"/>
                </a:lnTo>
                <a:lnTo>
                  <a:pt x="11339" y="29"/>
                </a:lnTo>
                <a:lnTo>
                  <a:pt x="11259" y="29"/>
                </a:lnTo>
                <a:lnTo>
                  <a:pt x="11259" y="0"/>
                </a:lnTo>
                <a:moveTo>
                  <a:pt x="11392" y="0"/>
                </a:moveTo>
                <a:lnTo>
                  <a:pt x="11471" y="0"/>
                </a:lnTo>
                <a:lnTo>
                  <a:pt x="11471" y="29"/>
                </a:lnTo>
                <a:lnTo>
                  <a:pt x="11392" y="29"/>
                </a:lnTo>
                <a:lnTo>
                  <a:pt x="11392" y="0"/>
                </a:lnTo>
                <a:moveTo>
                  <a:pt x="11524" y="0"/>
                </a:moveTo>
                <a:lnTo>
                  <a:pt x="11603" y="0"/>
                </a:lnTo>
                <a:lnTo>
                  <a:pt x="11603" y="29"/>
                </a:lnTo>
                <a:lnTo>
                  <a:pt x="11524" y="29"/>
                </a:lnTo>
                <a:lnTo>
                  <a:pt x="11524" y="0"/>
                </a:lnTo>
                <a:moveTo>
                  <a:pt x="11657" y="0"/>
                </a:moveTo>
                <a:lnTo>
                  <a:pt x="11736" y="0"/>
                </a:lnTo>
                <a:lnTo>
                  <a:pt x="11736" y="29"/>
                </a:lnTo>
                <a:lnTo>
                  <a:pt x="11657" y="29"/>
                </a:lnTo>
                <a:lnTo>
                  <a:pt x="11657" y="0"/>
                </a:lnTo>
                <a:moveTo>
                  <a:pt x="11789" y="0"/>
                </a:moveTo>
                <a:lnTo>
                  <a:pt x="11868" y="0"/>
                </a:lnTo>
                <a:lnTo>
                  <a:pt x="11868" y="29"/>
                </a:lnTo>
                <a:lnTo>
                  <a:pt x="11789" y="29"/>
                </a:lnTo>
                <a:lnTo>
                  <a:pt x="11789" y="0"/>
                </a:lnTo>
                <a:moveTo>
                  <a:pt x="11921" y="0"/>
                </a:moveTo>
                <a:lnTo>
                  <a:pt x="12001" y="0"/>
                </a:lnTo>
                <a:lnTo>
                  <a:pt x="12001" y="29"/>
                </a:lnTo>
                <a:lnTo>
                  <a:pt x="11921" y="29"/>
                </a:lnTo>
                <a:lnTo>
                  <a:pt x="11921" y="0"/>
                </a:lnTo>
                <a:moveTo>
                  <a:pt x="12054" y="0"/>
                </a:moveTo>
                <a:lnTo>
                  <a:pt x="12133" y="0"/>
                </a:lnTo>
                <a:lnTo>
                  <a:pt x="12133" y="29"/>
                </a:lnTo>
                <a:lnTo>
                  <a:pt x="12054" y="29"/>
                </a:lnTo>
                <a:lnTo>
                  <a:pt x="12054" y="0"/>
                </a:lnTo>
                <a:moveTo>
                  <a:pt x="12186" y="0"/>
                </a:moveTo>
                <a:lnTo>
                  <a:pt x="12266" y="0"/>
                </a:lnTo>
                <a:lnTo>
                  <a:pt x="12266" y="29"/>
                </a:lnTo>
                <a:lnTo>
                  <a:pt x="12186" y="29"/>
                </a:lnTo>
                <a:lnTo>
                  <a:pt x="12186" y="0"/>
                </a:lnTo>
                <a:moveTo>
                  <a:pt x="12319" y="0"/>
                </a:moveTo>
                <a:lnTo>
                  <a:pt x="12398" y="0"/>
                </a:lnTo>
                <a:lnTo>
                  <a:pt x="12398" y="29"/>
                </a:lnTo>
                <a:lnTo>
                  <a:pt x="12319" y="29"/>
                </a:lnTo>
                <a:lnTo>
                  <a:pt x="12319" y="0"/>
                </a:lnTo>
                <a:moveTo>
                  <a:pt x="12451" y="0"/>
                </a:moveTo>
                <a:lnTo>
                  <a:pt x="12531" y="0"/>
                </a:lnTo>
                <a:lnTo>
                  <a:pt x="12531" y="29"/>
                </a:lnTo>
                <a:lnTo>
                  <a:pt x="12451" y="29"/>
                </a:lnTo>
                <a:lnTo>
                  <a:pt x="12451" y="0"/>
                </a:lnTo>
                <a:moveTo>
                  <a:pt x="12584" y="0"/>
                </a:moveTo>
                <a:lnTo>
                  <a:pt x="12663" y="0"/>
                </a:lnTo>
                <a:lnTo>
                  <a:pt x="12663" y="29"/>
                </a:lnTo>
                <a:lnTo>
                  <a:pt x="12584" y="29"/>
                </a:lnTo>
                <a:lnTo>
                  <a:pt x="12584" y="0"/>
                </a:lnTo>
                <a:moveTo>
                  <a:pt x="12716" y="0"/>
                </a:moveTo>
                <a:lnTo>
                  <a:pt x="12796" y="0"/>
                </a:lnTo>
                <a:lnTo>
                  <a:pt x="12796" y="29"/>
                </a:lnTo>
                <a:lnTo>
                  <a:pt x="12716" y="29"/>
                </a:lnTo>
                <a:lnTo>
                  <a:pt x="12716" y="0"/>
                </a:lnTo>
                <a:moveTo>
                  <a:pt x="12849" y="0"/>
                </a:moveTo>
                <a:lnTo>
                  <a:pt x="12928" y="0"/>
                </a:lnTo>
                <a:lnTo>
                  <a:pt x="12928" y="29"/>
                </a:lnTo>
                <a:lnTo>
                  <a:pt x="12849" y="29"/>
                </a:lnTo>
                <a:lnTo>
                  <a:pt x="12849" y="0"/>
                </a:lnTo>
                <a:moveTo>
                  <a:pt x="12981" y="0"/>
                </a:moveTo>
                <a:lnTo>
                  <a:pt x="13060" y="0"/>
                </a:lnTo>
                <a:lnTo>
                  <a:pt x="13060" y="29"/>
                </a:lnTo>
                <a:lnTo>
                  <a:pt x="12981" y="29"/>
                </a:lnTo>
                <a:lnTo>
                  <a:pt x="12981" y="0"/>
                </a:lnTo>
                <a:moveTo>
                  <a:pt x="13113" y="0"/>
                </a:moveTo>
                <a:lnTo>
                  <a:pt x="13193" y="0"/>
                </a:lnTo>
                <a:lnTo>
                  <a:pt x="13193" y="29"/>
                </a:lnTo>
                <a:lnTo>
                  <a:pt x="13113" y="29"/>
                </a:lnTo>
                <a:lnTo>
                  <a:pt x="13113" y="0"/>
                </a:lnTo>
                <a:moveTo>
                  <a:pt x="13246" y="0"/>
                </a:moveTo>
                <a:lnTo>
                  <a:pt x="13325" y="0"/>
                </a:lnTo>
                <a:lnTo>
                  <a:pt x="13325" y="29"/>
                </a:lnTo>
                <a:lnTo>
                  <a:pt x="13246" y="29"/>
                </a:lnTo>
                <a:lnTo>
                  <a:pt x="13246" y="0"/>
                </a:lnTo>
                <a:moveTo>
                  <a:pt x="13378" y="0"/>
                </a:moveTo>
                <a:lnTo>
                  <a:pt x="13458" y="0"/>
                </a:lnTo>
                <a:lnTo>
                  <a:pt x="13458" y="29"/>
                </a:lnTo>
                <a:lnTo>
                  <a:pt x="13378" y="29"/>
                </a:lnTo>
                <a:lnTo>
                  <a:pt x="13378" y="0"/>
                </a:lnTo>
                <a:moveTo>
                  <a:pt x="13511" y="0"/>
                </a:moveTo>
                <a:lnTo>
                  <a:pt x="13590" y="0"/>
                </a:lnTo>
                <a:lnTo>
                  <a:pt x="13590" y="29"/>
                </a:lnTo>
                <a:lnTo>
                  <a:pt x="13511" y="29"/>
                </a:lnTo>
                <a:lnTo>
                  <a:pt x="13511" y="0"/>
                </a:lnTo>
                <a:moveTo>
                  <a:pt x="13643" y="0"/>
                </a:moveTo>
                <a:lnTo>
                  <a:pt x="13723" y="0"/>
                </a:lnTo>
                <a:lnTo>
                  <a:pt x="13723" y="29"/>
                </a:lnTo>
                <a:lnTo>
                  <a:pt x="13643" y="29"/>
                </a:lnTo>
                <a:lnTo>
                  <a:pt x="13643" y="0"/>
                </a:lnTo>
                <a:moveTo>
                  <a:pt x="13776" y="0"/>
                </a:moveTo>
                <a:lnTo>
                  <a:pt x="13855" y="0"/>
                </a:lnTo>
                <a:lnTo>
                  <a:pt x="13855" y="29"/>
                </a:lnTo>
                <a:lnTo>
                  <a:pt x="13776" y="29"/>
                </a:lnTo>
                <a:lnTo>
                  <a:pt x="13776" y="0"/>
                </a:lnTo>
                <a:moveTo>
                  <a:pt x="13908" y="0"/>
                </a:moveTo>
                <a:lnTo>
                  <a:pt x="13988" y="0"/>
                </a:lnTo>
                <a:lnTo>
                  <a:pt x="13988" y="29"/>
                </a:lnTo>
                <a:lnTo>
                  <a:pt x="13908" y="29"/>
                </a:lnTo>
                <a:lnTo>
                  <a:pt x="13908" y="0"/>
                </a:lnTo>
                <a:moveTo>
                  <a:pt x="14041" y="0"/>
                </a:moveTo>
                <a:lnTo>
                  <a:pt x="14120" y="0"/>
                </a:lnTo>
                <a:lnTo>
                  <a:pt x="14120" y="29"/>
                </a:lnTo>
                <a:lnTo>
                  <a:pt x="14041" y="29"/>
                </a:lnTo>
                <a:lnTo>
                  <a:pt x="14041" y="0"/>
                </a:lnTo>
                <a:moveTo>
                  <a:pt x="14173" y="0"/>
                </a:moveTo>
                <a:lnTo>
                  <a:pt x="14252" y="0"/>
                </a:lnTo>
                <a:lnTo>
                  <a:pt x="14252" y="29"/>
                </a:lnTo>
                <a:lnTo>
                  <a:pt x="14173" y="29"/>
                </a:lnTo>
                <a:lnTo>
                  <a:pt x="14173" y="0"/>
                </a:lnTo>
                <a:moveTo>
                  <a:pt x="14306" y="0"/>
                </a:moveTo>
                <a:lnTo>
                  <a:pt x="14385" y="0"/>
                </a:lnTo>
                <a:lnTo>
                  <a:pt x="14385" y="29"/>
                </a:lnTo>
                <a:lnTo>
                  <a:pt x="14306" y="29"/>
                </a:lnTo>
                <a:lnTo>
                  <a:pt x="14306" y="0"/>
                </a:lnTo>
                <a:moveTo>
                  <a:pt x="14438" y="0"/>
                </a:moveTo>
                <a:lnTo>
                  <a:pt x="14517" y="0"/>
                </a:lnTo>
                <a:lnTo>
                  <a:pt x="14517" y="29"/>
                </a:lnTo>
                <a:lnTo>
                  <a:pt x="14438" y="29"/>
                </a:lnTo>
                <a:lnTo>
                  <a:pt x="14438" y="0"/>
                </a:lnTo>
                <a:moveTo>
                  <a:pt x="14570" y="0"/>
                </a:moveTo>
                <a:lnTo>
                  <a:pt x="14650" y="0"/>
                </a:lnTo>
                <a:lnTo>
                  <a:pt x="14650" y="29"/>
                </a:lnTo>
                <a:lnTo>
                  <a:pt x="14570" y="29"/>
                </a:lnTo>
                <a:lnTo>
                  <a:pt x="14570" y="0"/>
                </a:lnTo>
                <a:moveTo>
                  <a:pt x="14703" y="0"/>
                </a:moveTo>
                <a:lnTo>
                  <a:pt x="14782" y="0"/>
                </a:lnTo>
                <a:lnTo>
                  <a:pt x="14782" y="29"/>
                </a:lnTo>
                <a:lnTo>
                  <a:pt x="14703" y="29"/>
                </a:lnTo>
                <a:lnTo>
                  <a:pt x="14703" y="0"/>
                </a:lnTo>
                <a:moveTo>
                  <a:pt x="14835" y="0"/>
                </a:moveTo>
                <a:lnTo>
                  <a:pt x="14915" y="0"/>
                </a:lnTo>
                <a:lnTo>
                  <a:pt x="14915" y="29"/>
                </a:lnTo>
                <a:lnTo>
                  <a:pt x="14835" y="29"/>
                </a:lnTo>
                <a:lnTo>
                  <a:pt x="14835" y="0"/>
                </a:lnTo>
                <a:moveTo>
                  <a:pt x="14968" y="0"/>
                </a:moveTo>
                <a:lnTo>
                  <a:pt x="15047" y="0"/>
                </a:lnTo>
                <a:lnTo>
                  <a:pt x="15047" y="29"/>
                </a:lnTo>
                <a:lnTo>
                  <a:pt x="14968" y="29"/>
                </a:lnTo>
                <a:lnTo>
                  <a:pt x="14968" y="0"/>
                </a:lnTo>
                <a:moveTo>
                  <a:pt x="15100" y="0"/>
                </a:moveTo>
                <a:lnTo>
                  <a:pt x="15180" y="0"/>
                </a:lnTo>
                <a:lnTo>
                  <a:pt x="15180" y="29"/>
                </a:lnTo>
                <a:lnTo>
                  <a:pt x="15100" y="29"/>
                </a:lnTo>
                <a:lnTo>
                  <a:pt x="15100" y="0"/>
                </a:lnTo>
                <a:moveTo>
                  <a:pt x="15233" y="0"/>
                </a:moveTo>
                <a:lnTo>
                  <a:pt x="15312" y="0"/>
                </a:lnTo>
                <a:lnTo>
                  <a:pt x="15312" y="29"/>
                </a:lnTo>
                <a:lnTo>
                  <a:pt x="15233" y="29"/>
                </a:lnTo>
                <a:lnTo>
                  <a:pt x="15233" y="0"/>
                </a:lnTo>
                <a:moveTo>
                  <a:pt x="15365" y="0"/>
                </a:moveTo>
                <a:lnTo>
                  <a:pt x="15445" y="0"/>
                </a:lnTo>
                <a:lnTo>
                  <a:pt x="15445" y="29"/>
                </a:lnTo>
                <a:lnTo>
                  <a:pt x="15365" y="29"/>
                </a:lnTo>
                <a:lnTo>
                  <a:pt x="15365" y="0"/>
                </a:lnTo>
                <a:moveTo>
                  <a:pt x="15498" y="0"/>
                </a:moveTo>
                <a:lnTo>
                  <a:pt x="15577" y="0"/>
                </a:lnTo>
                <a:lnTo>
                  <a:pt x="15577" y="29"/>
                </a:lnTo>
                <a:lnTo>
                  <a:pt x="15498" y="29"/>
                </a:lnTo>
                <a:lnTo>
                  <a:pt x="15498" y="0"/>
                </a:lnTo>
                <a:moveTo>
                  <a:pt x="15630" y="0"/>
                </a:moveTo>
                <a:lnTo>
                  <a:pt x="15709" y="0"/>
                </a:lnTo>
                <a:lnTo>
                  <a:pt x="15709" y="29"/>
                </a:lnTo>
                <a:lnTo>
                  <a:pt x="15630" y="29"/>
                </a:lnTo>
                <a:lnTo>
                  <a:pt x="15630" y="0"/>
                </a:lnTo>
                <a:moveTo>
                  <a:pt x="15763" y="0"/>
                </a:moveTo>
                <a:lnTo>
                  <a:pt x="15842" y="0"/>
                </a:lnTo>
                <a:lnTo>
                  <a:pt x="15842" y="29"/>
                </a:lnTo>
                <a:lnTo>
                  <a:pt x="15763" y="29"/>
                </a:lnTo>
                <a:lnTo>
                  <a:pt x="15763" y="0"/>
                </a:lnTo>
                <a:moveTo>
                  <a:pt x="15895" y="0"/>
                </a:moveTo>
                <a:lnTo>
                  <a:pt x="15974" y="0"/>
                </a:lnTo>
                <a:lnTo>
                  <a:pt x="15974" y="29"/>
                </a:lnTo>
                <a:lnTo>
                  <a:pt x="15895" y="29"/>
                </a:lnTo>
                <a:lnTo>
                  <a:pt x="15895" y="0"/>
                </a:lnTo>
                <a:moveTo>
                  <a:pt x="16027" y="0"/>
                </a:moveTo>
                <a:lnTo>
                  <a:pt x="16107" y="0"/>
                </a:lnTo>
                <a:lnTo>
                  <a:pt x="16107" y="29"/>
                </a:lnTo>
                <a:lnTo>
                  <a:pt x="16027" y="29"/>
                </a:lnTo>
                <a:lnTo>
                  <a:pt x="16027" y="0"/>
                </a:lnTo>
                <a:moveTo>
                  <a:pt x="16160" y="0"/>
                </a:moveTo>
                <a:lnTo>
                  <a:pt x="16239" y="0"/>
                </a:lnTo>
                <a:lnTo>
                  <a:pt x="16239" y="29"/>
                </a:lnTo>
                <a:lnTo>
                  <a:pt x="16160" y="29"/>
                </a:lnTo>
                <a:lnTo>
                  <a:pt x="16160" y="0"/>
                </a:lnTo>
                <a:moveTo>
                  <a:pt x="16292" y="0"/>
                </a:moveTo>
                <a:lnTo>
                  <a:pt x="16372" y="0"/>
                </a:lnTo>
                <a:lnTo>
                  <a:pt x="16372" y="29"/>
                </a:lnTo>
                <a:lnTo>
                  <a:pt x="16292" y="29"/>
                </a:lnTo>
                <a:lnTo>
                  <a:pt x="16292" y="0"/>
                </a:lnTo>
                <a:moveTo>
                  <a:pt x="16425" y="0"/>
                </a:moveTo>
                <a:lnTo>
                  <a:pt x="16504" y="0"/>
                </a:lnTo>
                <a:lnTo>
                  <a:pt x="16504" y="29"/>
                </a:lnTo>
                <a:lnTo>
                  <a:pt x="16425" y="29"/>
                </a:lnTo>
                <a:lnTo>
                  <a:pt x="16425" y="0"/>
                </a:lnTo>
                <a:moveTo>
                  <a:pt x="16557" y="0"/>
                </a:moveTo>
                <a:lnTo>
                  <a:pt x="16637" y="0"/>
                </a:lnTo>
                <a:lnTo>
                  <a:pt x="16637" y="29"/>
                </a:lnTo>
                <a:lnTo>
                  <a:pt x="16557" y="29"/>
                </a:lnTo>
                <a:lnTo>
                  <a:pt x="16557" y="0"/>
                </a:lnTo>
                <a:moveTo>
                  <a:pt x="16690" y="0"/>
                </a:moveTo>
                <a:lnTo>
                  <a:pt x="16769" y="0"/>
                </a:lnTo>
                <a:lnTo>
                  <a:pt x="16769" y="29"/>
                </a:lnTo>
                <a:lnTo>
                  <a:pt x="16690" y="29"/>
                </a:lnTo>
                <a:lnTo>
                  <a:pt x="16690" y="0"/>
                </a:lnTo>
                <a:moveTo>
                  <a:pt x="16822" y="0"/>
                </a:moveTo>
                <a:lnTo>
                  <a:pt x="16901" y="0"/>
                </a:lnTo>
                <a:lnTo>
                  <a:pt x="16901" y="29"/>
                </a:lnTo>
                <a:lnTo>
                  <a:pt x="16822" y="29"/>
                </a:lnTo>
                <a:lnTo>
                  <a:pt x="16822" y="0"/>
                </a:lnTo>
                <a:moveTo>
                  <a:pt x="16955" y="0"/>
                </a:moveTo>
                <a:lnTo>
                  <a:pt x="17034" y="0"/>
                </a:lnTo>
                <a:lnTo>
                  <a:pt x="17034" y="29"/>
                </a:lnTo>
                <a:lnTo>
                  <a:pt x="16955" y="29"/>
                </a:lnTo>
                <a:lnTo>
                  <a:pt x="16955" y="0"/>
                </a:lnTo>
                <a:moveTo>
                  <a:pt x="17087" y="0"/>
                </a:moveTo>
                <a:lnTo>
                  <a:pt x="17166" y="0"/>
                </a:lnTo>
                <a:lnTo>
                  <a:pt x="17166" y="29"/>
                </a:lnTo>
                <a:lnTo>
                  <a:pt x="17087" y="29"/>
                </a:lnTo>
                <a:lnTo>
                  <a:pt x="17087" y="0"/>
                </a:lnTo>
                <a:moveTo>
                  <a:pt x="17219" y="0"/>
                </a:moveTo>
                <a:lnTo>
                  <a:pt x="17299" y="0"/>
                </a:lnTo>
                <a:lnTo>
                  <a:pt x="17299" y="29"/>
                </a:lnTo>
                <a:lnTo>
                  <a:pt x="17219" y="29"/>
                </a:lnTo>
                <a:lnTo>
                  <a:pt x="17219" y="0"/>
                </a:lnTo>
                <a:moveTo>
                  <a:pt x="17352" y="0"/>
                </a:moveTo>
                <a:lnTo>
                  <a:pt x="17431" y="0"/>
                </a:lnTo>
                <a:lnTo>
                  <a:pt x="17431" y="29"/>
                </a:lnTo>
                <a:lnTo>
                  <a:pt x="17352" y="29"/>
                </a:lnTo>
                <a:lnTo>
                  <a:pt x="17352" y="0"/>
                </a:lnTo>
                <a:moveTo>
                  <a:pt x="17484" y="0"/>
                </a:moveTo>
                <a:lnTo>
                  <a:pt x="17564" y="0"/>
                </a:lnTo>
                <a:lnTo>
                  <a:pt x="17564" y="29"/>
                </a:lnTo>
                <a:lnTo>
                  <a:pt x="17484" y="29"/>
                </a:lnTo>
                <a:lnTo>
                  <a:pt x="17484" y="0"/>
                </a:lnTo>
                <a:moveTo>
                  <a:pt x="17617" y="0"/>
                </a:moveTo>
                <a:lnTo>
                  <a:pt x="17696" y="0"/>
                </a:lnTo>
                <a:lnTo>
                  <a:pt x="17696" y="29"/>
                </a:lnTo>
                <a:lnTo>
                  <a:pt x="17617" y="29"/>
                </a:lnTo>
                <a:lnTo>
                  <a:pt x="17617" y="0"/>
                </a:lnTo>
                <a:moveTo>
                  <a:pt x="17749" y="0"/>
                </a:moveTo>
                <a:lnTo>
                  <a:pt x="17829" y="0"/>
                </a:lnTo>
                <a:lnTo>
                  <a:pt x="17829" y="29"/>
                </a:lnTo>
                <a:lnTo>
                  <a:pt x="17749" y="29"/>
                </a:lnTo>
                <a:lnTo>
                  <a:pt x="17749" y="0"/>
                </a:lnTo>
                <a:moveTo>
                  <a:pt x="17882" y="0"/>
                </a:moveTo>
                <a:lnTo>
                  <a:pt x="17961" y="0"/>
                </a:lnTo>
                <a:lnTo>
                  <a:pt x="17961" y="29"/>
                </a:lnTo>
                <a:lnTo>
                  <a:pt x="17882" y="29"/>
                </a:lnTo>
                <a:lnTo>
                  <a:pt x="17882" y="0"/>
                </a:lnTo>
                <a:moveTo>
                  <a:pt x="18014" y="0"/>
                </a:moveTo>
                <a:lnTo>
                  <a:pt x="18094" y="0"/>
                </a:lnTo>
                <a:lnTo>
                  <a:pt x="18094" y="29"/>
                </a:lnTo>
                <a:lnTo>
                  <a:pt x="18014" y="29"/>
                </a:lnTo>
                <a:lnTo>
                  <a:pt x="18014" y="0"/>
                </a:lnTo>
                <a:moveTo>
                  <a:pt x="18147" y="0"/>
                </a:moveTo>
                <a:lnTo>
                  <a:pt x="18226" y="0"/>
                </a:lnTo>
                <a:lnTo>
                  <a:pt x="18226" y="29"/>
                </a:lnTo>
                <a:lnTo>
                  <a:pt x="18147" y="29"/>
                </a:lnTo>
                <a:lnTo>
                  <a:pt x="18147" y="0"/>
                </a:lnTo>
                <a:moveTo>
                  <a:pt x="18279" y="0"/>
                </a:moveTo>
                <a:lnTo>
                  <a:pt x="18358" y="0"/>
                </a:lnTo>
                <a:lnTo>
                  <a:pt x="18358" y="29"/>
                </a:lnTo>
                <a:lnTo>
                  <a:pt x="18279" y="29"/>
                </a:lnTo>
                <a:lnTo>
                  <a:pt x="18279" y="0"/>
                </a:lnTo>
                <a:moveTo>
                  <a:pt x="18412" y="0"/>
                </a:moveTo>
                <a:lnTo>
                  <a:pt x="18491" y="0"/>
                </a:lnTo>
                <a:lnTo>
                  <a:pt x="18491" y="29"/>
                </a:lnTo>
                <a:lnTo>
                  <a:pt x="18412" y="29"/>
                </a:lnTo>
                <a:lnTo>
                  <a:pt x="18412" y="0"/>
                </a:lnTo>
                <a:moveTo>
                  <a:pt x="18544" y="0"/>
                </a:moveTo>
                <a:lnTo>
                  <a:pt x="18623" y="0"/>
                </a:lnTo>
                <a:lnTo>
                  <a:pt x="18623" y="29"/>
                </a:lnTo>
                <a:lnTo>
                  <a:pt x="18544" y="29"/>
                </a:lnTo>
                <a:lnTo>
                  <a:pt x="18544" y="0"/>
                </a:lnTo>
                <a:moveTo>
                  <a:pt x="18676" y="0"/>
                </a:moveTo>
                <a:lnTo>
                  <a:pt x="18756" y="0"/>
                </a:lnTo>
                <a:lnTo>
                  <a:pt x="18756" y="29"/>
                </a:lnTo>
                <a:lnTo>
                  <a:pt x="18676" y="29"/>
                </a:lnTo>
                <a:lnTo>
                  <a:pt x="18676" y="0"/>
                </a:lnTo>
                <a:moveTo>
                  <a:pt x="18809" y="0"/>
                </a:moveTo>
                <a:lnTo>
                  <a:pt x="18888" y="0"/>
                </a:lnTo>
                <a:lnTo>
                  <a:pt x="18888" y="29"/>
                </a:lnTo>
                <a:lnTo>
                  <a:pt x="18809" y="29"/>
                </a:lnTo>
                <a:lnTo>
                  <a:pt x="18809" y="0"/>
                </a:lnTo>
                <a:moveTo>
                  <a:pt x="18941" y="0"/>
                </a:moveTo>
                <a:lnTo>
                  <a:pt x="19021" y="0"/>
                </a:lnTo>
                <a:lnTo>
                  <a:pt x="19021" y="29"/>
                </a:lnTo>
                <a:lnTo>
                  <a:pt x="18941" y="29"/>
                </a:lnTo>
                <a:lnTo>
                  <a:pt x="18941" y="0"/>
                </a:lnTo>
                <a:moveTo>
                  <a:pt x="19074" y="0"/>
                </a:moveTo>
                <a:lnTo>
                  <a:pt x="19153" y="0"/>
                </a:lnTo>
                <a:lnTo>
                  <a:pt x="19153" y="29"/>
                </a:lnTo>
                <a:lnTo>
                  <a:pt x="19074" y="29"/>
                </a:lnTo>
                <a:lnTo>
                  <a:pt x="19074" y="0"/>
                </a:lnTo>
                <a:moveTo>
                  <a:pt x="19206" y="0"/>
                </a:moveTo>
                <a:lnTo>
                  <a:pt x="19286" y="0"/>
                </a:lnTo>
                <a:lnTo>
                  <a:pt x="19286" y="29"/>
                </a:lnTo>
                <a:lnTo>
                  <a:pt x="19206" y="29"/>
                </a:lnTo>
                <a:lnTo>
                  <a:pt x="19206" y="0"/>
                </a:lnTo>
                <a:moveTo>
                  <a:pt x="19339" y="0"/>
                </a:moveTo>
                <a:lnTo>
                  <a:pt x="19418" y="0"/>
                </a:lnTo>
                <a:lnTo>
                  <a:pt x="19418" y="29"/>
                </a:lnTo>
                <a:lnTo>
                  <a:pt x="19339" y="29"/>
                </a:lnTo>
                <a:lnTo>
                  <a:pt x="19339" y="0"/>
                </a:lnTo>
                <a:moveTo>
                  <a:pt x="19471" y="0"/>
                </a:moveTo>
                <a:lnTo>
                  <a:pt x="19551" y="0"/>
                </a:lnTo>
                <a:lnTo>
                  <a:pt x="19551" y="29"/>
                </a:lnTo>
                <a:lnTo>
                  <a:pt x="19471" y="29"/>
                </a:lnTo>
                <a:lnTo>
                  <a:pt x="19471" y="0"/>
                </a:lnTo>
                <a:moveTo>
                  <a:pt x="19604" y="0"/>
                </a:moveTo>
                <a:lnTo>
                  <a:pt x="19683" y="0"/>
                </a:lnTo>
                <a:lnTo>
                  <a:pt x="19683" y="29"/>
                </a:lnTo>
                <a:lnTo>
                  <a:pt x="19604" y="29"/>
                </a:lnTo>
                <a:lnTo>
                  <a:pt x="19604" y="0"/>
                </a:lnTo>
                <a:moveTo>
                  <a:pt x="19736" y="0"/>
                </a:moveTo>
                <a:lnTo>
                  <a:pt x="19815" y="0"/>
                </a:lnTo>
                <a:lnTo>
                  <a:pt x="19815" y="29"/>
                </a:lnTo>
                <a:lnTo>
                  <a:pt x="19736" y="29"/>
                </a:lnTo>
                <a:lnTo>
                  <a:pt x="19736" y="0"/>
                </a:lnTo>
                <a:moveTo>
                  <a:pt x="19868" y="0"/>
                </a:moveTo>
                <a:lnTo>
                  <a:pt x="19948" y="0"/>
                </a:lnTo>
                <a:lnTo>
                  <a:pt x="19948" y="29"/>
                </a:lnTo>
                <a:lnTo>
                  <a:pt x="19868" y="29"/>
                </a:lnTo>
                <a:lnTo>
                  <a:pt x="19868" y="0"/>
                </a:lnTo>
                <a:moveTo>
                  <a:pt x="20001" y="0"/>
                </a:moveTo>
                <a:lnTo>
                  <a:pt x="20080" y="0"/>
                </a:lnTo>
                <a:lnTo>
                  <a:pt x="20080" y="29"/>
                </a:lnTo>
                <a:lnTo>
                  <a:pt x="20001" y="29"/>
                </a:lnTo>
                <a:lnTo>
                  <a:pt x="20001" y="0"/>
                </a:lnTo>
                <a:moveTo>
                  <a:pt x="20133" y="0"/>
                </a:moveTo>
                <a:lnTo>
                  <a:pt x="20213" y="0"/>
                </a:lnTo>
                <a:lnTo>
                  <a:pt x="20213" y="29"/>
                </a:lnTo>
                <a:lnTo>
                  <a:pt x="20133" y="29"/>
                </a:lnTo>
                <a:lnTo>
                  <a:pt x="20133" y="0"/>
                </a:lnTo>
                <a:moveTo>
                  <a:pt x="20266" y="0"/>
                </a:moveTo>
                <a:lnTo>
                  <a:pt x="20345" y="0"/>
                </a:lnTo>
                <a:lnTo>
                  <a:pt x="20345" y="29"/>
                </a:lnTo>
                <a:lnTo>
                  <a:pt x="20266" y="29"/>
                </a:lnTo>
                <a:lnTo>
                  <a:pt x="20266" y="0"/>
                </a:lnTo>
                <a:moveTo>
                  <a:pt x="20398" y="0"/>
                </a:moveTo>
                <a:lnTo>
                  <a:pt x="20478" y="0"/>
                </a:lnTo>
                <a:lnTo>
                  <a:pt x="20478" y="29"/>
                </a:lnTo>
                <a:lnTo>
                  <a:pt x="20398" y="29"/>
                </a:lnTo>
                <a:lnTo>
                  <a:pt x="20398" y="0"/>
                </a:lnTo>
                <a:moveTo>
                  <a:pt x="20531" y="0"/>
                </a:moveTo>
                <a:lnTo>
                  <a:pt x="20610" y="0"/>
                </a:lnTo>
                <a:lnTo>
                  <a:pt x="20610" y="29"/>
                </a:lnTo>
                <a:lnTo>
                  <a:pt x="20531" y="29"/>
                </a:lnTo>
                <a:lnTo>
                  <a:pt x="20531" y="0"/>
                </a:lnTo>
                <a:moveTo>
                  <a:pt x="20663" y="0"/>
                </a:moveTo>
                <a:lnTo>
                  <a:pt x="20743" y="0"/>
                </a:lnTo>
                <a:lnTo>
                  <a:pt x="20743" y="29"/>
                </a:lnTo>
                <a:lnTo>
                  <a:pt x="20663" y="29"/>
                </a:lnTo>
                <a:lnTo>
                  <a:pt x="20663" y="0"/>
                </a:lnTo>
                <a:moveTo>
                  <a:pt x="20796" y="0"/>
                </a:moveTo>
                <a:lnTo>
                  <a:pt x="20875" y="0"/>
                </a:lnTo>
                <a:lnTo>
                  <a:pt x="20875" y="29"/>
                </a:lnTo>
                <a:lnTo>
                  <a:pt x="20796" y="29"/>
                </a:lnTo>
                <a:lnTo>
                  <a:pt x="20796" y="0"/>
                </a:lnTo>
                <a:moveTo>
                  <a:pt x="20928" y="0"/>
                </a:moveTo>
                <a:lnTo>
                  <a:pt x="21007" y="0"/>
                </a:lnTo>
                <a:lnTo>
                  <a:pt x="21007" y="29"/>
                </a:lnTo>
                <a:lnTo>
                  <a:pt x="20928" y="29"/>
                </a:lnTo>
                <a:lnTo>
                  <a:pt x="20928" y="0"/>
                </a:lnTo>
                <a:moveTo>
                  <a:pt x="21061" y="0"/>
                </a:moveTo>
                <a:lnTo>
                  <a:pt x="21140" y="0"/>
                </a:lnTo>
                <a:lnTo>
                  <a:pt x="21140" y="29"/>
                </a:lnTo>
                <a:lnTo>
                  <a:pt x="21061" y="29"/>
                </a:lnTo>
                <a:lnTo>
                  <a:pt x="21061" y="0"/>
                </a:lnTo>
                <a:moveTo>
                  <a:pt x="21193" y="0"/>
                </a:moveTo>
                <a:lnTo>
                  <a:pt x="21272" y="0"/>
                </a:lnTo>
                <a:lnTo>
                  <a:pt x="21272" y="29"/>
                </a:lnTo>
                <a:lnTo>
                  <a:pt x="21193" y="29"/>
                </a:lnTo>
                <a:lnTo>
                  <a:pt x="21193" y="0"/>
                </a:lnTo>
                <a:moveTo>
                  <a:pt x="21325" y="0"/>
                </a:moveTo>
                <a:lnTo>
                  <a:pt x="21405" y="0"/>
                </a:lnTo>
                <a:lnTo>
                  <a:pt x="21405" y="29"/>
                </a:lnTo>
                <a:lnTo>
                  <a:pt x="21325" y="29"/>
                </a:lnTo>
                <a:lnTo>
                  <a:pt x="21325" y="0"/>
                </a:lnTo>
                <a:moveTo>
                  <a:pt x="21458" y="0"/>
                </a:moveTo>
                <a:lnTo>
                  <a:pt x="21537" y="0"/>
                </a:lnTo>
                <a:lnTo>
                  <a:pt x="21537" y="29"/>
                </a:lnTo>
                <a:lnTo>
                  <a:pt x="21458" y="29"/>
                </a:lnTo>
                <a:lnTo>
                  <a:pt x="21458" y="0"/>
                </a:lnTo>
                <a:moveTo>
                  <a:pt x="21590" y="0"/>
                </a:moveTo>
                <a:lnTo>
                  <a:pt x="21670" y="0"/>
                </a:lnTo>
                <a:lnTo>
                  <a:pt x="21670" y="29"/>
                </a:lnTo>
                <a:lnTo>
                  <a:pt x="21590" y="29"/>
                </a:lnTo>
                <a:lnTo>
                  <a:pt x="21590" y="0"/>
                </a:lnTo>
                <a:moveTo>
                  <a:pt x="21723" y="0"/>
                </a:moveTo>
                <a:lnTo>
                  <a:pt x="21802" y="0"/>
                </a:lnTo>
                <a:lnTo>
                  <a:pt x="21802" y="29"/>
                </a:lnTo>
                <a:lnTo>
                  <a:pt x="21723" y="29"/>
                </a:lnTo>
                <a:lnTo>
                  <a:pt x="21723" y="0"/>
                </a:lnTo>
                <a:moveTo>
                  <a:pt x="21855" y="0"/>
                </a:moveTo>
                <a:lnTo>
                  <a:pt x="21935" y="0"/>
                </a:lnTo>
                <a:lnTo>
                  <a:pt x="21935" y="29"/>
                </a:lnTo>
                <a:lnTo>
                  <a:pt x="21855" y="29"/>
                </a:lnTo>
                <a:lnTo>
                  <a:pt x="21855" y="0"/>
                </a:lnTo>
                <a:moveTo>
                  <a:pt x="21988" y="0"/>
                </a:moveTo>
                <a:lnTo>
                  <a:pt x="22067" y="0"/>
                </a:lnTo>
                <a:lnTo>
                  <a:pt x="22067" y="29"/>
                </a:lnTo>
                <a:lnTo>
                  <a:pt x="21988" y="29"/>
                </a:lnTo>
                <a:lnTo>
                  <a:pt x="21988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 txBox="1"/>
          <p:nvPr/>
        </p:nvSpPr>
        <p:spPr>
          <a:xfrm>
            <a:off x="514440" y="6242040"/>
            <a:ext cx="59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口径：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RT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 txBox="1"/>
          <p:nvPr/>
        </p:nvSpPr>
        <p:spPr>
          <a:xfrm>
            <a:off x="11779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 txBox="1"/>
          <p:nvPr/>
        </p:nvSpPr>
        <p:spPr>
          <a:xfrm>
            <a:off x="132300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披露了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 txBox="1"/>
          <p:nvPr/>
        </p:nvSpPr>
        <p:spPr>
          <a:xfrm>
            <a:off x="175896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 txBox="1"/>
          <p:nvPr/>
        </p:nvSpPr>
        <p:spPr>
          <a:xfrm>
            <a:off x="2049480" y="6242040"/>
            <a:ext cx="5310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措施的风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 txBox="1"/>
          <p:nvPr/>
        </p:nvSpPr>
        <p:spPr>
          <a:xfrm>
            <a:off x="26305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 txBox="1"/>
          <p:nvPr/>
        </p:nvSpPr>
        <p:spPr>
          <a:xfrm>
            <a:off x="2775600" y="6242040"/>
            <a:ext cx="266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 txBox="1"/>
          <p:nvPr/>
        </p:nvSpPr>
        <p:spPr>
          <a:xfrm>
            <a:off x="306612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 txBox="1"/>
          <p:nvPr/>
        </p:nvSpPr>
        <p:spPr>
          <a:xfrm>
            <a:off x="321156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 txBox="1"/>
          <p:nvPr/>
        </p:nvSpPr>
        <p:spPr>
          <a:xfrm>
            <a:off x="33566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 txBox="1"/>
          <p:nvPr/>
        </p:nvSpPr>
        <p:spPr>
          <a:xfrm>
            <a:off x="3502080" y="6242040"/>
            <a:ext cx="8319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数的比重；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IR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 txBox="1"/>
          <p:nvPr/>
        </p:nvSpPr>
        <p:spPr>
          <a:xfrm>
            <a:off x="441756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 txBox="1"/>
          <p:nvPr/>
        </p:nvSpPr>
        <p:spPr>
          <a:xfrm>
            <a:off x="4563000" y="6242040"/>
            <a:ext cx="14529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R&amp;D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增长率高于后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 txBox="1"/>
          <p:nvPr/>
        </p:nvSpPr>
        <p:spPr>
          <a:xfrm>
            <a:off x="613548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 txBox="1"/>
          <p:nvPr/>
        </p:nvSpPr>
        <p:spPr>
          <a:xfrm>
            <a:off x="628056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 txBox="1"/>
          <p:nvPr/>
        </p:nvSpPr>
        <p:spPr>
          <a:xfrm>
            <a:off x="642600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 txBox="1"/>
          <p:nvPr/>
        </p:nvSpPr>
        <p:spPr>
          <a:xfrm>
            <a:off x="6571080" y="6242040"/>
            <a:ext cx="3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增长率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 txBox="1"/>
          <p:nvPr/>
        </p:nvSpPr>
        <p:spPr>
          <a:xfrm>
            <a:off x="7007040" y="6221520"/>
            <a:ext cx="133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 txBox="1"/>
          <p:nvPr/>
        </p:nvSpPr>
        <p:spPr>
          <a:xfrm>
            <a:off x="7152120" y="6242040"/>
            <a:ext cx="596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取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的虚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 txBox="1"/>
          <p:nvPr/>
        </p:nvSpPr>
        <p:spPr>
          <a:xfrm>
            <a:off x="7757640" y="6221520"/>
            <a:ext cx="26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拟变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 txBox="1"/>
          <p:nvPr/>
        </p:nvSpPr>
        <p:spPr>
          <a:xfrm>
            <a:off x="8048160" y="6242040"/>
            <a:ext cx="133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 txBox="1"/>
          <p:nvPr/>
        </p:nvSpPr>
        <p:spPr>
          <a:xfrm>
            <a:off x="380880" y="929880"/>
            <a:ext cx="144540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六、架构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 txBox="1"/>
          <p:nvPr/>
        </p:nvSpPr>
        <p:spPr>
          <a:xfrm>
            <a:off x="187632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图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5" name=""/>
          <p:cNvPicPr/>
          <p:nvPr/>
        </p:nvPicPr>
        <p:blipFill>
          <a:blip r:embed="rId1"/>
          <a:stretch/>
        </p:blipFill>
        <p:spPr>
          <a:xfrm>
            <a:off x="1809720" y="1609560"/>
            <a:ext cx="8571960" cy="455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6" name=""/>
          <p:cNvSpPr txBox="1"/>
          <p:nvPr/>
        </p:nvSpPr>
        <p:spPr>
          <a:xfrm>
            <a:off x="2250360" y="929880"/>
            <a:ext cx="397368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二：三螺旋政策支持体系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 txBox="1"/>
          <p:nvPr/>
        </p:nvSpPr>
        <p:spPr>
          <a:xfrm>
            <a:off x="380880" y="6473880"/>
            <a:ext cx="1732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NCFR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 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BBCP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 txBox="1"/>
          <p:nvPr/>
        </p:nvSpPr>
        <p:spPr>
          <a:xfrm>
            <a:off x="233892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仅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 txBox="1"/>
          <p:nvPr/>
        </p:nvSpPr>
        <p:spPr>
          <a:xfrm>
            <a:off x="2617200" y="6473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289584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3174480" y="6473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点区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 txBox="1"/>
          <p:nvPr/>
        </p:nvSpPr>
        <p:spPr>
          <a:xfrm>
            <a:off x="373176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 txBox="1"/>
          <p:nvPr/>
        </p:nvSpPr>
        <p:spPr>
          <a:xfrm>
            <a:off x="4010400" y="64738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 txBox="1"/>
          <p:nvPr/>
        </p:nvSpPr>
        <p:spPr>
          <a:xfrm>
            <a:off x="428904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 txBox="1"/>
          <p:nvPr/>
        </p:nvSpPr>
        <p:spPr>
          <a:xfrm>
            <a:off x="4567680" y="6473880"/>
            <a:ext cx="269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正，</a:t>
            </a:r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FTZ </a:t>
            </a:r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两种情形下均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 txBox="1"/>
          <p:nvPr/>
        </p:nvSpPr>
        <p:spPr>
          <a:xfrm>
            <a:off x="735480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 txBox="1"/>
          <p:nvPr/>
        </p:nvSpPr>
        <p:spPr>
          <a:xfrm>
            <a:off x="7633440" y="647388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 txBox="1"/>
          <p:nvPr/>
        </p:nvSpPr>
        <p:spPr>
          <a:xfrm>
            <a:off x="8190720" y="64328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 txBox="1"/>
          <p:nvPr/>
        </p:nvSpPr>
        <p:spPr>
          <a:xfrm>
            <a:off x="8469000" y="64738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性最大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 txBox="1"/>
          <p:nvPr/>
        </p:nvSpPr>
        <p:spPr>
          <a:xfrm>
            <a:off x="380880" y="929880"/>
            <a:ext cx="72324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研究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 txBox="1"/>
          <p:nvPr/>
        </p:nvSpPr>
        <p:spPr>
          <a:xfrm>
            <a:off x="1128600" y="874440"/>
            <a:ext cx="72324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 txBox="1"/>
          <p:nvPr/>
        </p:nvSpPr>
        <p:spPr>
          <a:xfrm>
            <a:off x="380880" y="1654200"/>
            <a:ext cx="879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① 主效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 txBox="1"/>
          <p:nvPr/>
        </p:nvSpPr>
        <p:spPr>
          <a:xfrm>
            <a:off x="128916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 txBox="1"/>
          <p:nvPr/>
        </p:nvSpPr>
        <p:spPr>
          <a:xfrm>
            <a:off x="1567800" y="1654200"/>
            <a:ext cx="11466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 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 txBox="1"/>
          <p:nvPr/>
        </p:nvSpPr>
        <p:spPr>
          <a:xfrm>
            <a:off x="275400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 txBox="1"/>
          <p:nvPr/>
        </p:nvSpPr>
        <p:spPr>
          <a:xfrm>
            <a:off x="3032640" y="16542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 txBox="1"/>
          <p:nvPr/>
        </p:nvSpPr>
        <p:spPr>
          <a:xfrm>
            <a:off x="331128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 txBox="1"/>
          <p:nvPr/>
        </p:nvSpPr>
        <p:spPr>
          <a:xfrm>
            <a:off x="358992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能企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 txBox="1"/>
          <p:nvPr/>
        </p:nvSpPr>
        <p:spPr>
          <a:xfrm>
            <a:off x="414684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 txBox="1"/>
          <p:nvPr/>
        </p:nvSpPr>
        <p:spPr>
          <a:xfrm>
            <a:off x="4425480" y="165420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 txBox="1"/>
          <p:nvPr/>
        </p:nvSpPr>
        <p:spPr>
          <a:xfrm>
            <a:off x="526140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 txBox="1"/>
          <p:nvPr/>
        </p:nvSpPr>
        <p:spPr>
          <a:xfrm>
            <a:off x="554004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 txBox="1"/>
          <p:nvPr/>
        </p:nvSpPr>
        <p:spPr>
          <a:xfrm>
            <a:off x="609732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 txBox="1"/>
          <p:nvPr/>
        </p:nvSpPr>
        <p:spPr>
          <a:xfrm>
            <a:off x="637596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多重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 txBox="1"/>
          <p:nvPr/>
        </p:nvSpPr>
        <p:spPr>
          <a:xfrm>
            <a:off x="693324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 txBox="1"/>
          <p:nvPr/>
        </p:nvSpPr>
        <p:spPr>
          <a:xfrm>
            <a:off x="7211520" y="165420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健性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 txBox="1"/>
          <p:nvPr/>
        </p:nvSpPr>
        <p:spPr>
          <a:xfrm>
            <a:off x="7768800" y="16131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检验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 txBox="1"/>
          <p:nvPr/>
        </p:nvSpPr>
        <p:spPr>
          <a:xfrm>
            <a:off x="8326080" y="165420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依然成立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 txBox="1"/>
          <p:nvPr/>
        </p:nvSpPr>
        <p:spPr>
          <a:xfrm>
            <a:off x="380880" y="2282760"/>
            <a:ext cx="613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② 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 txBox="1"/>
          <p:nvPr/>
        </p:nvSpPr>
        <p:spPr>
          <a:xfrm>
            <a:off x="101052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 txBox="1"/>
          <p:nvPr/>
        </p:nvSpPr>
        <p:spPr>
          <a:xfrm>
            <a:off x="1289160" y="2282760"/>
            <a:ext cx="5413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性 有利于非国有、高科技、成长期与成熟期企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 txBox="1"/>
          <p:nvPr/>
        </p:nvSpPr>
        <p:spPr>
          <a:xfrm>
            <a:off x="693324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 txBox="1"/>
          <p:nvPr/>
        </p:nvSpPr>
        <p:spPr>
          <a:xfrm>
            <a:off x="721152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，弥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 txBox="1"/>
          <p:nvPr/>
        </p:nvSpPr>
        <p:spPr>
          <a:xfrm>
            <a:off x="7768800" y="22420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补传统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 txBox="1"/>
          <p:nvPr/>
        </p:nvSpPr>
        <p:spPr>
          <a:xfrm>
            <a:off x="8604720" y="22827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金融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 txBox="1"/>
          <p:nvPr/>
        </p:nvSpPr>
        <p:spPr>
          <a:xfrm>
            <a:off x="9162000" y="22420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 txBox="1"/>
          <p:nvPr/>
        </p:nvSpPr>
        <p:spPr>
          <a:xfrm>
            <a:off x="9440640" y="22827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380880" y="2911320"/>
            <a:ext cx="1225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③ 机制 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1639440" y="287064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过缓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2196720" y="29113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解信息不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 txBox="1"/>
          <p:nvPr/>
        </p:nvSpPr>
        <p:spPr>
          <a:xfrm>
            <a:off x="3311280" y="2870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 txBox="1"/>
          <p:nvPr/>
        </p:nvSpPr>
        <p:spPr>
          <a:xfrm>
            <a:off x="3589920" y="29113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称、拓展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 txBox="1"/>
          <p:nvPr/>
        </p:nvSpPr>
        <p:spPr>
          <a:xfrm>
            <a:off x="4704120" y="287064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财务资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 txBox="1"/>
          <p:nvPr/>
        </p:nvSpPr>
        <p:spPr>
          <a:xfrm>
            <a:off x="5540040" y="291132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源、平滑风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 txBox="1"/>
          <p:nvPr/>
        </p:nvSpPr>
        <p:spPr>
          <a:xfrm>
            <a:off x="6933240" y="2870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 txBox="1"/>
          <p:nvPr/>
        </p:nvSpPr>
        <p:spPr>
          <a:xfrm>
            <a:off x="7211520" y="291132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三条渠道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 txBox="1"/>
          <p:nvPr/>
        </p:nvSpPr>
        <p:spPr>
          <a:xfrm>
            <a:off x="8326080" y="287064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 txBox="1"/>
          <p:nvPr/>
        </p:nvSpPr>
        <p:spPr>
          <a:xfrm>
            <a:off x="380880" y="3540240"/>
            <a:ext cx="2025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④ 政策配套 效力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 txBox="1"/>
          <p:nvPr/>
        </p:nvSpPr>
        <p:spPr>
          <a:xfrm>
            <a:off x="2475360" y="349920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 txBox="1"/>
          <p:nvPr/>
        </p:nvSpPr>
        <p:spPr>
          <a:xfrm>
            <a:off x="303264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依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 txBox="1"/>
          <p:nvPr/>
        </p:nvSpPr>
        <p:spPr>
          <a:xfrm>
            <a:off x="331128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 txBox="1"/>
          <p:nvPr/>
        </p:nvSpPr>
        <p:spPr>
          <a:xfrm>
            <a:off x="3589920" y="3540240"/>
            <a:ext cx="2007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“金融—开放—技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 txBox="1"/>
          <p:nvPr/>
        </p:nvSpPr>
        <p:spPr>
          <a:xfrm>
            <a:off x="562176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 txBox="1"/>
          <p:nvPr/>
        </p:nvSpPr>
        <p:spPr>
          <a:xfrm>
            <a:off x="5900400" y="3540240"/>
            <a:ext cx="169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”多重政策工具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 txBox="1"/>
          <p:nvPr/>
        </p:nvSpPr>
        <p:spPr>
          <a:xfrm>
            <a:off x="771048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 txBox="1"/>
          <p:nvPr/>
        </p:nvSpPr>
        <p:spPr>
          <a:xfrm>
            <a:off x="798912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 txBox="1"/>
          <p:nvPr/>
        </p:nvSpPr>
        <p:spPr>
          <a:xfrm>
            <a:off x="8267760" y="34992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优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 txBox="1"/>
          <p:nvPr/>
        </p:nvSpPr>
        <p:spPr>
          <a:xfrm>
            <a:off x="8546040" y="354024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 txBox="1"/>
          <p:nvPr/>
        </p:nvSpPr>
        <p:spPr>
          <a:xfrm>
            <a:off x="380880" y="929880"/>
            <a:ext cx="1084320" cy="48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政策建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 txBox="1"/>
          <p:nvPr/>
        </p:nvSpPr>
        <p:spPr>
          <a:xfrm>
            <a:off x="1502640" y="874440"/>
            <a:ext cx="36180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85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 txBox="1"/>
          <p:nvPr/>
        </p:nvSpPr>
        <p:spPr>
          <a:xfrm>
            <a:off x="380880" y="1654200"/>
            <a:ext cx="1413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① 政策与市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 txBox="1"/>
          <p:nvPr/>
        </p:nvSpPr>
        <p:spPr>
          <a:xfrm>
            <a:off x="1846440" y="161316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 txBox="1"/>
          <p:nvPr/>
        </p:nvSpPr>
        <p:spPr>
          <a:xfrm>
            <a:off x="2403720" y="16542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 txBox="1"/>
          <p:nvPr/>
        </p:nvSpPr>
        <p:spPr>
          <a:xfrm>
            <a:off x="268236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 txBox="1"/>
          <p:nvPr/>
        </p:nvSpPr>
        <p:spPr>
          <a:xfrm>
            <a:off x="2961000" y="1654200"/>
            <a:ext cx="1867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力　加大数字技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 txBox="1"/>
          <p:nvPr/>
        </p:nvSpPr>
        <p:spPr>
          <a:xfrm>
            <a:off x="491112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 txBox="1"/>
          <p:nvPr/>
        </p:nvSpPr>
        <p:spPr>
          <a:xfrm>
            <a:off x="5189760" y="1654200"/>
            <a:ext cx="2934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投入、培养复合型人才，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 txBox="1"/>
          <p:nvPr/>
        </p:nvSpPr>
        <p:spPr>
          <a:xfrm>
            <a:off x="825444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扩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 txBox="1"/>
          <p:nvPr/>
        </p:nvSpPr>
        <p:spPr>
          <a:xfrm>
            <a:off x="8533080" y="1654200"/>
            <a:ext cx="13341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大金融科技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 txBox="1"/>
          <p:nvPr/>
        </p:nvSpPr>
        <p:spPr>
          <a:xfrm>
            <a:off x="992592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 txBox="1"/>
          <p:nvPr/>
        </p:nvSpPr>
        <p:spPr>
          <a:xfrm>
            <a:off x="10204560" y="165420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模、提升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 txBox="1"/>
          <p:nvPr/>
        </p:nvSpPr>
        <p:spPr>
          <a:xfrm>
            <a:off x="11319120" y="161316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 txBox="1"/>
          <p:nvPr/>
        </p:nvSpPr>
        <p:spPr>
          <a:xfrm>
            <a:off x="380880" y="20160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 txBox="1"/>
          <p:nvPr/>
        </p:nvSpPr>
        <p:spPr>
          <a:xfrm>
            <a:off x="659520" y="197532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 txBox="1"/>
          <p:nvPr/>
        </p:nvSpPr>
        <p:spPr>
          <a:xfrm>
            <a:off x="938160" y="201600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 txBox="1"/>
          <p:nvPr/>
        </p:nvSpPr>
        <p:spPr>
          <a:xfrm>
            <a:off x="380880" y="2644560"/>
            <a:ext cx="27468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② 打造跨区域金融科技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 txBox="1"/>
          <p:nvPr/>
        </p:nvSpPr>
        <p:spPr>
          <a:xfrm>
            <a:off x="3239640" y="2603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 txBox="1"/>
          <p:nvPr/>
        </p:nvSpPr>
        <p:spPr>
          <a:xfrm>
            <a:off x="3518280" y="2644560"/>
            <a:ext cx="2401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同平台　提供共享技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 txBox="1"/>
          <p:nvPr/>
        </p:nvSpPr>
        <p:spPr>
          <a:xfrm>
            <a:off x="6025680" y="2603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 txBox="1"/>
          <p:nvPr/>
        </p:nvSpPr>
        <p:spPr>
          <a:xfrm>
            <a:off x="6304320" y="26445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 txBox="1"/>
          <p:nvPr/>
        </p:nvSpPr>
        <p:spPr>
          <a:xfrm>
            <a:off x="6582960" y="2603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 txBox="1"/>
          <p:nvPr/>
        </p:nvSpPr>
        <p:spPr>
          <a:xfrm>
            <a:off x="6861600" y="26445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源，配套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 txBox="1"/>
          <p:nvPr/>
        </p:nvSpPr>
        <p:spPr>
          <a:xfrm>
            <a:off x="7975800" y="2603880"/>
            <a:ext cx="80100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专项财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 txBox="1"/>
          <p:nvPr/>
        </p:nvSpPr>
        <p:spPr>
          <a:xfrm>
            <a:off x="8811720" y="264456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 txBox="1"/>
          <p:nvPr/>
        </p:nvSpPr>
        <p:spPr>
          <a:xfrm>
            <a:off x="9090360" y="260388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补贴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 txBox="1"/>
          <p:nvPr/>
        </p:nvSpPr>
        <p:spPr>
          <a:xfrm>
            <a:off x="9647640" y="264456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与市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 txBox="1"/>
          <p:nvPr/>
        </p:nvSpPr>
        <p:spPr>
          <a:xfrm>
            <a:off x="10204560" y="260388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 txBox="1"/>
          <p:nvPr/>
        </p:nvSpPr>
        <p:spPr>
          <a:xfrm>
            <a:off x="10483200" y="2644560"/>
            <a:ext cx="1067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准入支持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 txBox="1"/>
          <p:nvPr/>
        </p:nvSpPr>
        <p:spPr>
          <a:xfrm>
            <a:off x="380880" y="3273480"/>
            <a:ext cx="346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③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 txBox="1"/>
          <p:nvPr/>
        </p:nvSpPr>
        <p:spPr>
          <a:xfrm>
            <a:off x="731880" y="32324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实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 txBox="1"/>
          <p:nvPr/>
        </p:nvSpPr>
        <p:spPr>
          <a:xfrm>
            <a:off x="1010520" y="3273480"/>
            <a:ext cx="80017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施差别化金融科技投放政策　向非国有、高科技、成长期与成熟期企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 txBox="1"/>
          <p:nvPr/>
        </p:nvSpPr>
        <p:spPr>
          <a:xfrm>
            <a:off x="9369000" y="3232440"/>
            <a:ext cx="5342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 txBox="1"/>
          <p:nvPr/>
        </p:nvSpPr>
        <p:spPr>
          <a:xfrm>
            <a:off x="9925920" y="32734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 txBox="1"/>
          <p:nvPr/>
        </p:nvSpPr>
        <p:spPr>
          <a:xfrm>
            <a:off x="380880" y="3892320"/>
            <a:ext cx="613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④ 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 txBox="1"/>
          <p:nvPr/>
        </p:nvSpPr>
        <p:spPr>
          <a:xfrm>
            <a:off x="101052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视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 txBox="1"/>
          <p:nvPr/>
        </p:nvSpPr>
        <p:spPr>
          <a:xfrm>
            <a:off x="1289160" y="3892320"/>
            <a:ext cx="6274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体制机制改革与政策工具箱搭配　从“金融—开放—技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 txBox="1"/>
          <p:nvPr/>
        </p:nvSpPr>
        <p:spPr>
          <a:xfrm>
            <a:off x="777888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 txBox="1"/>
          <p:nvPr/>
        </p:nvSpPr>
        <p:spPr>
          <a:xfrm>
            <a:off x="8057520" y="3892320"/>
            <a:ext cx="363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”三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 txBox="1"/>
          <p:nvPr/>
        </p:nvSpPr>
        <p:spPr>
          <a:xfrm>
            <a:off x="847440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 txBox="1"/>
          <p:nvPr/>
        </p:nvSpPr>
        <p:spPr>
          <a:xfrm>
            <a:off x="8753040" y="38923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推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 txBox="1"/>
          <p:nvPr/>
        </p:nvSpPr>
        <p:spPr>
          <a:xfrm>
            <a:off x="903168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进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 txBox="1"/>
          <p:nvPr/>
        </p:nvSpPr>
        <p:spPr>
          <a:xfrm>
            <a:off x="9310320" y="38923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 txBox="1"/>
          <p:nvPr/>
        </p:nvSpPr>
        <p:spPr>
          <a:xfrm>
            <a:off x="958896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 txBox="1"/>
          <p:nvPr/>
        </p:nvSpPr>
        <p:spPr>
          <a:xfrm>
            <a:off x="9867600" y="3892320"/>
            <a:ext cx="534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政策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 txBox="1"/>
          <p:nvPr/>
        </p:nvSpPr>
        <p:spPr>
          <a:xfrm>
            <a:off x="10424880" y="385164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0" y="0"/>
            <a:ext cx="12192120" cy="667080"/>
          </a:xfrm>
          <a:custGeom>
            <a:avLst/>
            <a:gdLst/>
            <a:ahLst/>
            <a:rect l="0" t="0" r="r" b="b"/>
            <a:pathLst>
              <a:path w="33867" h="1853">
                <a:moveTo>
                  <a:pt x="0" y="0"/>
                </a:moveTo>
                <a:lnTo>
                  <a:pt x="33867" y="0"/>
                </a:lnTo>
                <a:lnTo>
                  <a:pt x="3386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 txBox="1"/>
          <p:nvPr/>
        </p:nvSpPr>
        <p:spPr>
          <a:xfrm>
            <a:off x="10703520" y="389232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点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 txBox="1"/>
          <p:nvPr/>
        </p:nvSpPr>
        <p:spPr>
          <a:xfrm>
            <a:off x="237960" y="206280"/>
            <a:ext cx="1600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金融科技与企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 txBox="1"/>
          <p:nvPr/>
        </p:nvSpPr>
        <p:spPr>
          <a:xfrm>
            <a:off x="190980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 txBox="1"/>
          <p:nvPr/>
        </p:nvSpPr>
        <p:spPr>
          <a:xfrm>
            <a:off x="2188440" y="206280"/>
            <a:ext cx="8010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 txBox="1"/>
          <p:nvPr/>
        </p:nvSpPr>
        <p:spPr>
          <a:xfrm>
            <a:off x="3024360" y="165600"/>
            <a:ext cx="26748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1" u="none" strike="noStrike">
                <a:solidFill>
                  <a:srgbClr val="FFFFFF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 txBox="1"/>
          <p:nvPr/>
        </p:nvSpPr>
        <p:spPr>
          <a:xfrm>
            <a:off x="3302640" y="206280"/>
            <a:ext cx="267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 txBox="1"/>
          <p:nvPr/>
        </p:nvSpPr>
        <p:spPr>
          <a:xfrm>
            <a:off x="11583720" y="6426720"/>
            <a:ext cx="2131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/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 txBox="1"/>
          <p:nvPr/>
        </p:nvSpPr>
        <p:spPr>
          <a:xfrm>
            <a:off x="380880" y="2694240"/>
            <a:ext cx="1031040" cy="68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谢谢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 txBox="1"/>
          <p:nvPr/>
        </p:nvSpPr>
        <p:spPr>
          <a:xfrm>
            <a:off x="1433520" y="2773080"/>
            <a:ext cx="51588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，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 txBox="1"/>
          <p:nvPr/>
        </p:nvSpPr>
        <p:spPr>
          <a:xfrm>
            <a:off x="1959840" y="2694240"/>
            <a:ext cx="515880" cy="68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请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 txBox="1"/>
          <p:nvPr/>
        </p:nvSpPr>
        <p:spPr>
          <a:xfrm>
            <a:off x="2486160" y="2773080"/>
            <a:ext cx="51588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批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 txBox="1"/>
          <p:nvPr/>
        </p:nvSpPr>
        <p:spPr>
          <a:xfrm>
            <a:off x="3012120" y="2694240"/>
            <a:ext cx="515880" cy="68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1" u="none" strike="noStrike">
                <a:solidFill>
                  <a:srgbClr val="800000"/>
                </a:solidFill>
                <a:effectLst/>
                <a:uFillTx/>
                <a:latin typeface="MicrosoftYaHei"/>
                <a:ea typeface="MicrosoftYaHei"/>
              </a:rPr>
              <a:t>评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 txBox="1"/>
          <p:nvPr/>
        </p:nvSpPr>
        <p:spPr>
          <a:xfrm>
            <a:off x="3538440" y="2773080"/>
            <a:ext cx="103104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050" b="0" u="none" strike="noStrike">
                <a:solidFill>
                  <a:srgbClr val="800000"/>
                </a:solidFill>
                <a:effectLst/>
                <a:uFillTx/>
                <a:latin typeface="NotoSansJP"/>
                <a:ea typeface="NotoSansJP"/>
              </a:rPr>
              <a:t>指正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 txBox="1"/>
          <p:nvPr/>
        </p:nvSpPr>
        <p:spPr>
          <a:xfrm>
            <a:off x="380880" y="3549960"/>
            <a:ext cx="293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汇报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 txBox="1"/>
          <p:nvPr/>
        </p:nvSpPr>
        <p:spPr>
          <a:xfrm>
            <a:off x="698040" y="3572640"/>
            <a:ext cx="1813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人：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____</a:t>
            </a:r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　｜　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2026-09-12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 txBox="1"/>
          <p:nvPr/>
        </p:nvSpPr>
        <p:spPr>
          <a:xfrm>
            <a:off x="38088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论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 txBox="1"/>
          <p:nvPr/>
        </p:nvSpPr>
        <p:spPr>
          <a:xfrm>
            <a:off x="539640" y="3953520"/>
            <a:ext cx="29268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文来源：胡妍、向海凌、吴非《金融科技与企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 txBox="1"/>
          <p:nvPr/>
        </p:nvSpPr>
        <p:spPr>
          <a:xfrm>
            <a:off x="371124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业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 txBox="1"/>
          <p:nvPr/>
        </p:nvSpPr>
        <p:spPr>
          <a:xfrm>
            <a:off x="3870000" y="3953520"/>
            <a:ext cx="439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数字化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 txBox="1"/>
          <p:nvPr/>
        </p:nvSpPr>
        <p:spPr>
          <a:xfrm>
            <a:off x="434592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 txBox="1"/>
          <p:nvPr/>
        </p:nvSpPr>
        <p:spPr>
          <a:xfrm>
            <a:off x="4504320" y="3953520"/>
            <a:ext cx="146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 txBox="1"/>
          <p:nvPr/>
        </p:nvSpPr>
        <p:spPr>
          <a:xfrm>
            <a:off x="492084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结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 txBox="1"/>
          <p:nvPr/>
        </p:nvSpPr>
        <p:spPr>
          <a:xfrm>
            <a:off x="5079240" y="3953520"/>
            <a:ext cx="2634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构特征、渠道机制与三螺旋体系下的政策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 txBox="1"/>
          <p:nvPr/>
        </p:nvSpPr>
        <p:spPr>
          <a:xfrm>
            <a:off x="793404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 txBox="1"/>
          <p:nvPr/>
        </p:nvSpPr>
        <p:spPr>
          <a:xfrm>
            <a:off x="8092440" y="3953520"/>
            <a:ext cx="732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化研究》，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 txBox="1"/>
          <p:nvPr/>
        </p:nvSpPr>
        <p:spPr>
          <a:xfrm>
            <a:off x="888552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华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 txBox="1"/>
          <p:nvPr/>
        </p:nvSpPr>
        <p:spPr>
          <a:xfrm>
            <a:off x="9043920" y="3953520"/>
            <a:ext cx="146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南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 txBox="1"/>
          <p:nvPr/>
        </p:nvSpPr>
        <p:spPr>
          <a:xfrm>
            <a:off x="920268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 txBox="1"/>
          <p:nvPr/>
        </p:nvSpPr>
        <p:spPr>
          <a:xfrm>
            <a:off x="9361440" y="3953520"/>
            <a:ext cx="58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范大学学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 txBox="1"/>
          <p:nvPr/>
        </p:nvSpPr>
        <p:spPr>
          <a:xfrm>
            <a:off x="9995760" y="3931200"/>
            <a:ext cx="1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MicrosoftYaHei"/>
                <a:ea typeface="MicrosoftYaHei"/>
              </a:rPr>
              <a:t>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 txBox="1"/>
          <p:nvPr/>
        </p:nvSpPr>
        <p:spPr>
          <a:xfrm>
            <a:off x="10154160" y="3953520"/>
            <a:ext cx="1360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（社会科学版）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2025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 txBox="1"/>
          <p:nvPr/>
        </p:nvSpPr>
        <p:spPr>
          <a:xfrm>
            <a:off x="380880" y="4191480"/>
            <a:ext cx="1818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年第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6 </a:t>
            </a:r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期，第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183—204 </a:t>
            </a:r>
            <a:r>
              <a:rPr lang="zh-CN" sz="1150" b="0" u="none" strike="noStrike">
                <a:solidFill>
                  <a:srgbClr val="333333"/>
                </a:solidFill>
                <a:effectLst/>
                <a:uFillTx/>
                <a:latin typeface="NotoSansJP"/>
                <a:ea typeface="NotoSansJP"/>
              </a:rPr>
              <a:t>页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